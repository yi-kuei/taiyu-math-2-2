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25.bin" ContentType="application/vnd.openxmlformats-officedocument.oleObject"/>
  <Override PartName="/ppt/embeddings/oleObject26.bin" ContentType="application/vnd.openxmlformats-officedocument.oleObject"/>
  <Override PartName="/ppt/embeddings/oleObject27.bin" ContentType="application/vnd.openxmlformats-officedocument.oleObject"/>
  <Override PartName="/ppt/embeddings/oleObject28.bin" ContentType="application/vnd.openxmlformats-officedocument.oleObject"/>
  <Override PartName="/ppt/embeddings/oleObject29.bin" ContentType="application/vnd.openxmlformats-officedocument.oleObject"/>
  <Override PartName="/ppt/embeddings/oleObject3.bin" ContentType="application/vnd.openxmlformats-officedocument.oleObject"/>
  <Override PartName="/ppt/embeddings/oleObject30.bin" ContentType="application/vnd.openxmlformats-officedocument.oleObject"/>
  <Override PartName="/ppt/embeddings/oleObject31.bin" ContentType="application/vnd.openxmlformats-officedocument.oleObject"/>
  <Override PartName="/ppt/embeddings/oleObject32.bin" ContentType="application/vnd.openxmlformats-officedocument.oleObject"/>
  <Override PartName="/ppt/embeddings/oleObject33.bin" ContentType="application/vnd.openxmlformats-officedocument.oleObject"/>
  <Override PartName="/ppt/embeddings/oleObject34.bin" ContentType="application/vnd.openxmlformats-officedocument.oleObject"/>
  <Override PartName="/ppt/embeddings/oleObject35.bin" ContentType="application/vnd.openxmlformats-officedocument.oleObject"/>
  <Override PartName="/ppt/embeddings/oleObject36.bin" ContentType="application/vnd.openxmlformats-officedocument.oleObject"/>
  <Override PartName="/ppt/embeddings/oleObject37.bin" ContentType="application/vnd.openxmlformats-officedocument.oleObject"/>
  <Override PartName="/ppt/embeddings/oleObject38.bin" ContentType="application/vnd.openxmlformats-officedocument.oleObject"/>
  <Override PartName="/ppt/embeddings/oleObject39.bin" ContentType="application/vnd.openxmlformats-officedocument.oleObject"/>
  <Override PartName="/ppt/embeddings/oleObject4.bin" ContentType="application/vnd.openxmlformats-officedocument.oleObject"/>
  <Override PartName="/ppt/embeddings/oleObject40.bin" ContentType="application/vnd.openxmlformats-officedocument.oleObject"/>
  <Override PartName="/ppt/embeddings/oleObject41.bin" ContentType="application/vnd.openxmlformats-officedocument.oleObject"/>
  <Override PartName="/ppt/embeddings/oleObject42.bin" ContentType="application/vnd.openxmlformats-officedocument.oleObject"/>
  <Override PartName="/ppt/embeddings/oleObject43.bin" ContentType="application/vnd.openxmlformats-officedocument.oleObject"/>
  <Override PartName="/ppt/embeddings/oleObject44.bin" ContentType="application/vnd.openxmlformats-officedocument.oleObject"/>
  <Override PartName="/ppt/embeddings/oleObject45.bin" ContentType="application/vnd.openxmlformats-officedocument.oleObject"/>
  <Override PartName="/ppt/embeddings/oleObject46.bin" ContentType="application/vnd.openxmlformats-officedocument.oleObject"/>
  <Override PartName="/ppt/embeddings/oleObject47.bin" ContentType="application/vnd.openxmlformats-officedocument.oleObject"/>
  <Override PartName="/ppt/embeddings/oleObject48.bin" ContentType="application/vnd.openxmlformats-officedocument.oleObject"/>
  <Override PartName="/ppt/embeddings/oleObject49.bin" ContentType="application/vnd.openxmlformats-officedocument.oleObject"/>
  <Override PartName="/ppt/embeddings/oleObject5.bin" ContentType="application/vnd.openxmlformats-officedocument.oleObject"/>
  <Override PartName="/ppt/embeddings/oleObject50.bin" ContentType="application/vnd.openxmlformats-officedocument.oleObject"/>
  <Override PartName="/ppt/embeddings/oleObject51.bin" ContentType="application/vnd.openxmlformats-officedocument.oleObject"/>
  <Override PartName="/ppt/embeddings/oleObject52.bin" ContentType="application/vnd.openxmlformats-officedocument.oleObject"/>
  <Override PartName="/ppt/embeddings/oleObject53.bin" ContentType="application/vnd.openxmlformats-officedocument.oleObject"/>
  <Override PartName="/ppt/embeddings/oleObject54.bin" ContentType="application/vnd.openxmlformats-officedocument.oleObject"/>
  <Override PartName="/ppt/embeddings/oleObject55.bin" ContentType="application/vnd.openxmlformats-officedocument.oleObject"/>
  <Override PartName="/ppt/embeddings/oleObject56.bin" ContentType="application/vnd.openxmlformats-officedocument.oleObject"/>
  <Override PartName="/ppt/embeddings/oleObject57.bin" ContentType="application/vnd.openxmlformats-officedocument.oleObject"/>
  <Override PartName="/ppt/embeddings/oleObject58.bin" ContentType="application/vnd.openxmlformats-officedocument.oleObject"/>
  <Override PartName="/ppt/embeddings/oleObject59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9"/>
  </p:notesMasterIdLst>
  <p:handoutMasterIdLst>
    <p:handoutMasterId r:id="rId80"/>
  </p:handoutMasterIdLst>
  <p:sldIdLst>
    <p:sldId id="256" r:id="rId2"/>
    <p:sldId id="257" r:id="rId3"/>
    <p:sldId id="260" r:id="rId4"/>
    <p:sldId id="258" r:id="rId5"/>
    <p:sldId id="586" r:id="rId85"/>
    <p:sldId id="587" r:id="rId86"/>
    <p:sldId id="588" r:id="rId87"/>
    <p:sldId id="589" r:id="rId88"/>
    <p:sldId id="259" r:id="rId6"/>
    <p:sldId id="290" r:id="rId7"/>
    <p:sldId id="532" r:id="rId8"/>
    <p:sldId id="533" r:id="rId9"/>
    <p:sldId id="534" r:id="rId10"/>
    <p:sldId id="535" r:id="rId11"/>
    <p:sldId id="537" r:id="rId12"/>
    <p:sldId id="538" r:id="rId13"/>
    <p:sldId id="539" r:id="rId14"/>
    <p:sldId id="540" r:id="rId15"/>
    <p:sldId id="261" r:id="rId16"/>
    <p:sldId id="262" r:id="rId17"/>
    <p:sldId id="543" r:id="rId18"/>
    <p:sldId id="390" r:id="rId19"/>
    <p:sldId id="545" r:id="rId20"/>
    <p:sldId id="392" r:id="rId21"/>
    <p:sldId id="271" r:id="rId22"/>
    <p:sldId id="272" r:id="rId23"/>
    <p:sldId id="266" r:id="rId24"/>
    <p:sldId id="514" r:id="rId25"/>
    <p:sldId id="548" r:id="rId26"/>
    <p:sldId id="549" r:id="rId27"/>
    <p:sldId id="547" r:id="rId28"/>
    <p:sldId id="550" r:id="rId29"/>
    <p:sldId id="551" r:id="rId30"/>
    <p:sldId id="552" r:id="rId31"/>
    <p:sldId id="273" r:id="rId32"/>
    <p:sldId id="553" r:id="rId33"/>
    <p:sldId id="274" r:id="rId34"/>
    <p:sldId id="555" r:id="rId35"/>
    <p:sldId id="275" r:id="rId36"/>
    <p:sldId id="556" r:id="rId37"/>
    <p:sldId id="557" r:id="rId38"/>
    <p:sldId id="558" r:id="rId39"/>
    <p:sldId id="559" r:id="rId40"/>
    <p:sldId id="560" r:id="rId41"/>
    <p:sldId id="276" r:id="rId42"/>
    <p:sldId id="267" r:id="rId43"/>
    <p:sldId id="561" r:id="rId44"/>
    <p:sldId id="590" r:id="rId89"/>
    <p:sldId id="562" r:id="rId45"/>
    <p:sldId id="563" r:id="rId46"/>
    <p:sldId id="564" r:id="rId47"/>
    <p:sldId id="565" r:id="rId48"/>
    <p:sldId id="566" r:id="rId49"/>
    <p:sldId id="567" r:id="rId50"/>
    <p:sldId id="568" r:id="rId51"/>
    <p:sldId id="569" r:id="rId52"/>
    <p:sldId id="570" r:id="rId53"/>
    <p:sldId id="572" r:id="rId54"/>
    <p:sldId id="571" r:id="rId55"/>
    <p:sldId id="585" r:id="rId56"/>
    <p:sldId id="531" r:id="rId57"/>
    <p:sldId id="281" r:id="rId58"/>
    <p:sldId id="282" r:id="rId59"/>
    <p:sldId id="283" r:id="rId60"/>
    <p:sldId id="284" r:id="rId61"/>
    <p:sldId id="577" r:id="rId62"/>
    <p:sldId id="356" r:id="rId63"/>
    <p:sldId id="579" r:id="rId64"/>
    <p:sldId id="580" r:id="rId65"/>
    <p:sldId id="394" r:id="rId66"/>
    <p:sldId id="397" r:id="rId67"/>
    <p:sldId id="268" r:id="rId68"/>
    <p:sldId id="488" r:id="rId69"/>
    <p:sldId id="269" r:id="rId70"/>
    <p:sldId id="492" r:id="rId71"/>
    <p:sldId id="494" r:id="rId72"/>
    <p:sldId id="359" r:id="rId73"/>
    <p:sldId id="360" r:id="rId74"/>
    <p:sldId id="366" r:id="rId75"/>
    <p:sldId id="362" r:id="rId76"/>
    <p:sldId id="270" r:id="rId77"/>
    <p:sldId id="368" r:id="rId78"/>
  </p:sldIdLst>
  <p:sldSz cx="12192000" cy="6858000"/>
  <p:notesSz cx="6858000" cy="9144000"/>
  <p:defaultTextStyle>
    <a:defPPr>
      <a:defRPr lang="zh-TW"/>
    </a:defPPr>
    <a:lvl1pPr marL="0" algn="l" defTabSz="121914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70" algn="l" defTabSz="121914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40" algn="l" defTabSz="121914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09" algn="l" defTabSz="121914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278" algn="l" defTabSz="121914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848" algn="l" defTabSz="121914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418" algn="l" defTabSz="121914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987" algn="l" defTabSz="121914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557" algn="l" defTabSz="121914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45" autoAdjust="0"/>
    <p:restoredTop sz="93778" autoAdjust="0"/>
  </p:normalViewPr>
  <p:slideViewPr>
    <p:cSldViewPr>
      <p:cViewPr varScale="1">
        <p:scale>
          <a:sx n="71" d="100"/>
          <a:sy n="71" d="100"/>
        </p:scale>
        <p:origin x="936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3" d="100"/>
          <a:sy n="63" d="100"/>
        </p:scale>
        <p:origin x="-3366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notesMaster" Target="notesMasters/notesMaster1.xml"/><Relationship Id="rId80" Type="http://schemas.openxmlformats.org/officeDocument/2006/relationships/handoutMaster" Target="handoutMasters/handoutMaster1.xml"/><Relationship Id="rId81" Type="http://schemas.openxmlformats.org/officeDocument/2006/relationships/presProps" Target="presProps.xml"/><Relationship Id="rId82" Type="http://schemas.openxmlformats.org/officeDocument/2006/relationships/viewProps" Target="viewProps.xml"/><Relationship Id="rId83" Type="http://schemas.openxmlformats.org/officeDocument/2006/relationships/theme" Target="theme/theme1.xml"/><Relationship Id="rId84" Type="http://schemas.openxmlformats.org/officeDocument/2006/relationships/tableStyles" Target="tableStyles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4BB24B-68EA-4D32-89D8-7857D66FA432}" type="datetimeFigureOut">
              <a:rPr lang="zh-TW" altLang="en-US" smtClean="0"/>
              <a:t>2026/8/11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D5741C-FB9F-4041-B3F8-EA2E3A83C7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30367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547C5D-586A-4E91-BD0A-27F5CC534150}" type="datetimeFigureOut">
              <a:rPr lang="zh-TW" altLang="en-US" smtClean="0"/>
              <a:t>2026/8/11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DA70EA-698E-4F58-9AB4-90C9053E6E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519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【習題 1 觀念是非題解析】：</a:t>
            </a:r>
          </a:p>
          <a:p>
            <a:r>
              <a:t>引導學生逐題說明判斷依據，強化定義與定理的掌握。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DA70EA-698E-4F58-9AB4-90C9053E6E1F}" type="slidenum">
              <a:rPr lang="zh-TW" altLang="en-US" smtClean="0"/>
              <a:t>68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87681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【本課導言】：</a:t>
            </a:r>
          </a:p>
          <a:p>
            <a:r>
              <a:t>本章節為技高數學三角學最核心單元『2-2 三角函數的定義與性質』。學生在國中已學過畢氏定理與特殊直角三角形邊長比，本單元將把幾何邊長比提升為以『銳角』為自變數的六個三角函數，並建立特別角值與三大恆等關係。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【課堂解題引導】：</a:t>
            </a:r>
          </a:p>
          <a:p>
            <a:r>
              <a:t>1. 提問：這題要算六個三角函數，第一步必須先知道什麼？（引導回答：直角三角形的三邊長！）</a:t>
            </a:r>
          </a:p>
          <a:p>
            <a:r>
              <a:t>2. 畢氏定理速算：斜邊 ＝ √(3² + 4²) ＝ 5。</a:t>
            </a:r>
          </a:p>
          <a:p>
            <a:r>
              <a:t>3. 基準角對照：提醒同學視線站在 ∠A，對面是 3（對邊），腳底下是 4（鄰邊），最長是 5（斜邊）。</a:t>
            </a:r>
          </a:p>
          <a:p>
            <a:r>
              <a:t>4. 倒數檢驗：算完前三個，後三個直接取倒數，大幅節省時間。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【課堂解題引導】：</a:t>
            </a:r>
          </a:p>
          <a:p>
            <a:r>
              <a:t>1. 核心盲點：學生最常犯的錯誤是直接抄剛才 ∠A 的答案！</a:t>
            </a:r>
          </a:p>
          <a:p>
            <a:r>
              <a:t>2. 強調觀念：當基準角從 ∠A 換到 ∠B，對邊與鄰邊的角色立刻對調。</a:t>
            </a:r>
          </a:p>
          <a:p>
            <a:r>
              <a:t>3. 引導學生發現：sin B 剛好等於 cos A，為後續餘角關係埋下伏筆。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【課堂解題引導】：</a:t>
            </a:r>
          </a:p>
          <a:p>
            <a:r>
              <a:t>1. 破題關鍵：已知一個三角函數值，就能立刻還原出一個直角三角形的兩邊比例！</a:t>
            </a:r>
          </a:p>
          <a:p>
            <a:r>
              <a:t>2. 畫圖習慣：要求每位學生在考卷邊緣隨手畫一個小直角三角形，標上 5 與 13。</a:t>
            </a:r>
          </a:p>
          <a:p>
            <a:r>
              <a:t>3. 鄰邊計算：13² - 5² = 169 - 25 = 144 = 12²，秒出 12。</a:t>
            </a:r>
          </a:p>
          <a:p>
            <a:r>
              <a:t>4. 叮嚀：題目問其餘各函數值，不包含 sin A 本身。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【課堂解題引導】：</a:t>
            </a:r>
          </a:p>
          <a:p>
            <a:r>
              <a:t>1. 提問：tan 是什麼邊比什麼邊？（對邊/鄰邊）。</a:t>
            </a:r>
          </a:p>
          <a:p>
            <a:r>
              <a:t>2. 連續計算：對邊 3、鄰邊 4，斜邊必為 5。其餘函數直接秒殺。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【課堂解題引導】：</a:t>
            </a:r>
          </a:p>
          <a:p>
            <a:r>
              <a:t>1. 幾何破題：引導學生看圖，找出兩個直角三角形的交界邊。</a:t>
            </a:r>
          </a:p>
          <a:p>
            <a:r>
              <a:t>2. 模組化計算：先封閉看第一個三角形，求出中間變數；再切換到第二個三角形求最終答案。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【課堂解題引導】：</a:t>
            </a:r>
          </a:p>
          <a:p>
            <a:r>
              <a:t>引導學生先看大三角形與小三角形的幾何關聯，找出突破口。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【課堂解題引導】：</a:t>
            </a:r>
          </a:p>
          <a:p>
            <a:r>
              <a:t>1. 易錯提醒：sin² 30° 不是 sin(900°)！一定要向學生強調指數位置的記法。</a:t>
            </a:r>
          </a:p>
          <a:p>
            <a:r>
              <a:t>2. 逐步代入：請同學在黑板上一一寫出各特別角數值，再進行分數通分加減。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【課堂解題引導】：</a:t>
            </a:r>
          </a:p>
          <a:p>
            <a:r>
              <a:t>讓學生上台板書，確認其特別角數值記憶是否準確無誤。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【課堂解題引導】：</a:t>
            </a:r>
          </a:p>
          <a:p>
            <a:r>
              <a:t>1. 生活素養：將坡度與正切函數 tanθ 連結，說明工程設計之規範依據。</a:t>
            </a:r>
          </a:p>
          <a:p>
            <a:r>
              <a:t>2. 介紹計算機 tan⁻¹ 反函數的操作方法。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【課堂解題引導】：</a:t>
            </a:r>
          </a:p>
          <a:p>
            <a:r>
              <a:t>生活情境連結：引導學生計算自行車公路常見的坡度標誌意義。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【課堂解題引導】：</a:t>
            </a:r>
          </a:p>
          <a:p>
            <a:r>
              <a:t>1. 化簡最高心法：『遇事不決，全化正餘弦！』這是三角化簡的第一鐵律。</a:t>
            </a:r>
          </a:p>
          <a:p>
            <a:r>
              <a:t>2. 通分訓練：讓學生練習雙層分數的繁分式化簡。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【課堂解題引導】：</a:t>
            </a:r>
          </a:p>
          <a:p>
            <a:r>
              <a:t>引導學生熟練套用三大恆等關係，不需算出具體角度的數值即可秒殺！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【課堂解題引導】：</a:t>
            </a:r>
          </a:p>
          <a:p>
            <a:r>
              <a:t>1. 破題觀察：角度不是 30°, 45°, 60° 時，立刻觀察兩角是否相加等於 90°！</a:t>
            </a:r>
          </a:p>
          <a:p>
            <a:r>
              <a:t>2. 餘角轉換為同角後，再套用恆等關係化簡。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【課堂解題引導】：</a:t>
            </a:r>
          </a:p>
          <a:p>
            <a:r>
              <a:t>加強互餘角的靈活互換訓練。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【課堂解題引導】：</a:t>
            </a:r>
          </a:p>
          <a:p>
            <a:r>
              <a:t>1. 傳統作法：畫直角三角形求出 sin 和 cos 再代入（很慢且容易帶根號算錯）。</a:t>
            </a:r>
          </a:p>
          <a:p>
            <a:r>
              <a:t>2. 高手作法：同除以 cosθ，直接把全式變成 tanθ 的一次分數式，30 秒內算完！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【課堂解題引導】：</a:t>
            </a:r>
          </a:p>
          <a:p>
            <a:r>
              <a:t>齊次式技巧再次演練，深化學生的解題直覺。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【課堂解題引導】：</a:t>
            </a:r>
          </a:p>
          <a:p>
            <a:r>
              <a:t>統測極高頻題型！強調 (sinθ ± cosθ)² = 1 ± 2sinθcosθ 的重要性。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【課堂解題引導】：</a:t>
            </a:r>
          </a:p>
          <a:p>
            <a:r>
              <a:t>引導學生記住常用對稱式 tanθ + cotθ = 1 / (sinθcosθ)。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【習題 2 解析】：</a:t>
            </a:r>
          </a:p>
          <a:p>
            <a:r>
              <a:t>畢氏定理求第三邊後，代入定義相加。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【習題 3 解析】：</a:t>
            </a:r>
          </a:p>
          <a:p>
            <a:r>
              <a:t>直角三角形邊長比還原與求值。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【習題 4 解析】：</a:t>
            </a:r>
          </a:p>
          <a:p>
            <a:r>
              <a:t>特別角四則運算精熟。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【習題 5 解析】：</a:t>
            </a:r>
          </a:p>
          <a:p>
            <a:r>
              <a:t>互餘角與平方關係綜合應用。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【習題 6 解析】：</a:t>
            </a:r>
          </a:p>
          <a:p>
            <a:r>
              <a:t>通分化簡典範題。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【習題 7 解析】：</a:t>
            </a:r>
          </a:p>
          <a:p>
            <a:r>
              <a:t>齊次式快速法實戰。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【習題 8 解析】：</a:t>
            </a:r>
          </a:p>
          <a:p>
            <a:r>
              <a:t>和差平方轉乘積。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【習題 9 解析】：</a:t>
            </a:r>
          </a:p>
          <a:p>
            <a:r>
              <a:t>進階題二次齊次式處理。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【習題 10 解析】：</a:t>
            </a:r>
          </a:p>
          <a:p>
            <a:r>
              <a:t>立方和公式因式分解。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【教學焦點】：</a:t>
            </a:r>
          </a:p>
          <a:p>
            <a:r>
              <a:t>1. 引起動機：三角函數本質就是「直角三角形邊長比」，因此對畢氏定理與邊長比的熟練度直接決定解題速度。</a:t>
            </a:r>
          </a:p>
          <a:p>
            <a:r>
              <a:t>2. 課堂互動：點名學生抽問「3-4-5」、「5-12-13」，並提醒 30°-60°-90° 的 √3 是在 60° 的對邊（即 30° 的鄰邊），千萬不要把斜邊和鄰邊搞混。</a:t>
            </a:r>
          </a:p>
          <a:p>
            <a:r>
              <a:t>3. 提示：考試時遇到分數或根號時，不要慌張，隨時畫出標準直角三角形草圖進行邊長標註。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【教學焦點】：</a:t>
            </a:r>
          </a:p>
          <a:p>
            <a:r>
              <a:t>1. 破除迷思：許多學生誤以為直角三角形變大，sin 值就會變大。務必在此頁強調：相似三角形對應邊成比例，分子分母同乘 k 倍後 k 會消掉，比值只跟角度 θ 有關！</a:t>
            </a:r>
          </a:p>
          <a:p>
            <a:r>
              <a:t>2. 啟發思考：問學生「如果在操場畫一個 30° 直角三角形，和在課本畫一個 30° 直角三角形，對邊/斜邊的比值一樣嗎？」引導全班齊聲回答「一樣，都是 1/2」！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【教學焦點】：</a:t>
            </a:r>
          </a:p>
          <a:p>
            <a:r>
              <a:t>1. 學習地圖總覽：向學生展示 2-2 單元的完整學習脈絡。這四大模組層層遞進：</a:t>
            </a:r>
          </a:p>
          <a:p>
            <a:r>
              <a:t>   - 模組 1 給出工具定義（6 個函數）；</a:t>
            </a:r>
          </a:p>
          <a:p>
            <a:r>
              <a:t>   - 模組 2 給出具體數值（30°, 45°, 60°）；</a:t>
            </a:r>
          </a:p>
          <a:p>
            <a:r>
              <a:t>   - 模組 3 找出內在結構（恆等關係）；</a:t>
            </a:r>
          </a:p>
          <a:p>
            <a:r>
              <a:t>   - 模組 4 進入統測實戰（代數化簡與證明）。</a:t>
            </a:r>
          </a:p>
          <a:p>
            <a:r>
              <a:t>2. 給學生的信心喊話：只要跟著每堂課的節奏，三角函數是統測最好拿分的單元！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【教學焦點】：</a:t>
            </a:r>
          </a:p>
          <a:p>
            <a:r>
              <a:t>1. 肢體與筆順教學：在黑板上帶學生用手在空中劃出草寫 s、c、t 的筆順，感受起筆邊（分母）到落筆邊（分子）的流向。</a:t>
            </a:r>
          </a:p>
          <a:p>
            <a:r>
              <a:t>2. 易錯提醒：學生最容易把 csc 和 sec 的倒數對象搞反（誤以為 csc 配 cos）。在此特別強調「一個有 co、一個沒 co」的反向配對原則！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【教學焦點】：</a:t>
            </a:r>
          </a:p>
          <a:p>
            <a:r>
              <a:t>1. 六邊形法寶：此圖為全世界數學教育界推崇之「三角函數終極記憶法」。</a:t>
            </a:r>
          </a:p>
          <a:p>
            <a:r>
              <a:t>2. 課堂帶領：請同學拿出筆在筆記本上跟著畫一個正六邊形，標出中央的 1，以及左三無 co、右三有 co。</a:t>
            </a:r>
          </a:p>
          <a:p>
            <a:r>
              <a:t>3. 驗證平方關係：特別指出三個倒三角形：</a:t>
            </a:r>
          </a:p>
          <a:p>
            <a:r>
              <a:t>   - 頂部倒三角：sin² + cos² = 1</a:t>
            </a:r>
          </a:p>
          <a:p>
            <a:r>
              <a:t>   - 左下倒三角：tan² + 1 = sec²</a:t>
            </a:r>
          </a:p>
          <a:p>
            <a:r>
              <a:t>   - 右下倒三角：1 + cot² = csc²</a:t>
            </a:r>
          </a:p>
          <a:p>
            <a:r>
              <a:t>4. 強調統測必備，化簡題目直接秒殺！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Relationship Id="rId14" Type="http://schemas.openxmlformats.org/officeDocument/2006/relationships/image" Target="../media/image15.png"/><Relationship Id="rId15" Type="http://schemas.openxmlformats.org/officeDocument/2006/relationships/image" Target="../media/image16.png"/><Relationship Id="rId16" Type="http://schemas.openxmlformats.org/officeDocument/2006/relationships/image" Target="../media/image17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17.png"/><Relationship Id="rId6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0.png"/><Relationship Id="rId4" Type="http://schemas.openxmlformats.org/officeDocument/2006/relationships/image" Target="../media/image17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36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36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4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 userDrawn="1"/>
        </p:nvSpPr>
        <p:spPr>
          <a:xfrm>
            <a:off x="0" y="5265561"/>
            <a:ext cx="12192000" cy="15433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400"/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44693" y="-31483"/>
            <a:ext cx="12385375" cy="5387100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44690" y="-31484"/>
            <a:ext cx="12385375" cy="5114440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" y="-278088"/>
            <a:ext cx="455131" cy="7087031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21021" y="2415721"/>
            <a:ext cx="9602508" cy="9554132"/>
          </a:xfrm>
          <a:prstGeom prst="rect">
            <a:avLst/>
          </a:prstGeom>
        </p:spPr>
      </p:pic>
      <p:pic>
        <p:nvPicPr>
          <p:cNvPr id="11" name="圖片 10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044857" y="3384563"/>
            <a:ext cx="7412124" cy="7379615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7569" y="-278090"/>
            <a:ext cx="471385" cy="1324755"/>
          </a:xfrm>
          <a:prstGeom prst="rect">
            <a:avLst/>
          </a:prstGeom>
        </p:spPr>
      </p:pic>
      <p:pic>
        <p:nvPicPr>
          <p:cNvPr id="13" name="圖片 12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9145" y="1276425"/>
            <a:ext cx="2462580" cy="1893668"/>
          </a:xfrm>
          <a:prstGeom prst="rect">
            <a:avLst/>
          </a:prstGeom>
        </p:spPr>
      </p:pic>
      <p:pic>
        <p:nvPicPr>
          <p:cNvPr id="14" name="圖片 13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07605" y="11576"/>
            <a:ext cx="2169999" cy="1999323"/>
          </a:xfrm>
          <a:prstGeom prst="rect">
            <a:avLst/>
          </a:prstGeom>
        </p:spPr>
      </p:pic>
      <p:pic>
        <p:nvPicPr>
          <p:cNvPr id="15" name="圖片 14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14864" y="4962473"/>
            <a:ext cx="1162208" cy="1162208"/>
          </a:xfrm>
          <a:prstGeom prst="rect">
            <a:avLst/>
          </a:prstGeom>
        </p:spPr>
      </p:pic>
      <p:grpSp>
        <p:nvGrpSpPr>
          <p:cNvPr id="16" name="群組 15"/>
          <p:cNvGrpSpPr/>
          <p:nvPr userDrawn="1"/>
        </p:nvGrpSpPr>
        <p:grpSpPr>
          <a:xfrm>
            <a:off x="8041965" y="4839122"/>
            <a:ext cx="3914148" cy="3315308"/>
            <a:chOff x="5503036" y="4297228"/>
            <a:chExt cx="2935610" cy="2486481"/>
          </a:xfrm>
        </p:grpSpPr>
        <p:pic>
          <p:nvPicPr>
            <p:cNvPr id="17" name="圖片 16"/>
            <p:cNvPicPr>
              <a:picLocks noChangeAspect="1"/>
            </p:cNvPicPr>
            <p:nvPr userDrawn="1"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503036" y="4297228"/>
              <a:ext cx="2935610" cy="2486481"/>
            </a:xfrm>
            <a:prstGeom prst="rect">
              <a:avLst/>
            </a:prstGeom>
          </p:spPr>
        </p:pic>
        <p:pic>
          <p:nvPicPr>
            <p:cNvPr id="18" name="圖片 17"/>
            <p:cNvPicPr>
              <a:picLocks noChangeAspect="1"/>
            </p:cNvPicPr>
            <p:nvPr userDrawn="1"/>
          </p:nvPicPr>
          <p:blipFill>
            <a:blip r:embed="rId1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980815" y="5247664"/>
              <a:ext cx="509053" cy="320925"/>
            </a:xfrm>
            <a:prstGeom prst="rect">
              <a:avLst/>
            </a:prstGeom>
          </p:spPr>
        </p:pic>
      </p:grpSp>
      <p:pic>
        <p:nvPicPr>
          <p:cNvPr id="19" name="Picture 2" descr="F:\2021 備份\01 美編\2021 ISYSTEM　簡報\1130 簡報設計\數C\1版簡報\數C4-34.png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4014" y="348125"/>
            <a:ext cx="2179927" cy="544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群組 19"/>
          <p:cNvGrpSpPr/>
          <p:nvPr userDrawn="1"/>
        </p:nvGrpSpPr>
        <p:grpSpPr>
          <a:xfrm>
            <a:off x="526838" y="5548606"/>
            <a:ext cx="4192706" cy="744723"/>
            <a:chOff x="4025450" y="1464484"/>
            <a:chExt cx="4739567" cy="841857"/>
          </a:xfrm>
        </p:grpSpPr>
        <p:pic>
          <p:nvPicPr>
            <p:cNvPr id="21" name="圖片 20"/>
            <p:cNvPicPr>
              <a:picLocks noChangeAspect="1"/>
            </p:cNvPicPr>
            <p:nvPr userDrawn="1"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25450" y="1544230"/>
              <a:ext cx="3563028" cy="762111"/>
            </a:xfrm>
            <a:prstGeom prst="rect">
              <a:avLst/>
            </a:prstGeom>
          </p:spPr>
        </p:pic>
        <p:sp>
          <p:nvSpPr>
            <p:cNvPr id="22" name="文字方塊 21"/>
            <p:cNvSpPr txBox="1"/>
            <p:nvPr userDrawn="1"/>
          </p:nvSpPr>
          <p:spPr>
            <a:xfrm>
              <a:off x="7668343" y="1464484"/>
              <a:ext cx="1096674" cy="7306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36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(</a:t>
              </a:r>
              <a:r>
                <a:rPr lang="zh-TW" altLang="en-US" sz="36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一</a:t>
              </a:r>
              <a:r>
                <a:rPr lang="en-US" altLang="zh-TW" sz="36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)</a:t>
              </a:r>
              <a:endParaRPr lang="zh-TW" altLang="en-US" sz="3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23" name="群組 22"/>
          <p:cNvGrpSpPr/>
          <p:nvPr userDrawn="1"/>
        </p:nvGrpSpPr>
        <p:grpSpPr>
          <a:xfrm>
            <a:off x="6717447" y="-4272030"/>
            <a:ext cx="3154559" cy="10228268"/>
            <a:chOff x="5258568" y="-2824140"/>
            <a:chExt cx="2365919" cy="7671201"/>
          </a:xfrm>
        </p:grpSpPr>
        <p:pic>
          <p:nvPicPr>
            <p:cNvPr id="24" name="圖片 23"/>
            <p:cNvPicPr>
              <a:picLocks noChangeAspect="1"/>
            </p:cNvPicPr>
            <p:nvPr userDrawn="1"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57724" flipH="1">
              <a:off x="5258568" y="-2824140"/>
              <a:ext cx="1971342" cy="5713413"/>
            </a:xfrm>
            <a:prstGeom prst="rect">
              <a:avLst/>
            </a:prstGeom>
          </p:spPr>
        </p:pic>
        <p:pic>
          <p:nvPicPr>
            <p:cNvPr id="25" name="圖片 24"/>
            <p:cNvPicPr>
              <a:picLocks noChangeAspect="1"/>
            </p:cNvPicPr>
            <p:nvPr userDrawn="1"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51202">
              <a:off x="5281551" y="2174041"/>
              <a:ext cx="2342936" cy="26730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6301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"/>
                            </p:stCondLst>
                            <p:childTnLst>
                              <p:par>
                                <p:cTn id="5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500"/>
                            </p:stCondLst>
                            <p:childTnLst>
                              <p:par>
                                <p:cTn id="59" presetID="26" presetClass="emph" presetSubtype="0" fill="remove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1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000"/>
                            </p:stCondLst>
                            <p:childTnLst>
                              <p:par>
                                <p:cTn id="6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0" y="5265561"/>
            <a:ext cx="12192000" cy="15433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400"/>
          </a:p>
        </p:txBody>
      </p:sp>
      <p:pic>
        <p:nvPicPr>
          <p:cNvPr id="2" name="圖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316" y="-31485"/>
            <a:ext cx="12304999" cy="5520000"/>
          </a:xfrm>
          <a:prstGeom prst="rect">
            <a:avLst/>
          </a:prstGeom>
        </p:spPr>
      </p:pic>
      <p:pic>
        <p:nvPicPr>
          <p:cNvPr id="3" name="圖片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74974" y="663376"/>
            <a:ext cx="9242057" cy="62399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圖片 10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74951" y="67773"/>
            <a:ext cx="2605072" cy="2400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圖片 11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54926" y="3285741"/>
            <a:ext cx="2966601" cy="3384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頁尾版面配置區 2"/>
          <p:cNvSpPr txBox="1">
            <a:spLocks/>
          </p:cNvSpPr>
          <p:nvPr userDrawn="1"/>
        </p:nvSpPr>
        <p:spPr>
          <a:xfrm>
            <a:off x="3602568" y="1740765"/>
            <a:ext cx="8544985" cy="958849"/>
          </a:xfrm>
          <a:prstGeom prst="rect">
            <a:avLst/>
          </a:prstGeom>
        </p:spPr>
        <p:txBody>
          <a:bodyPr anchor="b"/>
          <a:lstStyle>
            <a:defPPr>
              <a:defRPr lang="zh-TW"/>
            </a:defPPr>
            <a:lvl1pPr marL="0" algn="l" defTabSz="914400" rtl="0" eaLnBrk="1" latinLnBrk="0" hangingPunct="1">
              <a:defRPr kumimoji="0"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altLang="zh-TW" sz="4000" dirty="0">
              <a:solidFill>
                <a:schemeClr val="accent1"/>
              </a:solidFill>
            </a:endParaRPr>
          </a:p>
        </p:txBody>
      </p:sp>
      <p:sp>
        <p:nvSpPr>
          <p:cNvPr id="7" name="平行四邊形 6"/>
          <p:cNvSpPr/>
          <p:nvPr userDrawn="1"/>
        </p:nvSpPr>
        <p:spPr>
          <a:xfrm>
            <a:off x="-336715" y="2317788"/>
            <a:ext cx="6432715" cy="897605"/>
          </a:xfrm>
          <a:prstGeom prst="parallelogram">
            <a:avLst/>
          </a:prstGeom>
          <a:solidFill>
            <a:srgbClr val="FFC409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400"/>
          </a:p>
        </p:txBody>
      </p:sp>
      <p:sp>
        <p:nvSpPr>
          <p:cNvPr id="8" name="文字版面配置區 4"/>
          <p:cNvSpPr>
            <a:spLocks noGrp="1"/>
          </p:cNvSpPr>
          <p:nvPr>
            <p:ph type="body" sz="quarter" idx="11"/>
          </p:nvPr>
        </p:nvSpPr>
        <p:spPr>
          <a:xfrm>
            <a:off x="3207863" y="4071214"/>
            <a:ext cx="5760640" cy="6978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 spc="3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178" indent="0">
              <a:buNone/>
              <a:defRPr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marL="914356" indent="0">
              <a:buNone/>
              <a:defRPr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 marL="1371532" indent="0">
              <a:buNone/>
              <a:defRPr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 marL="1828709" indent="0">
              <a:buNone/>
              <a:defRPr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 dirty="0"/>
              <a:t>按一下以編輯母片</a:t>
            </a:r>
          </a:p>
        </p:txBody>
      </p:sp>
      <p:sp>
        <p:nvSpPr>
          <p:cNvPr id="9" name="內容版面配置區 2"/>
          <p:cNvSpPr>
            <a:spLocks noGrp="1"/>
          </p:cNvSpPr>
          <p:nvPr>
            <p:ph sz="quarter" idx="10"/>
          </p:nvPr>
        </p:nvSpPr>
        <p:spPr>
          <a:xfrm>
            <a:off x="1102785" y="2459572"/>
            <a:ext cx="4417483" cy="61383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200" b="1" spc="3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178" indent="0">
              <a:buNone/>
              <a:defRPr sz="24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marL="914356" indent="0">
              <a:buNone/>
              <a:defRPr sz="24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 marL="1371532" indent="0">
              <a:buNone/>
              <a:defRPr sz="24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 marL="1828709" indent="0">
              <a:buNone/>
              <a:defRPr sz="24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 dirty="0"/>
              <a:t>按一下以編輯母片</a:t>
            </a:r>
          </a:p>
        </p:txBody>
      </p:sp>
      <p:sp>
        <p:nvSpPr>
          <p:cNvPr id="13" name="文字方塊 6">
            <a:extLst>
              <a:ext uri="{FF2B5EF4-FFF2-40B4-BE49-F238E27FC236}">
                <a16:creationId xmlns:a16="http://schemas.microsoft.com/office/drawing/2014/main" id="{488FB78F-B31D-4078-9995-AC4B8C0B69BA}"/>
              </a:ext>
            </a:extLst>
          </p:cNvPr>
          <p:cNvSpPr txBox="1"/>
          <p:nvPr userDrawn="1"/>
        </p:nvSpPr>
        <p:spPr>
          <a:xfrm>
            <a:off x="66612" y="6396228"/>
            <a:ext cx="17698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技高數學</a:t>
            </a:r>
            <a:r>
              <a:rPr lang="en-US" altLang="zh-TW" sz="1400" b="1" dirty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C</a:t>
            </a:r>
            <a:r>
              <a:rPr lang="zh-TW" altLang="en-US" sz="1400" b="1" dirty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TW" sz="1400" b="1" dirty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(</a:t>
            </a:r>
            <a:r>
              <a:rPr lang="zh-TW" altLang="en-US" sz="1400" b="1" dirty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一</a:t>
            </a:r>
            <a:r>
              <a:rPr lang="en-US" altLang="zh-TW" sz="1400" b="1" dirty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)</a:t>
            </a:r>
            <a:r>
              <a:rPr lang="zh-TW" altLang="en-US" sz="1400" b="1" dirty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TW" sz="1400" b="1" dirty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2-2</a:t>
            </a:r>
            <a:endParaRPr lang="zh-TW" altLang="en-US" sz="1400" b="1" dirty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5BA64A3E-576D-4945-AE43-2C7571DC79E3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3622" y="6323193"/>
            <a:ext cx="1373689" cy="33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77690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 build="p">
        <p:tmplLst>
          <p:tmpl lvl="1">
            <p:tnLst>
              <p:par>
                <p:cTn presetID="42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節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6497" y="-60391"/>
            <a:ext cx="12304999" cy="5520000"/>
          </a:xfrm>
          <a:prstGeom prst="rect">
            <a:avLst/>
          </a:prstGeom>
        </p:spPr>
      </p:pic>
      <p:sp>
        <p:nvSpPr>
          <p:cNvPr id="13" name="雲朵形圖說文字 12"/>
          <p:cNvSpPr/>
          <p:nvPr userDrawn="1"/>
        </p:nvSpPr>
        <p:spPr>
          <a:xfrm>
            <a:off x="431371" y="2866783"/>
            <a:ext cx="8546304" cy="2760000"/>
          </a:xfrm>
          <a:prstGeom prst="cloudCallout">
            <a:avLst>
              <a:gd name="adj1" fmla="val 57563"/>
              <a:gd name="adj2" fmla="val -5569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400"/>
          </a:p>
        </p:txBody>
      </p:sp>
      <p:pic>
        <p:nvPicPr>
          <p:cNvPr id="4" name="圖片 1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1372" y="206633"/>
            <a:ext cx="2605072" cy="2400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圖片 1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724804" y="2852926"/>
            <a:ext cx="2966601" cy="3384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頁尾版面配置區 2"/>
          <p:cNvSpPr txBox="1">
            <a:spLocks/>
          </p:cNvSpPr>
          <p:nvPr userDrawn="1"/>
        </p:nvSpPr>
        <p:spPr>
          <a:xfrm>
            <a:off x="3602568" y="1740765"/>
            <a:ext cx="8544985" cy="958849"/>
          </a:xfrm>
          <a:prstGeom prst="rect">
            <a:avLst/>
          </a:prstGeom>
        </p:spPr>
        <p:txBody>
          <a:bodyPr anchor="b"/>
          <a:lstStyle>
            <a:defPPr>
              <a:defRPr lang="zh-TW"/>
            </a:defPPr>
            <a:lvl1pPr marL="0" algn="l" defTabSz="914400" rtl="0" eaLnBrk="1" latinLnBrk="0" hangingPunct="1">
              <a:defRPr kumimoji="0"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altLang="zh-TW" sz="4000" dirty="0">
              <a:solidFill>
                <a:schemeClr val="accent1"/>
              </a:solidFill>
            </a:endParaRPr>
          </a:p>
        </p:txBody>
      </p:sp>
      <p:sp>
        <p:nvSpPr>
          <p:cNvPr id="8" name="文字版面配置區 4"/>
          <p:cNvSpPr>
            <a:spLocks noGrp="1"/>
          </p:cNvSpPr>
          <p:nvPr>
            <p:ph type="body" sz="quarter" idx="11"/>
          </p:nvPr>
        </p:nvSpPr>
        <p:spPr>
          <a:xfrm>
            <a:off x="1856820" y="3813047"/>
            <a:ext cx="5760640" cy="6978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 spc="3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178" indent="0">
              <a:buNone/>
              <a:defRPr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marL="914356" indent="0">
              <a:buNone/>
              <a:defRPr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 marL="1371532" indent="0">
              <a:buNone/>
              <a:defRPr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 marL="1828709" indent="0">
              <a:buNone/>
              <a:defRPr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 dirty="0"/>
              <a:t>按一下以編輯母片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2" y="6237472"/>
            <a:ext cx="1733908" cy="6205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400"/>
          </a:p>
        </p:txBody>
      </p:sp>
    </p:spTree>
    <p:extLst>
      <p:ext uri="{BB962C8B-B14F-4D97-AF65-F5344CB8AC3E}">
        <p14:creationId xmlns:p14="http://schemas.microsoft.com/office/powerpoint/2010/main" val="1494075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6" grpId="0"/>
      <p:bldP spid="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5265561"/>
            <a:ext cx="12192000" cy="15433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400"/>
          </a:p>
        </p:txBody>
      </p:sp>
      <p:pic>
        <p:nvPicPr>
          <p:cNvPr id="2" name="圖片 1"/>
          <p:cNvPicPr>
            <a:picLocks noChangeAspect="1"/>
          </p:cNvPicPr>
          <p:nvPr userDrawn="1"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-112997" y="1338000"/>
            <a:ext cx="12304999" cy="5520000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-3025094" y="-5596333"/>
            <a:ext cx="7412124" cy="737961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矩形 3"/>
          <p:cNvSpPr/>
          <p:nvPr userDrawn="1"/>
        </p:nvSpPr>
        <p:spPr>
          <a:xfrm>
            <a:off x="335361" y="164642"/>
            <a:ext cx="202953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b="1" i="0" kern="1200" dirty="0"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+mn-lt"/>
                <a:ea typeface="+mn-ea"/>
                <a:cs typeface="+mn-cs"/>
              </a:rPr>
              <a:t>CONTENT</a:t>
            </a:r>
            <a:endParaRPr lang="zh-TW" altLang="en-US" sz="3600" b="1" dirty="0">
              <a:solidFill>
                <a:schemeClr val="bg1"/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grpSp>
        <p:nvGrpSpPr>
          <p:cNvPr id="5" name="群組 4"/>
          <p:cNvGrpSpPr/>
          <p:nvPr userDrawn="1"/>
        </p:nvGrpSpPr>
        <p:grpSpPr>
          <a:xfrm>
            <a:off x="9851574" y="4562993"/>
            <a:ext cx="1979001" cy="1676227"/>
            <a:chOff x="5503036" y="4297228"/>
            <a:chExt cx="2935610" cy="2486481"/>
          </a:xfrm>
        </p:grpSpPr>
        <p:pic>
          <p:nvPicPr>
            <p:cNvPr id="6" name="圖片 5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503036" y="4297228"/>
              <a:ext cx="2935610" cy="2486481"/>
            </a:xfrm>
            <a:prstGeom prst="rect">
              <a:avLst/>
            </a:prstGeom>
          </p:spPr>
        </p:pic>
        <p:pic>
          <p:nvPicPr>
            <p:cNvPr id="7" name="圖片 6"/>
            <p:cNvPicPr>
              <a:picLocks noChangeAspect="1"/>
            </p:cNvPicPr>
            <p:nvPr userDrawn="1"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980815" y="5247664"/>
              <a:ext cx="509053" cy="320925"/>
            </a:xfrm>
            <a:prstGeom prst="rect">
              <a:avLst/>
            </a:prstGeom>
          </p:spPr>
        </p:pic>
      </p:grpSp>
      <p:sp>
        <p:nvSpPr>
          <p:cNvPr id="11" name="文字方塊 6">
            <a:extLst>
              <a:ext uri="{FF2B5EF4-FFF2-40B4-BE49-F238E27FC236}">
                <a16:creationId xmlns:a16="http://schemas.microsoft.com/office/drawing/2014/main" id="{369FF760-5698-4189-BAC3-C8AA9700578F}"/>
              </a:ext>
            </a:extLst>
          </p:cNvPr>
          <p:cNvSpPr txBox="1"/>
          <p:nvPr userDrawn="1"/>
        </p:nvSpPr>
        <p:spPr>
          <a:xfrm>
            <a:off x="8616280" y="6453336"/>
            <a:ext cx="17698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技高數學</a:t>
            </a:r>
            <a:r>
              <a:rPr lang="en-US" altLang="zh-TW" sz="1400" b="1" dirty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C</a:t>
            </a:r>
            <a:r>
              <a:rPr lang="zh-TW" altLang="en-US" sz="1400" b="1" dirty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TW" sz="1400" b="1" dirty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(</a:t>
            </a:r>
            <a:r>
              <a:rPr lang="zh-TW" altLang="en-US" sz="1400" b="1" dirty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一</a:t>
            </a:r>
            <a:r>
              <a:rPr lang="en-US" altLang="zh-TW" sz="1400" b="1" dirty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)</a:t>
            </a:r>
            <a:r>
              <a:rPr lang="zh-TW" altLang="en-US" sz="1400" b="1" dirty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TW" sz="1400" b="1" dirty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2-2</a:t>
            </a:r>
            <a:endParaRPr lang="zh-TW" altLang="en-US" sz="1400" b="1" dirty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A715FE93-6794-4ACF-B66B-6E7A01E2A2ED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3290" y="6380301"/>
            <a:ext cx="1373689" cy="33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77690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目次-無動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5265561"/>
            <a:ext cx="12192000" cy="15433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400"/>
          </a:p>
        </p:txBody>
      </p:sp>
      <p:pic>
        <p:nvPicPr>
          <p:cNvPr id="2" name="圖片 1"/>
          <p:cNvPicPr>
            <a:picLocks noChangeAspect="1"/>
          </p:cNvPicPr>
          <p:nvPr userDrawn="1"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-112997" y="1338000"/>
            <a:ext cx="12304999" cy="5520000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-3025034" y="-5596036"/>
            <a:ext cx="7412124" cy="737961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矩形 3"/>
          <p:cNvSpPr/>
          <p:nvPr userDrawn="1"/>
        </p:nvSpPr>
        <p:spPr>
          <a:xfrm>
            <a:off x="335361" y="164642"/>
            <a:ext cx="202953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b="1" i="0" kern="1200" dirty="0"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+mn-lt"/>
                <a:ea typeface="+mn-ea"/>
                <a:cs typeface="+mn-cs"/>
              </a:rPr>
              <a:t>CONTENT</a:t>
            </a:r>
            <a:endParaRPr lang="zh-TW" altLang="en-US" sz="3600" b="1" dirty="0">
              <a:solidFill>
                <a:schemeClr val="bg1"/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grpSp>
        <p:nvGrpSpPr>
          <p:cNvPr id="5" name="群組 4"/>
          <p:cNvGrpSpPr/>
          <p:nvPr userDrawn="1"/>
        </p:nvGrpSpPr>
        <p:grpSpPr>
          <a:xfrm>
            <a:off x="9851574" y="4562993"/>
            <a:ext cx="1979001" cy="1676227"/>
            <a:chOff x="5503036" y="4297228"/>
            <a:chExt cx="2935610" cy="2486481"/>
          </a:xfrm>
        </p:grpSpPr>
        <p:pic>
          <p:nvPicPr>
            <p:cNvPr id="6" name="圖片 5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503036" y="4297228"/>
              <a:ext cx="2935610" cy="2486481"/>
            </a:xfrm>
            <a:prstGeom prst="rect">
              <a:avLst/>
            </a:prstGeom>
          </p:spPr>
        </p:pic>
        <p:pic>
          <p:nvPicPr>
            <p:cNvPr id="7" name="圖片 6"/>
            <p:cNvPicPr>
              <a:picLocks noChangeAspect="1"/>
            </p:cNvPicPr>
            <p:nvPr userDrawn="1"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980815" y="5247664"/>
              <a:ext cx="509053" cy="320925"/>
            </a:xfrm>
            <a:prstGeom prst="rect">
              <a:avLst/>
            </a:prstGeom>
          </p:spPr>
        </p:pic>
      </p:grpSp>
      <p:sp>
        <p:nvSpPr>
          <p:cNvPr id="13" name="文字方塊 6">
            <a:extLst>
              <a:ext uri="{FF2B5EF4-FFF2-40B4-BE49-F238E27FC236}">
                <a16:creationId xmlns:a16="http://schemas.microsoft.com/office/drawing/2014/main" id="{369FF760-5698-4189-BAC3-C8AA9700578F}"/>
              </a:ext>
            </a:extLst>
          </p:cNvPr>
          <p:cNvSpPr txBox="1"/>
          <p:nvPr userDrawn="1"/>
        </p:nvSpPr>
        <p:spPr>
          <a:xfrm>
            <a:off x="8616280" y="6453336"/>
            <a:ext cx="17698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技高數學</a:t>
            </a:r>
            <a:r>
              <a:rPr lang="en-US" altLang="zh-TW" sz="1400" b="1" dirty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C</a:t>
            </a:r>
            <a:r>
              <a:rPr lang="zh-TW" altLang="en-US" sz="1400" b="1" dirty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TW" sz="1400" b="1" dirty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(</a:t>
            </a:r>
            <a:r>
              <a:rPr lang="zh-TW" altLang="en-US" sz="1400" b="1" dirty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一</a:t>
            </a:r>
            <a:r>
              <a:rPr lang="en-US" altLang="zh-TW" sz="1400" b="1" dirty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)</a:t>
            </a:r>
            <a:r>
              <a:rPr lang="zh-TW" altLang="en-US" sz="1400" b="1" dirty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TW" sz="1400" b="1" dirty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2-2</a:t>
            </a:r>
            <a:endParaRPr lang="zh-TW" altLang="en-US" sz="1400" b="1" dirty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A715FE93-6794-4ACF-B66B-6E7A01E2A2ED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3290" y="6380301"/>
            <a:ext cx="1373689" cy="33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89515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課文頁-第一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 userDrawn="1"/>
        </p:nvGrpSpPr>
        <p:grpSpPr>
          <a:xfrm>
            <a:off x="10617" y="1"/>
            <a:ext cx="12192000" cy="664579"/>
            <a:chOff x="7962" y="0"/>
            <a:chExt cx="9144000" cy="498434"/>
          </a:xfrm>
        </p:grpSpPr>
        <p:pic>
          <p:nvPicPr>
            <p:cNvPr id="5" name="圖片 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62" y="0"/>
              <a:ext cx="9144000" cy="498434"/>
            </a:xfrm>
            <a:prstGeom prst="rect">
              <a:avLst/>
            </a:prstGeom>
          </p:spPr>
        </p:pic>
        <p:pic>
          <p:nvPicPr>
            <p:cNvPr id="3" name="圖片 2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12360" y="49941"/>
              <a:ext cx="938786" cy="289561"/>
            </a:xfrm>
            <a:prstGeom prst="rect">
              <a:avLst/>
            </a:prstGeom>
          </p:spPr>
        </p:pic>
      </p:grpSp>
      <p:pic>
        <p:nvPicPr>
          <p:cNvPr id="4" name="圖片 3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821" y="664580"/>
            <a:ext cx="955041" cy="1150115"/>
          </a:xfrm>
          <a:prstGeom prst="rect">
            <a:avLst/>
          </a:prstGeom>
        </p:spPr>
      </p:pic>
      <p:sp>
        <p:nvSpPr>
          <p:cNvPr id="7" name="內容版面配置區 9"/>
          <p:cNvSpPr>
            <a:spLocks noGrp="1"/>
          </p:cNvSpPr>
          <p:nvPr>
            <p:ph sz="quarter" idx="10"/>
          </p:nvPr>
        </p:nvSpPr>
        <p:spPr>
          <a:xfrm>
            <a:off x="1127448" y="6455660"/>
            <a:ext cx="781049" cy="3577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微軟正黑體" pitchFamily="34" charset="-120"/>
                <a:ea typeface="微軟正黑體" pitchFamily="34" charset="-120"/>
              </a:defRPr>
            </a:lvl1pPr>
            <a:lvl2pPr marL="457178" indent="0">
              <a:buNone/>
              <a:defRPr/>
            </a:lvl2pPr>
            <a:lvl3pPr marL="914356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677690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課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7" y="1"/>
            <a:ext cx="12192000" cy="664579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6482" y="66593"/>
            <a:ext cx="1251716" cy="386081"/>
          </a:xfrm>
          <a:prstGeom prst="rect">
            <a:avLst/>
          </a:prstGeom>
        </p:spPr>
      </p:pic>
      <p:sp>
        <p:nvSpPr>
          <p:cNvPr id="5" name="內容版面配置區 9">
            <a:extLst>
              <a:ext uri="{FF2B5EF4-FFF2-40B4-BE49-F238E27FC236}">
                <a16:creationId xmlns:a16="http://schemas.microsoft.com/office/drawing/2014/main" id="{FEDCFBA6-1D17-4CA3-A55F-687199F9BD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127448" y="6455660"/>
            <a:ext cx="781049" cy="3577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微軟正黑體" pitchFamily="34" charset="-120"/>
                <a:ea typeface="微軟正黑體" pitchFamily="34" charset="-120"/>
              </a:defRPr>
            </a:lvl1pPr>
            <a:lvl2pPr marL="457178" indent="0">
              <a:buNone/>
              <a:defRPr/>
            </a:lvl2pPr>
            <a:lvl3pPr marL="914356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677690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例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506" y="137055"/>
            <a:ext cx="1188975" cy="1467745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52298" y="0"/>
            <a:ext cx="239705" cy="6858000"/>
          </a:xfrm>
          <a:prstGeom prst="rect">
            <a:avLst/>
          </a:prstGeom>
        </p:spPr>
      </p:pic>
      <p:sp>
        <p:nvSpPr>
          <p:cNvPr id="6" name="文字版面配置區 5"/>
          <p:cNvSpPr>
            <a:spLocks noGrp="1"/>
          </p:cNvSpPr>
          <p:nvPr>
            <p:ph type="body" sz="quarter" idx="10"/>
          </p:nvPr>
        </p:nvSpPr>
        <p:spPr>
          <a:xfrm>
            <a:off x="407368" y="452669"/>
            <a:ext cx="1056117" cy="9601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178" indent="0">
              <a:buNone/>
              <a:defRPr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marL="914356" indent="0">
              <a:buNone/>
              <a:defRPr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 marL="1371532" indent="0">
              <a:buNone/>
              <a:defRPr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 marL="1828709" indent="0">
              <a:buNone/>
              <a:defRPr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endParaRPr lang="zh-TW" altLang="en-US" dirty="0"/>
          </a:p>
        </p:txBody>
      </p:sp>
      <p:sp>
        <p:nvSpPr>
          <p:cNvPr id="8" name="內容版面配置區 9">
            <a:extLst>
              <a:ext uri="{FF2B5EF4-FFF2-40B4-BE49-F238E27FC236}">
                <a16:creationId xmlns:a16="http://schemas.microsoft.com/office/drawing/2014/main" id="{269F5328-7F59-457B-BAF1-8F802968F87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127448" y="6455660"/>
            <a:ext cx="781049" cy="3577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微軟正黑體" pitchFamily="34" charset="-120"/>
                <a:ea typeface="微軟正黑體" pitchFamily="34" charset="-120"/>
              </a:defRPr>
            </a:lvl1pPr>
            <a:lvl2pPr marL="457178" indent="0">
              <a:buNone/>
              <a:defRPr/>
            </a:lvl2pPr>
            <a:lvl3pPr marL="914356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677690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>
        <p:tmplLst>
          <p:tmpl lvl="1">
            <p:tnLst>
              <p:par>
                <p:cTn presetID="10" presetClass="entr" presetSubtype="0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例題-無動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506" y="137055"/>
            <a:ext cx="1188975" cy="1467745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52298" y="0"/>
            <a:ext cx="239705" cy="6858000"/>
          </a:xfrm>
          <a:prstGeom prst="rect">
            <a:avLst/>
          </a:prstGeom>
        </p:spPr>
      </p:pic>
      <p:sp>
        <p:nvSpPr>
          <p:cNvPr id="8" name="內容版面配置區 9">
            <a:extLst>
              <a:ext uri="{FF2B5EF4-FFF2-40B4-BE49-F238E27FC236}">
                <a16:creationId xmlns:a16="http://schemas.microsoft.com/office/drawing/2014/main" id="{8F3D8F7D-99CF-49E5-BD04-73473A8E23B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127448" y="6455660"/>
            <a:ext cx="781049" cy="3577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微軟正黑體" pitchFamily="34" charset="-120"/>
                <a:ea typeface="微軟正黑體" pitchFamily="34" charset="-120"/>
              </a:defRPr>
            </a:lvl1pPr>
            <a:lvl2pPr marL="457178" indent="0">
              <a:buNone/>
              <a:defRPr/>
            </a:lvl2pPr>
            <a:lvl3pPr marL="914356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9" name="文字版面配置區 5">
            <a:extLst>
              <a:ext uri="{FF2B5EF4-FFF2-40B4-BE49-F238E27FC236}">
                <a16:creationId xmlns:a16="http://schemas.microsoft.com/office/drawing/2014/main" id="{9A939C36-51E1-4334-B880-6AAD4A6D27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7368" y="452669"/>
            <a:ext cx="1056117" cy="9601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178" indent="0">
              <a:buNone/>
              <a:defRPr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marL="914356" indent="0">
              <a:buNone/>
              <a:defRPr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 marL="1371532" indent="0">
              <a:buNone/>
              <a:defRPr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 marL="1828709" indent="0">
              <a:buNone/>
              <a:defRPr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65799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隨堂練習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503" y="137055"/>
            <a:ext cx="1188975" cy="1467745"/>
          </a:xfrm>
          <a:prstGeom prst="rect">
            <a:avLst/>
          </a:prstGeom>
        </p:spPr>
      </p:pic>
      <p:pic>
        <p:nvPicPr>
          <p:cNvPr id="4" name="圖片 3"/>
          <p:cNvPicPr>
            <a:picLocks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52000" y="0"/>
            <a:ext cx="240000" cy="6858000"/>
          </a:xfrm>
          <a:prstGeom prst="rect">
            <a:avLst/>
          </a:prstGeom>
        </p:spPr>
      </p:pic>
      <p:sp>
        <p:nvSpPr>
          <p:cNvPr id="7" name="內容版面配置區 9">
            <a:extLst>
              <a:ext uri="{FF2B5EF4-FFF2-40B4-BE49-F238E27FC236}">
                <a16:creationId xmlns:a16="http://schemas.microsoft.com/office/drawing/2014/main" id="{137602E4-C643-43E7-835C-92FA1C08015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127448" y="6455660"/>
            <a:ext cx="781049" cy="3577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微軟正黑體" pitchFamily="34" charset="-120"/>
                <a:ea typeface="微軟正黑體" pitchFamily="34" charset="-120"/>
              </a:defRPr>
            </a:lvl1pPr>
            <a:lvl2pPr marL="457178" indent="0">
              <a:buNone/>
              <a:defRPr/>
            </a:lvl2pPr>
            <a:lvl3pPr marL="914356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8" name="文字版面配置區 5">
            <a:extLst>
              <a:ext uri="{FF2B5EF4-FFF2-40B4-BE49-F238E27FC236}">
                <a16:creationId xmlns:a16="http://schemas.microsoft.com/office/drawing/2014/main" id="{BCD001C7-E8C9-4160-9F19-8D57350A01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7368" y="452669"/>
            <a:ext cx="1056117" cy="9601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178" indent="0">
              <a:buNone/>
              <a:defRPr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marL="914356" indent="0">
              <a:buNone/>
              <a:defRPr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 marL="1371532" indent="0">
              <a:buNone/>
              <a:defRPr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 marL="1828709" indent="0">
              <a:buNone/>
              <a:defRPr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77690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0" presetClass="entr" presetSubtype="0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隨堂練習-無動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503" y="137055"/>
            <a:ext cx="1188975" cy="1467745"/>
          </a:xfrm>
          <a:prstGeom prst="rect">
            <a:avLst/>
          </a:prstGeom>
        </p:spPr>
      </p:pic>
      <p:pic>
        <p:nvPicPr>
          <p:cNvPr id="4" name="圖片 3"/>
          <p:cNvPicPr>
            <a:picLocks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52000" y="0"/>
            <a:ext cx="240000" cy="6858000"/>
          </a:xfrm>
          <a:prstGeom prst="rect">
            <a:avLst/>
          </a:prstGeom>
        </p:spPr>
      </p:pic>
      <p:sp>
        <p:nvSpPr>
          <p:cNvPr id="7" name="內容版面配置區 9">
            <a:extLst>
              <a:ext uri="{FF2B5EF4-FFF2-40B4-BE49-F238E27FC236}">
                <a16:creationId xmlns:a16="http://schemas.microsoft.com/office/drawing/2014/main" id="{6B9F8FBE-7ED9-4D77-91B4-B7889671862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127448" y="6455660"/>
            <a:ext cx="781049" cy="3577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微軟正黑體" pitchFamily="34" charset="-120"/>
                <a:ea typeface="微軟正黑體" pitchFamily="34" charset="-120"/>
              </a:defRPr>
            </a:lvl1pPr>
            <a:lvl2pPr marL="457178" indent="0">
              <a:buNone/>
              <a:defRPr/>
            </a:lvl2pPr>
            <a:lvl3pPr marL="914356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8" name="文字版面配置區 5">
            <a:extLst>
              <a:ext uri="{FF2B5EF4-FFF2-40B4-BE49-F238E27FC236}">
                <a16:creationId xmlns:a16="http://schemas.microsoft.com/office/drawing/2014/main" id="{79ACD4E8-0216-4DD3-ACC2-CEF9E375E14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7368" y="452669"/>
            <a:ext cx="1056117" cy="9601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178" indent="0">
              <a:buNone/>
              <a:defRPr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marL="914356" indent="0">
              <a:buNone/>
              <a:defRPr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 marL="1371532" indent="0">
              <a:buNone/>
              <a:defRPr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 marL="1828709" indent="0">
              <a:buNone/>
              <a:defRPr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533714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習題-基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61" y="137052"/>
            <a:ext cx="1166060" cy="1467744"/>
          </a:xfrm>
          <a:prstGeom prst="rect">
            <a:avLst/>
          </a:prstGeom>
        </p:spPr>
      </p:pic>
      <p:pic>
        <p:nvPicPr>
          <p:cNvPr id="4" name="圖片 3"/>
          <p:cNvPicPr>
            <a:picLocks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52149" y="0"/>
            <a:ext cx="239705" cy="6858000"/>
          </a:xfrm>
          <a:prstGeom prst="rect">
            <a:avLst/>
          </a:prstGeom>
        </p:spPr>
      </p:pic>
      <p:sp>
        <p:nvSpPr>
          <p:cNvPr id="7" name="內容版面配置區 9">
            <a:extLst>
              <a:ext uri="{FF2B5EF4-FFF2-40B4-BE49-F238E27FC236}">
                <a16:creationId xmlns:a16="http://schemas.microsoft.com/office/drawing/2014/main" id="{77A257B3-170F-434C-B1AA-2DCD2282C63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127448" y="6455660"/>
            <a:ext cx="781049" cy="3577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微軟正黑體" pitchFamily="34" charset="-120"/>
                <a:ea typeface="微軟正黑體" pitchFamily="34" charset="-120"/>
              </a:defRPr>
            </a:lvl1pPr>
            <a:lvl2pPr marL="457178" indent="0">
              <a:buNone/>
              <a:defRPr/>
            </a:lvl2pPr>
            <a:lvl3pPr marL="914356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8" name="文字版面配置區 5">
            <a:extLst>
              <a:ext uri="{FF2B5EF4-FFF2-40B4-BE49-F238E27FC236}">
                <a16:creationId xmlns:a16="http://schemas.microsoft.com/office/drawing/2014/main" id="{427AE280-E9A7-47E4-879A-A17EBD096EA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7368" y="452669"/>
            <a:ext cx="1056117" cy="9601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178" indent="0">
              <a:buNone/>
              <a:defRPr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marL="914356" indent="0">
              <a:buNone/>
              <a:defRPr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 marL="1371532" indent="0">
              <a:buNone/>
              <a:defRPr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 marL="1828709" indent="0">
              <a:buNone/>
              <a:defRPr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55575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0" presetClass="entr" presetSubtype="0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習題-基礎-無動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61" y="137052"/>
            <a:ext cx="1166060" cy="1467744"/>
          </a:xfrm>
          <a:prstGeom prst="rect">
            <a:avLst/>
          </a:prstGeom>
        </p:spPr>
      </p:pic>
      <p:pic>
        <p:nvPicPr>
          <p:cNvPr id="4" name="圖片 3"/>
          <p:cNvPicPr>
            <a:picLocks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52149" y="0"/>
            <a:ext cx="239705" cy="6858000"/>
          </a:xfrm>
          <a:prstGeom prst="rect">
            <a:avLst/>
          </a:prstGeom>
        </p:spPr>
      </p:pic>
      <p:sp>
        <p:nvSpPr>
          <p:cNvPr id="8" name="內容版面配置區 9">
            <a:extLst>
              <a:ext uri="{FF2B5EF4-FFF2-40B4-BE49-F238E27FC236}">
                <a16:creationId xmlns:a16="http://schemas.microsoft.com/office/drawing/2014/main" id="{D9E1C7E5-F42C-4D21-A8F2-B62B1DCC109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127448" y="6455660"/>
            <a:ext cx="781049" cy="3577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微軟正黑體" pitchFamily="34" charset="-120"/>
                <a:ea typeface="微軟正黑體" pitchFamily="34" charset="-120"/>
              </a:defRPr>
            </a:lvl1pPr>
            <a:lvl2pPr marL="457178" indent="0">
              <a:buNone/>
              <a:defRPr/>
            </a:lvl2pPr>
            <a:lvl3pPr marL="914356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9" name="文字版面配置區 5">
            <a:extLst>
              <a:ext uri="{FF2B5EF4-FFF2-40B4-BE49-F238E27FC236}">
                <a16:creationId xmlns:a16="http://schemas.microsoft.com/office/drawing/2014/main" id="{93B48824-C175-42D1-82F3-B8EC8CEB3D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7368" y="452669"/>
            <a:ext cx="1056117" cy="9601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178" indent="0">
              <a:buNone/>
              <a:defRPr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marL="914356" indent="0">
              <a:buNone/>
              <a:defRPr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 marL="1371532" indent="0">
              <a:buNone/>
              <a:defRPr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 marL="1828709" indent="0">
              <a:buNone/>
              <a:defRPr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718835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習題-進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61" y="137052"/>
            <a:ext cx="1166060" cy="1467744"/>
          </a:xfrm>
          <a:prstGeom prst="rect">
            <a:avLst/>
          </a:prstGeom>
        </p:spPr>
      </p:pic>
      <p:pic>
        <p:nvPicPr>
          <p:cNvPr id="4" name="圖片 3"/>
          <p:cNvPicPr>
            <a:picLocks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52149" y="0"/>
            <a:ext cx="239705" cy="6858000"/>
          </a:xfrm>
          <a:prstGeom prst="rect">
            <a:avLst/>
          </a:prstGeom>
        </p:spPr>
      </p:pic>
      <p:sp>
        <p:nvSpPr>
          <p:cNvPr id="8" name="內容版面配置區 9">
            <a:extLst>
              <a:ext uri="{FF2B5EF4-FFF2-40B4-BE49-F238E27FC236}">
                <a16:creationId xmlns:a16="http://schemas.microsoft.com/office/drawing/2014/main" id="{55F1656B-238A-40BC-B1F2-355BB256221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127448" y="6455660"/>
            <a:ext cx="781049" cy="3577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微軟正黑體" pitchFamily="34" charset="-120"/>
                <a:ea typeface="微軟正黑體" pitchFamily="34" charset="-120"/>
              </a:defRPr>
            </a:lvl1pPr>
            <a:lvl2pPr marL="457178" indent="0">
              <a:buNone/>
              <a:defRPr/>
            </a:lvl2pPr>
            <a:lvl3pPr marL="914356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9" name="文字版面配置區 5">
            <a:extLst>
              <a:ext uri="{FF2B5EF4-FFF2-40B4-BE49-F238E27FC236}">
                <a16:creationId xmlns:a16="http://schemas.microsoft.com/office/drawing/2014/main" id="{12842BFF-6E4E-430B-890F-EEAD53D22A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7368" y="452669"/>
            <a:ext cx="1056117" cy="9601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178" indent="0">
              <a:buNone/>
              <a:defRPr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marL="914356" indent="0">
              <a:buNone/>
              <a:defRPr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 marL="1371532" indent="0">
              <a:buNone/>
              <a:defRPr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 marL="1828709" indent="0">
              <a:buNone/>
              <a:defRPr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65392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>
        <p:tmplLst>
          <p:tmpl lvl="1">
            <p:tnLst>
              <p:par>
                <p:cTn presetID="10" presetClass="entr" presetSubtype="0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習題-進階-無動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61" y="137052"/>
            <a:ext cx="1166060" cy="1467744"/>
          </a:xfrm>
          <a:prstGeom prst="rect">
            <a:avLst/>
          </a:prstGeom>
        </p:spPr>
      </p:pic>
      <p:pic>
        <p:nvPicPr>
          <p:cNvPr id="4" name="圖片 3"/>
          <p:cNvPicPr>
            <a:picLocks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52149" y="0"/>
            <a:ext cx="239705" cy="6858000"/>
          </a:xfrm>
          <a:prstGeom prst="rect">
            <a:avLst/>
          </a:prstGeom>
        </p:spPr>
      </p:pic>
      <p:sp>
        <p:nvSpPr>
          <p:cNvPr id="7" name="內容版面配置區 9">
            <a:extLst>
              <a:ext uri="{FF2B5EF4-FFF2-40B4-BE49-F238E27FC236}">
                <a16:creationId xmlns:a16="http://schemas.microsoft.com/office/drawing/2014/main" id="{F4D43F1E-D9FE-4CC0-825A-1733BF684B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127448" y="6455660"/>
            <a:ext cx="781049" cy="3577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微軟正黑體" pitchFamily="34" charset="-120"/>
                <a:ea typeface="微軟正黑體" pitchFamily="34" charset="-120"/>
              </a:defRPr>
            </a:lvl1pPr>
            <a:lvl2pPr marL="457178" indent="0">
              <a:buNone/>
              <a:defRPr/>
            </a:lvl2pPr>
            <a:lvl3pPr marL="914356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8" name="文字版面配置區 5">
            <a:extLst>
              <a:ext uri="{FF2B5EF4-FFF2-40B4-BE49-F238E27FC236}">
                <a16:creationId xmlns:a16="http://schemas.microsoft.com/office/drawing/2014/main" id="{FE80E86C-A2E4-40A3-9254-42876A3450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7368" y="452669"/>
            <a:ext cx="1056117" cy="9601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178" indent="0">
              <a:buNone/>
              <a:defRPr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marL="914356" indent="0">
              <a:buNone/>
              <a:defRPr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 marL="1371532" indent="0">
              <a:buNone/>
              <a:defRPr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 marL="1828709" indent="0">
              <a:buNone/>
              <a:defRPr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647335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練功心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316" y="-31485"/>
            <a:ext cx="12304999" cy="5520000"/>
          </a:xfrm>
          <a:prstGeom prst="rect">
            <a:avLst/>
          </a:prstGeom>
        </p:spPr>
      </p:pic>
      <p:pic>
        <p:nvPicPr>
          <p:cNvPr id="11" name="圖片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189" y="348514"/>
            <a:ext cx="11785625" cy="5961900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9720" y="516220"/>
            <a:ext cx="1154081" cy="316965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5065" y="5298840"/>
            <a:ext cx="1558548" cy="1202501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9687" y="138297"/>
            <a:ext cx="894007" cy="1072808"/>
          </a:xfrm>
          <a:prstGeom prst="rect">
            <a:avLst/>
          </a:prstGeom>
        </p:spPr>
      </p:pic>
      <p:sp>
        <p:nvSpPr>
          <p:cNvPr id="9" name="文字方塊 8"/>
          <p:cNvSpPr txBox="1"/>
          <p:nvPr userDrawn="1"/>
        </p:nvSpPr>
        <p:spPr>
          <a:xfrm>
            <a:off x="5105986" y="353135"/>
            <a:ext cx="19800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200" b="1" spc="3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練功心法</a:t>
            </a:r>
          </a:p>
        </p:txBody>
      </p:sp>
      <p:sp>
        <p:nvSpPr>
          <p:cNvPr id="10" name="內容版面配置區 9">
            <a:extLst>
              <a:ext uri="{FF2B5EF4-FFF2-40B4-BE49-F238E27FC236}">
                <a16:creationId xmlns:a16="http://schemas.microsoft.com/office/drawing/2014/main" id="{0AF42AE3-9F32-4F7A-85FF-20F2219C5C6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127448" y="6455660"/>
            <a:ext cx="781049" cy="3577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微軟正黑體" pitchFamily="34" charset="-120"/>
                <a:ea typeface="微軟正黑體" pitchFamily="34" charset="-120"/>
              </a:defRPr>
            </a:lvl1pPr>
            <a:lvl2pPr marL="457178" indent="0">
              <a:buNone/>
              <a:defRPr/>
            </a:lvl2pPr>
            <a:lvl3pPr marL="914356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677690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練功心法-無動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316" y="-31485"/>
            <a:ext cx="12304999" cy="5520000"/>
          </a:xfrm>
          <a:prstGeom prst="rect">
            <a:avLst/>
          </a:prstGeom>
        </p:spPr>
      </p:pic>
      <p:pic>
        <p:nvPicPr>
          <p:cNvPr id="11" name="圖片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189" y="348514"/>
            <a:ext cx="11785625" cy="5961900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9720" y="516220"/>
            <a:ext cx="1154081" cy="316965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5065" y="5298840"/>
            <a:ext cx="1558548" cy="1202501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9687" y="138297"/>
            <a:ext cx="894007" cy="1072808"/>
          </a:xfrm>
          <a:prstGeom prst="rect">
            <a:avLst/>
          </a:prstGeom>
        </p:spPr>
      </p:pic>
      <p:sp>
        <p:nvSpPr>
          <p:cNvPr id="9" name="文字方塊 8"/>
          <p:cNvSpPr txBox="1"/>
          <p:nvPr userDrawn="1"/>
        </p:nvSpPr>
        <p:spPr>
          <a:xfrm>
            <a:off x="5105986" y="353135"/>
            <a:ext cx="19800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200" b="1" spc="3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練功心法</a:t>
            </a:r>
          </a:p>
        </p:txBody>
      </p:sp>
      <p:sp>
        <p:nvSpPr>
          <p:cNvPr id="10" name="內容版面配置區 9">
            <a:extLst>
              <a:ext uri="{FF2B5EF4-FFF2-40B4-BE49-F238E27FC236}">
                <a16:creationId xmlns:a16="http://schemas.microsoft.com/office/drawing/2014/main" id="{42C68446-384F-4220-BADB-9104E3DE639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127448" y="6455660"/>
            <a:ext cx="781049" cy="3577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微軟正黑體" pitchFamily="34" charset="-120"/>
                <a:ea typeface="微軟正黑體" pitchFamily="34" charset="-120"/>
              </a:defRPr>
            </a:lvl1pPr>
            <a:lvl2pPr marL="457178" indent="0">
              <a:buNone/>
              <a:defRPr/>
            </a:lvl2pPr>
            <a:lvl3pPr marL="914356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3544087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重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316" y="-31485"/>
            <a:ext cx="12304999" cy="5520000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189" y="348514"/>
            <a:ext cx="11785625" cy="5961900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9720" y="516220"/>
            <a:ext cx="1154081" cy="316965"/>
          </a:xfrm>
          <a:prstGeom prst="rect">
            <a:avLst/>
          </a:prstGeom>
        </p:spPr>
      </p:pic>
      <p:pic>
        <p:nvPicPr>
          <p:cNvPr id="13" name="圖片 12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5065" y="5298840"/>
            <a:ext cx="1558548" cy="1202501"/>
          </a:xfrm>
          <a:prstGeom prst="rect">
            <a:avLst/>
          </a:prstGeom>
        </p:spPr>
      </p:pic>
      <p:pic>
        <p:nvPicPr>
          <p:cNvPr id="14" name="圖片 13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9687" y="138297"/>
            <a:ext cx="894007" cy="1072808"/>
          </a:xfrm>
          <a:prstGeom prst="rect">
            <a:avLst/>
          </a:prstGeom>
        </p:spPr>
      </p:pic>
      <p:sp>
        <p:nvSpPr>
          <p:cNvPr id="22" name="文字版面配置區 4"/>
          <p:cNvSpPr>
            <a:spLocks noGrp="1"/>
          </p:cNvSpPr>
          <p:nvPr>
            <p:ph type="body" sz="quarter" idx="10"/>
          </p:nvPr>
        </p:nvSpPr>
        <p:spPr>
          <a:xfrm>
            <a:off x="1101926" y="348512"/>
            <a:ext cx="5954183" cy="60368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200" b="1" spc="3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9" name="內容版面配置區 9">
            <a:extLst>
              <a:ext uri="{FF2B5EF4-FFF2-40B4-BE49-F238E27FC236}">
                <a16:creationId xmlns:a16="http://schemas.microsoft.com/office/drawing/2014/main" id="{3C3FD3D8-00B3-4E5A-B47C-212C19C8184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127448" y="6455660"/>
            <a:ext cx="781049" cy="3577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微軟正黑體" pitchFamily="34" charset="-120"/>
                <a:ea typeface="微軟正黑體" pitchFamily="34" charset="-120"/>
              </a:defRPr>
            </a:lvl1pPr>
            <a:lvl2pPr marL="457178" indent="0">
              <a:buNone/>
              <a:defRPr/>
            </a:lvl2pPr>
            <a:lvl3pPr marL="914356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984513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00"/>
                            </p:stCondLst>
                            <p:childTnLst>
                              <p:par>
                                <p:cTn id="5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build="p">
        <p:tmplLst>
          <p:tmpl lvl="1">
            <p:tnLst>
              <p:par>
                <p:cTn presetID="22" presetClass="entr" presetSubtype="8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重點-無動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316" y="-31485"/>
            <a:ext cx="12304999" cy="5520000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189" y="348514"/>
            <a:ext cx="11785625" cy="5961900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9720" y="516220"/>
            <a:ext cx="1154081" cy="316965"/>
          </a:xfrm>
          <a:prstGeom prst="rect">
            <a:avLst/>
          </a:prstGeom>
        </p:spPr>
      </p:pic>
      <p:pic>
        <p:nvPicPr>
          <p:cNvPr id="13" name="圖片 12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5065" y="5298840"/>
            <a:ext cx="1558548" cy="1202501"/>
          </a:xfrm>
          <a:prstGeom prst="rect">
            <a:avLst/>
          </a:prstGeom>
        </p:spPr>
      </p:pic>
      <p:pic>
        <p:nvPicPr>
          <p:cNvPr id="14" name="圖片 13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9687" y="138297"/>
            <a:ext cx="894007" cy="1072808"/>
          </a:xfrm>
          <a:prstGeom prst="rect">
            <a:avLst/>
          </a:prstGeom>
        </p:spPr>
      </p:pic>
      <p:sp>
        <p:nvSpPr>
          <p:cNvPr id="22" name="文字版面配置區 4"/>
          <p:cNvSpPr>
            <a:spLocks noGrp="1"/>
          </p:cNvSpPr>
          <p:nvPr>
            <p:ph type="body" sz="quarter" idx="10"/>
          </p:nvPr>
        </p:nvSpPr>
        <p:spPr>
          <a:xfrm>
            <a:off x="1101926" y="348512"/>
            <a:ext cx="5954183" cy="60368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200" b="1" spc="3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9" name="內容版面配置區 9">
            <a:extLst>
              <a:ext uri="{FF2B5EF4-FFF2-40B4-BE49-F238E27FC236}">
                <a16:creationId xmlns:a16="http://schemas.microsoft.com/office/drawing/2014/main" id="{6E9AC085-87C1-425B-B076-4E4FF1592F1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127448" y="6455660"/>
            <a:ext cx="781049" cy="3577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微軟正黑體" pitchFamily="34" charset="-120"/>
                <a:ea typeface="微軟正黑體" pitchFamily="34" charset="-120"/>
              </a:defRPr>
            </a:lvl1pPr>
            <a:lvl2pPr marL="457178" indent="0">
              <a:buNone/>
              <a:defRPr/>
            </a:lvl2pPr>
            <a:lvl3pPr marL="914356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2855640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M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262624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3253" y="5061181"/>
            <a:ext cx="1885540" cy="1454792"/>
          </a:xfrm>
          <a:prstGeom prst="rect">
            <a:avLst/>
          </a:prstGeom>
        </p:spPr>
      </p:pic>
      <p:sp>
        <p:nvSpPr>
          <p:cNvPr id="4" name="文字版面配置區 4"/>
          <p:cNvSpPr>
            <a:spLocks noGrp="1"/>
          </p:cNvSpPr>
          <p:nvPr>
            <p:ph type="body" sz="quarter" idx="10"/>
          </p:nvPr>
        </p:nvSpPr>
        <p:spPr>
          <a:xfrm>
            <a:off x="1775523" y="544580"/>
            <a:ext cx="5954183" cy="60368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200" b="1" spc="300">
                <a:solidFill>
                  <a:srgbClr val="92D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5446" y="64525"/>
            <a:ext cx="1450820" cy="1600696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417" y="641357"/>
            <a:ext cx="711201" cy="447041"/>
          </a:xfrm>
          <a:prstGeom prst="rect">
            <a:avLst/>
          </a:prstGeom>
        </p:spPr>
      </p:pic>
      <p:sp>
        <p:nvSpPr>
          <p:cNvPr id="9" name="內容版面配置區 9">
            <a:extLst>
              <a:ext uri="{FF2B5EF4-FFF2-40B4-BE49-F238E27FC236}">
                <a16:creationId xmlns:a16="http://schemas.microsoft.com/office/drawing/2014/main" id="{76467F1A-0B12-4EB8-9661-141D385817E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127448" y="6455660"/>
            <a:ext cx="781049" cy="3577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微軟正黑體" pitchFamily="34" charset="-120"/>
                <a:ea typeface="微軟正黑體" pitchFamily="34" charset="-120"/>
              </a:defRPr>
            </a:lvl1pPr>
            <a:lvl2pPr marL="457178" indent="0">
              <a:buNone/>
              <a:defRPr/>
            </a:lvl2pPr>
            <a:lvl3pPr marL="914356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4276251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>
        <p:tmplLst>
          <p:tmpl lvl="1">
            <p:tnLst>
              <p:par>
                <p:cTn presetID="10" presetClass="entr" presetSubtype="0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練功心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9">
            <a:extLst>
              <a:ext uri="{FF2B5EF4-FFF2-40B4-BE49-F238E27FC236}">
                <a16:creationId xmlns:a16="http://schemas.microsoft.com/office/drawing/2014/main" id="{F9EEBFE4-D2D1-4DF4-94CB-E36C3FF3956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127448" y="6455660"/>
            <a:ext cx="781049" cy="3577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微軟正黑體" pitchFamily="34" charset="-120"/>
                <a:ea typeface="微軟正黑體" pitchFamily="34" charset="-120"/>
              </a:defRPr>
            </a:lvl1pPr>
            <a:lvl2pPr marL="457178" indent="0">
              <a:buNone/>
              <a:defRPr/>
            </a:lvl2pPr>
            <a:lvl3pPr marL="914356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427625128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Relationship Id="rId23" Type="http://schemas.openxmlformats.org/officeDocument/2006/relationships/image" Target="../media/image1.png"/><Relationship Id="rId24" Type="http://schemas.openxmlformats.org/officeDocument/2006/relationships/slide" Target="../slides/slide4.xml"/><Relationship Id="rId25" Type="http://schemas.openxmlformats.org/officeDocument/2006/relationships/image" Target="../media/image2.png"/><Relationship Id="rId26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字方塊 6">
            <a:extLst>
              <a:ext uri="{FF2B5EF4-FFF2-40B4-BE49-F238E27FC236}">
                <a16:creationId xmlns:a16="http://schemas.microsoft.com/office/drawing/2014/main" id="{369FF760-5698-4189-BAC3-C8AA9700578F}"/>
              </a:ext>
            </a:extLst>
          </p:cNvPr>
          <p:cNvSpPr txBox="1"/>
          <p:nvPr userDrawn="1"/>
        </p:nvSpPr>
        <p:spPr>
          <a:xfrm>
            <a:off x="8616280" y="6453336"/>
            <a:ext cx="17698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技高數學</a:t>
            </a:r>
            <a:r>
              <a:rPr lang="en-US" altLang="zh-TW" sz="1400" b="1" dirty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C</a:t>
            </a:r>
            <a:r>
              <a:rPr lang="zh-TW" altLang="en-US" sz="1400" b="1" dirty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TW" sz="1400" b="1" dirty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(</a:t>
            </a:r>
            <a:r>
              <a:rPr lang="zh-TW" altLang="en-US" sz="1400" b="1" dirty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一</a:t>
            </a:r>
            <a:r>
              <a:rPr lang="en-US" altLang="zh-TW" sz="1400" b="1" dirty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)</a:t>
            </a:r>
            <a:r>
              <a:rPr lang="zh-TW" altLang="en-US" sz="1400" b="1" dirty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TW" sz="1400" b="1" dirty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2-2</a:t>
            </a:r>
            <a:endParaRPr lang="zh-TW" altLang="en-US" sz="1400" b="1" dirty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A715FE93-6794-4ACF-B66B-6E7A01E2A2ED}"/>
              </a:ext>
            </a:extLst>
          </p:cNvPr>
          <p:cNvPicPr>
            <a:picLocks noChangeAspect="1"/>
          </p:cNvPicPr>
          <p:nvPr userDrawn="1"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3290" y="6380301"/>
            <a:ext cx="1373689" cy="33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文字方塊 8">
            <a:extLst>
              <a:ext uri="{FF2B5EF4-FFF2-40B4-BE49-F238E27FC236}">
                <a16:creationId xmlns:a16="http://schemas.microsoft.com/office/drawing/2014/main" id="{4C5B9651-CA2F-40B9-A24F-08917C3497BA}"/>
              </a:ext>
            </a:extLst>
          </p:cNvPr>
          <p:cNvSpPr txBox="1"/>
          <p:nvPr userDrawn="1"/>
        </p:nvSpPr>
        <p:spPr>
          <a:xfrm>
            <a:off x="281004" y="6453336"/>
            <a:ext cx="13441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0" dirty="0">
                <a:latin typeface="微軟正黑體" pitchFamily="34" charset="-120"/>
                <a:ea typeface="微軟正黑體" pitchFamily="34" charset="-120"/>
              </a:rPr>
              <a:t>配合課本</a:t>
            </a:r>
            <a:r>
              <a:rPr lang="en-US" altLang="zh-TW" sz="1400" b="0" dirty="0">
                <a:latin typeface="微軟正黑體" pitchFamily="34" charset="-120"/>
                <a:ea typeface="微軟正黑體" pitchFamily="34" charset="-120"/>
              </a:rPr>
              <a:t>P.</a:t>
            </a:r>
            <a:endParaRPr lang="zh-TW" altLang="en-US" sz="1400" b="0" dirty="0">
              <a:latin typeface="微軟正黑體" pitchFamily="34" charset="-120"/>
              <a:ea typeface="微軟正黑體" pitchFamily="34" charset="-120"/>
            </a:endParaRPr>
          </a:p>
        </p:txBody>
      </p: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D61B07C0-715D-49AD-9794-941F66D05765}"/>
              </a:ext>
            </a:extLst>
          </p:cNvPr>
          <p:cNvGrpSpPr/>
          <p:nvPr userDrawn="1"/>
        </p:nvGrpSpPr>
        <p:grpSpPr>
          <a:xfrm>
            <a:off x="2064271" y="6450731"/>
            <a:ext cx="892313" cy="307777"/>
            <a:chOff x="5220072" y="4855555"/>
            <a:chExt cx="669236" cy="230833"/>
          </a:xfrm>
        </p:grpSpPr>
        <p:pic>
          <p:nvPicPr>
            <p:cNvPr id="23" name="圖片 22">
              <a:hlinkClick r:id="rId24" action="ppaction://hlinksldjump"/>
              <a:extLst>
                <a:ext uri="{FF2B5EF4-FFF2-40B4-BE49-F238E27FC236}">
                  <a16:creationId xmlns:a16="http://schemas.microsoft.com/office/drawing/2014/main" id="{5A03430B-A0B7-48EF-95C4-565B3A1F898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5" cstate="print">
              <a:duotone>
                <a:prstClr val="black"/>
                <a:schemeClr val="tx1">
                  <a:lumMod val="75000"/>
                  <a:lumOff val="25000"/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26">
                      <a14:imgEffect>
                        <a14:artisticGlowEdges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20072" y="4865493"/>
              <a:ext cx="158605" cy="1919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" name="文字方塊 11">
              <a:hlinkClick r:id="rId24" action="ppaction://hlinksldjump"/>
              <a:extLst>
                <a:ext uri="{FF2B5EF4-FFF2-40B4-BE49-F238E27FC236}">
                  <a16:creationId xmlns:a16="http://schemas.microsoft.com/office/drawing/2014/main" id="{ACC7B164-1BDD-45F3-A2B0-0BF2D3B3AF07}"/>
                </a:ext>
              </a:extLst>
            </p:cNvPr>
            <p:cNvSpPr txBox="1"/>
            <p:nvPr userDrawn="1"/>
          </p:nvSpPr>
          <p:spPr>
            <a:xfrm>
              <a:off x="5340632" y="4855555"/>
              <a:ext cx="548676" cy="2308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TW"/>
              </a:defPPr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TW" altLang="en-US" sz="1400" b="1" dirty="0">
                  <a:solidFill>
                    <a:schemeClr val="tx1"/>
                  </a:solidFill>
                  <a:latin typeface="微軟正黑體" pitchFamily="34" charset="-120"/>
                  <a:ea typeface="微軟正黑體" pitchFamily="34" charset="-120"/>
                </a:rPr>
                <a:t>回目次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63111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63" r:id="rId5"/>
    <p:sldLayoutId id="2147483652" r:id="rId6"/>
    <p:sldLayoutId id="2147483653" r:id="rId7"/>
    <p:sldLayoutId id="2147483654" r:id="rId8"/>
    <p:sldLayoutId id="2147483669" r:id="rId9"/>
    <p:sldLayoutId id="2147483655" r:id="rId10"/>
    <p:sldLayoutId id="2147483668" r:id="rId11"/>
    <p:sldLayoutId id="2147483661" r:id="rId12"/>
    <p:sldLayoutId id="2147483667" r:id="rId13"/>
    <p:sldLayoutId id="2147483662" r:id="rId14"/>
    <p:sldLayoutId id="2147483666" r:id="rId15"/>
    <p:sldLayoutId id="2147483656" r:id="rId16"/>
    <p:sldLayoutId id="2147483665" r:id="rId17"/>
    <p:sldLayoutId id="2147483657" r:id="rId18"/>
    <p:sldLayoutId id="2147483664" r:id="rId19"/>
    <p:sldLayoutId id="2147483658" r:id="rId20"/>
    <p:sldLayoutId id="2147483659" r:id="rId21"/>
  </p:sldLayoutIdLst>
  <p:txStyles>
    <p:titleStyle>
      <a:lvl1pPr algn="ctr" defTabSz="914356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83" indent="-342883" algn="l" defTabSz="914356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12" indent="-285736" algn="l" defTabSz="914356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3" indent="-228589" algn="l" defTabSz="914356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6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7" indent="-228589" algn="l" defTabSz="914356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5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6" algn="l" defTabSz="91435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40.wmf"/><Relationship Id="rId4" Type="http://schemas.openxmlformats.org/officeDocument/2006/relationships/image" Target="../media/image4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" Target="slide5.xml"/><Relationship Id="rId3" Type="http://schemas.openxmlformats.org/officeDocument/2006/relationships/slide" Target="slide23.xml"/><Relationship Id="rId4" Type="http://schemas.openxmlformats.org/officeDocument/2006/relationships/slide" Target="slide42.xml"/><Relationship Id="rId5" Type="http://schemas.openxmlformats.org/officeDocument/2006/relationships/slide" Target="slide67.xml"/><Relationship Id="rId6" Type="http://schemas.openxmlformats.org/officeDocument/2006/relationships/image" Target="../media/image9.png"/><Relationship Id="rId7" Type="http://schemas.openxmlformats.org/officeDocument/2006/relationships/slide" Target="slide15.xml"/><Relationship Id="rId8" Type="http://schemas.openxmlformats.org/officeDocument/2006/relationships/image" Target="../media/image42.png"/><Relationship Id="rId9" Type="http://schemas.openxmlformats.org/officeDocument/2006/relationships/image" Target="../media/image10.png"/><Relationship Id="rId10" Type="http://schemas.openxmlformats.org/officeDocument/2006/relationships/slide" Target="slide21.xml"/><Relationship Id="rId11" Type="http://schemas.openxmlformats.org/officeDocument/2006/relationships/slide" Target="slide31.xml"/><Relationship Id="rId12" Type="http://schemas.openxmlformats.org/officeDocument/2006/relationships/slide" Target="slide35.xml"/><Relationship Id="rId13" Type="http://schemas.openxmlformats.org/officeDocument/2006/relationships/slide" Target="slide18.xml"/><Relationship Id="rId14" Type="http://schemas.openxmlformats.org/officeDocument/2006/relationships/slide" Target="slide70.xml"/><Relationship Id="rId15" Type="http://schemas.openxmlformats.org/officeDocument/2006/relationships/slide" Target="slide57.xml"/><Relationship Id="rId16" Type="http://schemas.openxmlformats.org/officeDocument/2006/relationships/slide" Target="slide59.xml"/><Relationship Id="rId17" Type="http://schemas.openxmlformats.org/officeDocument/2006/relationships/slide" Target="slide65.xml"/><Relationship Id="rId18" Type="http://schemas.openxmlformats.org/officeDocument/2006/relationships/slide" Target="slide6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oleObject" Target="../embeddings/oleObject2.bin"/><Relationship Id="rId3" Type="http://schemas.openxmlformats.org/officeDocument/2006/relationships/image" Target="../media/image43.wmf"/><Relationship Id="rId4" Type="http://schemas.openxmlformats.org/officeDocument/2006/relationships/oleObject" Target="../embeddings/oleObject3.bin"/><Relationship Id="rId5" Type="http://schemas.openxmlformats.org/officeDocument/2006/relationships/image" Target="../media/image44.wmf"/><Relationship Id="rId6" Type="http://schemas.openxmlformats.org/officeDocument/2006/relationships/oleObject" Target="../embeddings/oleObject4.bin"/><Relationship Id="rId7" Type="http://schemas.openxmlformats.org/officeDocument/2006/relationships/image" Target="../media/image45.wm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oleObject" Target="../embeddings/oleObject5.bin"/><Relationship Id="rId4" Type="http://schemas.openxmlformats.org/officeDocument/2006/relationships/image" Target="../media/image47.wm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53.png"/><Relationship Id="rId3" Type="http://schemas.openxmlformats.org/officeDocument/2006/relationships/oleObject" Target="../embeddings/oleObject6.bin"/><Relationship Id="rId4" Type="http://schemas.openxmlformats.org/officeDocument/2006/relationships/image" Target="../media/image54.wmf"/><Relationship Id="rId5" Type="http://schemas.openxmlformats.org/officeDocument/2006/relationships/oleObject" Target="../embeddings/oleObject7.bin"/><Relationship Id="rId6" Type="http://schemas.openxmlformats.org/officeDocument/2006/relationships/image" Target="../media/image55.wm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oleObject" Target="../embeddings/oleObject8.bin"/><Relationship Id="rId3" Type="http://schemas.openxmlformats.org/officeDocument/2006/relationships/image" Target="../media/image56.wmf"/><Relationship Id="rId4" Type="http://schemas.openxmlformats.org/officeDocument/2006/relationships/oleObject" Target="../embeddings/oleObject9.bin"/><Relationship Id="rId5" Type="http://schemas.openxmlformats.org/officeDocument/2006/relationships/image" Target="../media/image57.wmf"/><Relationship Id="rId6" Type="http://schemas.openxmlformats.org/officeDocument/2006/relationships/image" Target="../media/image5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oleObject" Target="../embeddings/oleObject10.bin"/><Relationship Id="rId3" Type="http://schemas.openxmlformats.org/officeDocument/2006/relationships/image" Target="../media/image59.wmf"/><Relationship Id="rId4" Type="http://schemas.openxmlformats.org/officeDocument/2006/relationships/oleObject" Target="../embeddings/oleObject11.bin"/><Relationship Id="rId5" Type="http://schemas.openxmlformats.org/officeDocument/2006/relationships/image" Target="../media/image60.wmf"/><Relationship Id="rId6" Type="http://schemas.openxmlformats.org/officeDocument/2006/relationships/image" Target="../media/image6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62.png"/><Relationship Id="rId3" Type="http://schemas.openxmlformats.org/officeDocument/2006/relationships/notesSlide" Target="../notesSlides/notesSlide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62.png"/><Relationship Id="rId3" Type="http://schemas.openxmlformats.org/officeDocument/2006/relationships/notesSlide" Target="../notesSlides/notesSlide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oleObject" Target="../embeddings/oleObject12.bin"/><Relationship Id="rId3" Type="http://schemas.openxmlformats.org/officeDocument/2006/relationships/image" Target="../media/image63.wmf"/><Relationship Id="rId4" Type="http://schemas.openxmlformats.org/officeDocument/2006/relationships/image" Target="../media/image64.png"/><Relationship Id="rId5" Type="http://schemas.openxmlformats.org/officeDocument/2006/relationships/notesSlide" Target="../notesSlides/notesSlide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oleObject" Target="../embeddings/oleObject12.bin"/><Relationship Id="rId3" Type="http://schemas.openxmlformats.org/officeDocument/2006/relationships/image" Target="../media/image63.wmf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oleObject" Target="../embeddings/oleObject13.bin"/><Relationship Id="rId3" Type="http://schemas.openxmlformats.org/officeDocument/2006/relationships/image" Target="../media/image65.wmf"/><Relationship Id="rId4" Type="http://schemas.openxmlformats.org/officeDocument/2006/relationships/image" Target="../media/image66.png"/><Relationship Id="rId5" Type="http://schemas.openxmlformats.org/officeDocument/2006/relationships/notesSlide" Target="../notesSlides/notesSlide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oleObject" Target="../embeddings/oleObject14.bin"/><Relationship Id="rId3" Type="http://schemas.openxmlformats.org/officeDocument/2006/relationships/image" Target="../media/image67.wmf"/><Relationship Id="rId4" Type="http://schemas.openxmlformats.org/officeDocument/2006/relationships/oleObject" Target="../embeddings/oleObject15.bin"/><Relationship Id="rId5" Type="http://schemas.openxmlformats.org/officeDocument/2006/relationships/image" Target="../media/image68.wmf"/><Relationship Id="rId6" Type="http://schemas.openxmlformats.org/officeDocument/2006/relationships/oleObject" Target="../embeddings/oleObject16.bin"/><Relationship Id="rId7" Type="http://schemas.openxmlformats.org/officeDocument/2006/relationships/image" Target="../media/image69.wmf"/><Relationship Id="rId8" Type="http://schemas.openxmlformats.org/officeDocument/2006/relationships/oleObject" Target="../embeddings/oleObject17.bin"/><Relationship Id="rId9" Type="http://schemas.openxmlformats.org/officeDocument/2006/relationships/image" Target="../media/image70.wmf"/><Relationship Id="rId10" Type="http://schemas.openxmlformats.org/officeDocument/2006/relationships/image" Target="../media/image71.png"/><Relationship Id="rId11" Type="http://schemas.openxmlformats.org/officeDocument/2006/relationships/notesSlide" Target="../notesSlides/notesSlide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oleObject" Target="../embeddings/oleObject18.bin"/><Relationship Id="rId3" Type="http://schemas.openxmlformats.org/officeDocument/2006/relationships/image" Target="../media/image72.wmf"/><Relationship Id="rId4" Type="http://schemas.openxmlformats.org/officeDocument/2006/relationships/oleObject" Target="../embeddings/oleObject19.bin"/><Relationship Id="rId5" Type="http://schemas.openxmlformats.org/officeDocument/2006/relationships/image" Target="../media/image73.wmf"/><Relationship Id="rId6" Type="http://schemas.openxmlformats.org/officeDocument/2006/relationships/oleObject" Target="../embeddings/oleObject20.bin"/><Relationship Id="rId7" Type="http://schemas.openxmlformats.org/officeDocument/2006/relationships/image" Target="../media/image74.wmf"/><Relationship Id="rId8" Type="http://schemas.openxmlformats.org/officeDocument/2006/relationships/oleObject" Target="../embeddings/oleObject21.bin"/><Relationship Id="rId9" Type="http://schemas.openxmlformats.org/officeDocument/2006/relationships/image" Target="../media/image69.wmf"/><Relationship Id="rId10" Type="http://schemas.openxmlformats.org/officeDocument/2006/relationships/image" Target="../media/image75.png"/><Relationship Id="rId11" Type="http://schemas.openxmlformats.org/officeDocument/2006/relationships/notesSlide" Target="../notesSlides/notesSlide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oleObject" Target="../embeddings/oleObject22.bin"/><Relationship Id="rId3" Type="http://schemas.openxmlformats.org/officeDocument/2006/relationships/image" Target="../media/image76.wmf"/><Relationship Id="rId4" Type="http://schemas.openxmlformats.org/officeDocument/2006/relationships/image" Target="../media/image77.png"/><Relationship Id="rId5" Type="http://schemas.openxmlformats.org/officeDocument/2006/relationships/image" Target="../media/image7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oleObject" Target="../embeddings/oleObject23.bin"/><Relationship Id="rId3" Type="http://schemas.openxmlformats.org/officeDocument/2006/relationships/image" Target="../media/image79.wmf"/><Relationship Id="rId4" Type="http://schemas.openxmlformats.org/officeDocument/2006/relationships/image" Target="../media/image77.png"/><Relationship Id="rId5" Type="http://schemas.openxmlformats.org/officeDocument/2006/relationships/image" Target="../media/image7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png"/><Relationship Id="rId3" Type="http://schemas.openxmlformats.org/officeDocument/2006/relationships/oleObject" Target="../embeddings/oleObject24.bin"/><Relationship Id="rId4" Type="http://schemas.openxmlformats.org/officeDocument/2006/relationships/image" Target="../media/image81.wmf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png"/><Relationship Id="rId3" Type="http://schemas.openxmlformats.org/officeDocument/2006/relationships/oleObject" Target="../embeddings/oleObject25.bin"/><Relationship Id="rId4" Type="http://schemas.openxmlformats.org/officeDocument/2006/relationships/image" Target="../media/image82.wmf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oleObject" Target="../embeddings/oleObject26.bin"/><Relationship Id="rId3" Type="http://schemas.openxmlformats.org/officeDocument/2006/relationships/image" Target="../media/image84.wmf"/><Relationship Id="rId4" Type="http://schemas.openxmlformats.org/officeDocument/2006/relationships/oleObject" Target="../embeddings/oleObject27.bin"/><Relationship Id="rId5" Type="http://schemas.openxmlformats.org/officeDocument/2006/relationships/image" Target="../media/image85.wmf"/><Relationship Id="rId6" Type="http://schemas.openxmlformats.org/officeDocument/2006/relationships/image" Target="../media/image86.png"/><Relationship Id="rId7" Type="http://schemas.openxmlformats.org/officeDocument/2006/relationships/notesSlide" Target="../notesSlides/notesSlide10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87.png"/><Relationship Id="rId3" Type="http://schemas.openxmlformats.org/officeDocument/2006/relationships/notesSlide" Target="../notesSlides/notesSlide1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88.png"/><Relationship Id="rId3" Type="http://schemas.openxmlformats.org/officeDocument/2006/relationships/image" Target="../media/image89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88.png"/><Relationship Id="rId3" Type="http://schemas.openxmlformats.org/officeDocument/2006/relationships/oleObject" Target="../embeddings/oleObject28.bin"/><Relationship Id="rId4" Type="http://schemas.openxmlformats.org/officeDocument/2006/relationships/image" Target="../media/image90.wmf"/><Relationship Id="rId5" Type="http://schemas.openxmlformats.org/officeDocument/2006/relationships/image" Target="../media/image9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88.png"/><Relationship Id="rId3" Type="http://schemas.openxmlformats.org/officeDocument/2006/relationships/image" Target="../media/image92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8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88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93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94.jpeg"/><Relationship Id="rId3" Type="http://schemas.openxmlformats.org/officeDocument/2006/relationships/image" Target="../media/image95.png"/><Relationship Id="rId4" Type="http://schemas.openxmlformats.org/officeDocument/2006/relationships/notesSlide" Target="../notesSlides/notesSlide1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96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96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oleObject" Target="../embeddings/oleObject29.bin"/><Relationship Id="rId3" Type="http://schemas.openxmlformats.org/officeDocument/2006/relationships/image" Target="../media/image97.wmf"/><Relationship Id="rId4" Type="http://schemas.openxmlformats.org/officeDocument/2006/relationships/oleObject" Target="../embeddings/oleObject30.bin"/><Relationship Id="rId5" Type="http://schemas.openxmlformats.org/officeDocument/2006/relationships/image" Target="../media/image98.wmf"/><Relationship Id="rId6" Type="http://schemas.openxmlformats.org/officeDocument/2006/relationships/image" Target="../media/image96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96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9.png"/><Relationship Id="rId3" Type="http://schemas.openxmlformats.org/officeDocument/2006/relationships/oleObject" Target="../embeddings/oleObject31.bin"/><Relationship Id="rId4" Type="http://schemas.openxmlformats.org/officeDocument/2006/relationships/image" Target="../media/image100.wmf"/><Relationship Id="rId5" Type="http://schemas.openxmlformats.org/officeDocument/2006/relationships/image" Target="../media/image10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9.png"/><Relationship Id="rId3" Type="http://schemas.openxmlformats.org/officeDocument/2006/relationships/image" Target="../media/image101.png"/><Relationship Id="rId4" Type="http://schemas.openxmlformats.org/officeDocument/2006/relationships/oleObject" Target="../embeddings/oleObject32.bin"/><Relationship Id="rId5" Type="http://schemas.openxmlformats.org/officeDocument/2006/relationships/image" Target="../media/image102.wmf"/><Relationship Id="rId6" Type="http://schemas.openxmlformats.org/officeDocument/2006/relationships/oleObject" Target="../embeddings/oleObject33.bin"/><Relationship Id="rId7" Type="http://schemas.openxmlformats.org/officeDocument/2006/relationships/image" Target="../media/image103.wmf"/><Relationship Id="rId8" Type="http://schemas.openxmlformats.org/officeDocument/2006/relationships/oleObject" Target="../embeddings/oleObject34.bin"/><Relationship Id="rId9" Type="http://schemas.openxmlformats.org/officeDocument/2006/relationships/image" Target="../media/image104.wmf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9.png"/><Relationship Id="rId3" Type="http://schemas.openxmlformats.org/officeDocument/2006/relationships/oleObject" Target="../embeddings/oleObject35.bin"/><Relationship Id="rId4" Type="http://schemas.openxmlformats.org/officeDocument/2006/relationships/image" Target="../media/image105.wmf"/><Relationship Id="rId5" Type="http://schemas.openxmlformats.org/officeDocument/2006/relationships/oleObject" Target="../embeddings/oleObject36.bin"/><Relationship Id="rId6" Type="http://schemas.openxmlformats.org/officeDocument/2006/relationships/image" Target="../media/image106.wmf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9.png"/><Relationship Id="rId3" Type="http://schemas.openxmlformats.org/officeDocument/2006/relationships/image" Target="../media/image107.png"/><Relationship Id="rId4" Type="http://schemas.openxmlformats.org/officeDocument/2006/relationships/oleObject" Target="../embeddings/oleObject37.bin"/><Relationship Id="rId5" Type="http://schemas.openxmlformats.org/officeDocument/2006/relationships/image" Target="../media/image108.wmf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9.png"/><Relationship Id="rId3" Type="http://schemas.openxmlformats.org/officeDocument/2006/relationships/oleObject" Target="../embeddings/oleObject38.bin"/><Relationship Id="rId4" Type="http://schemas.openxmlformats.org/officeDocument/2006/relationships/image" Target="../media/image109.wmf"/><Relationship Id="rId5" Type="http://schemas.openxmlformats.org/officeDocument/2006/relationships/image" Target="../media/image110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9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4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6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oleObject" Target="../embeddings/oleObject39.bin"/><Relationship Id="rId3" Type="http://schemas.openxmlformats.org/officeDocument/2006/relationships/image" Target="../media/image111.wmf"/><Relationship Id="rId4" Type="http://schemas.openxmlformats.org/officeDocument/2006/relationships/notesSlide" Target="../notesSlides/notesSlide1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oleObject" Target="../embeddings/oleObject40.bin"/><Relationship Id="rId3" Type="http://schemas.openxmlformats.org/officeDocument/2006/relationships/image" Target="../media/image112.wmf"/><Relationship Id="rId4" Type="http://schemas.openxmlformats.org/officeDocument/2006/relationships/oleObject" Target="../embeddings/oleObject41.bin"/><Relationship Id="rId5" Type="http://schemas.openxmlformats.org/officeDocument/2006/relationships/image" Target="../media/image113.wmf"/><Relationship Id="rId6" Type="http://schemas.openxmlformats.org/officeDocument/2006/relationships/notesSlide" Target="../notesSlides/notesSlide18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oleObject" Target="../embeddings/oleObject42.bin"/><Relationship Id="rId3" Type="http://schemas.openxmlformats.org/officeDocument/2006/relationships/image" Target="../media/image114.wmf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9.png"/><Relationship Id="rId3" Type="http://schemas.openxmlformats.org/officeDocument/2006/relationships/oleObject" Target="../embeddings/oleObject43.bin"/><Relationship Id="rId4" Type="http://schemas.openxmlformats.org/officeDocument/2006/relationships/image" Target="../media/image115.wmf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oleObject" Target="../embeddings/oleObject44.bin"/><Relationship Id="rId3" Type="http://schemas.openxmlformats.org/officeDocument/2006/relationships/image" Target="../media/image116.wmf"/><Relationship Id="rId4" Type="http://schemas.openxmlformats.org/officeDocument/2006/relationships/notesSlide" Target="../notesSlides/notesSlide19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oleObject" Target="../embeddings/oleObject45.bin"/><Relationship Id="rId3" Type="http://schemas.openxmlformats.org/officeDocument/2006/relationships/image" Target="../media/image117.wmf"/><Relationship Id="rId4" Type="http://schemas.openxmlformats.org/officeDocument/2006/relationships/notesSlide" Target="../notesSlides/notesSlide20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oleObject" Target="../embeddings/oleObject46.bin"/><Relationship Id="rId4" Type="http://schemas.openxmlformats.org/officeDocument/2006/relationships/image" Target="../media/image118.wmf"/><Relationship Id="rId5" Type="http://schemas.openxmlformats.org/officeDocument/2006/relationships/oleObject" Target="../embeddings/oleObject47.bin"/><Relationship Id="rId6" Type="http://schemas.openxmlformats.org/officeDocument/2006/relationships/image" Target="../media/image119.wmf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oleObject" Target="../embeddings/oleObject46.bin"/><Relationship Id="rId3" Type="http://schemas.openxmlformats.org/officeDocument/2006/relationships/image" Target="../media/image120.png"/><Relationship Id="rId4" Type="http://schemas.openxmlformats.org/officeDocument/2006/relationships/image" Target="../media/image121.png"/><Relationship Id="rId5" Type="http://schemas.openxmlformats.org/officeDocument/2006/relationships/notesSlide" Target="../notesSlides/notesSlide21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oleObject" Target="../embeddings/oleObject48.bin"/><Relationship Id="rId3" Type="http://schemas.openxmlformats.org/officeDocument/2006/relationships/image" Target="../media/image122.wmf"/><Relationship Id="rId4" Type="http://schemas.openxmlformats.org/officeDocument/2006/relationships/oleObject" Target="../embeddings/oleObject49.bin"/><Relationship Id="rId5" Type="http://schemas.openxmlformats.org/officeDocument/2006/relationships/image" Target="../media/image123.wmf"/><Relationship Id="rId6" Type="http://schemas.openxmlformats.org/officeDocument/2006/relationships/oleObject" Target="../embeddings/oleObject50.bin"/><Relationship Id="rId7" Type="http://schemas.openxmlformats.org/officeDocument/2006/relationships/image" Target="../media/image124.wmf"/><Relationship Id="rId8" Type="http://schemas.openxmlformats.org/officeDocument/2006/relationships/image" Target="../media/image125.png"/><Relationship Id="rId9" Type="http://schemas.openxmlformats.org/officeDocument/2006/relationships/notesSlide" Target="../notesSlides/notesSlide2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oleObject" Target="../embeddings/oleObject51.bin"/><Relationship Id="rId3" Type="http://schemas.openxmlformats.org/officeDocument/2006/relationships/image" Target="../media/image126.wmf"/><Relationship Id="rId4" Type="http://schemas.openxmlformats.org/officeDocument/2006/relationships/notesSlide" Target="../notesSlides/notesSlide23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oleObject" Target="../embeddings/oleObject52.bin"/><Relationship Id="rId3" Type="http://schemas.openxmlformats.org/officeDocument/2006/relationships/image" Target="../media/image127.wmf"/><Relationship Id="rId4" Type="http://schemas.openxmlformats.org/officeDocument/2006/relationships/notesSlide" Target="../notesSlides/notesSlide25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oleObject" Target="../embeddings/oleObject53.bin"/><Relationship Id="rId3" Type="http://schemas.openxmlformats.org/officeDocument/2006/relationships/image" Target="../media/image128.wmf"/><Relationship Id="rId4" Type="http://schemas.openxmlformats.org/officeDocument/2006/relationships/oleObject" Target="../embeddings/oleObject54.bin"/><Relationship Id="rId5" Type="http://schemas.openxmlformats.org/officeDocument/2006/relationships/image" Target="../media/image129.wmf"/><Relationship Id="rId6" Type="http://schemas.openxmlformats.org/officeDocument/2006/relationships/notesSlide" Target="../notesSlides/notesSlide26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oleObject" Target="../embeddings/oleObject55.bin"/><Relationship Id="rId3" Type="http://schemas.openxmlformats.org/officeDocument/2006/relationships/image" Target="../media/image130.wmf"/><Relationship Id="rId4" Type="http://schemas.openxmlformats.org/officeDocument/2006/relationships/notesSlide" Target="../notesSlides/notesSlide2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oleObject" Target="../embeddings/oleObject56.bin"/><Relationship Id="rId3" Type="http://schemas.openxmlformats.org/officeDocument/2006/relationships/image" Target="../media/image131.wmf"/><Relationship Id="rId4" Type="http://schemas.openxmlformats.org/officeDocument/2006/relationships/oleObject" Target="../embeddings/oleObject57.bin"/><Relationship Id="rId5" Type="http://schemas.openxmlformats.org/officeDocument/2006/relationships/image" Target="../media/image132.wmf"/><Relationship Id="rId6" Type="http://schemas.openxmlformats.org/officeDocument/2006/relationships/notesSlide" Target="../notesSlides/notesSlide28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oleObject" Target="../embeddings/oleObject58.bin"/><Relationship Id="rId3" Type="http://schemas.openxmlformats.org/officeDocument/2006/relationships/image" Target="../media/image133.wmf"/><Relationship Id="rId4" Type="http://schemas.openxmlformats.org/officeDocument/2006/relationships/oleObject" Target="../embeddings/oleObject59.bin"/><Relationship Id="rId5" Type="http://schemas.openxmlformats.org/officeDocument/2006/relationships/image" Target="../media/image134.wmf"/><Relationship Id="rId6" Type="http://schemas.openxmlformats.org/officeDocument/2006/relationships/notesSlide" Target="../notesSlides/notesSlide29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2583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/>
          <p:cNvSpPr>
            <a:spLocks noGrp="1"/>
          </p:cNvSpPr>
          <p:nvPr>
            <p:ph type="body" sz="quarter" idx="11"/>
          </p:nvPr>
        </p:nvSpPr>
        <p:spPr>
          <a:xfrm>
            <a:off x="2711624" y="4071214"/>
            <a:ext cx="5616624" cy="697839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微軟正黑體"/>
              </a:rPr>
              <a:t>2-2 三角函數的定義與性質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0"/>
          </p:nvPr>
        </p:nvSpPr>
        <p:spPr>
          <a:xfrm>
            <a:off x="407368" y="2459572"/>
            <a:ext cx="5112901" cy="613833"/>
          </a:xfrm>
        </p:spPr>
        <p:txBody>
          <a:bodyPr/>
          <a:lstStyle/>
          <a:p>
            <a:r>
              <a:rPr lang="en-US" altLang="zh-TW" dirty="0"/>
              <a:t>CH2</a:t>
            </a:r>
            <a:r>
              <a:rPr lang="zh-TW" altLang="en-US" dirty="0"/>
              <a:t> 三角函數</a:t>
            </a:r>
          </a:p>
        </p:txBody>
      </p:sp>
    </p:spTree>
    <p:extLst>
      <p:ext uri="{BB962C8B-B14F-4D97-AF65-F5344CB8AC3E}">
        <p14:creationId xmlns:p14="http://schemas.microsoft.com/office/powerpoint/2010/main" val="2521994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/>
          <p:cNvSpPr txBox="1"/>
          <p:nvPr/>
        </p:nvSpPr>
        <p:spPr>
          <a:xfrm>
            <a:off x="1492425" y="1074903"/>
            <a:ext cx="381642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000" b="1" dirty="0">
                <a:latin typeface="微軟正黑體" pitchFamily="34" charset="-120"/>
                <a:ea typeface="微軟正黑體" pitchFamily="34" charset="-120"/>
              </a:rPr>
              <a:t>前 言</a:t>
            </a:r>
            <a:endParaRPr lang="zh-TW" altLang="zh-TW" sz="3000" b="1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>
          <a:xfrm>
            <a:off x="1127448" y="6455660"/>
            <a:ext cx="781049" cy="357716"/>
          </a:xfrm>
        </p:spPr>
        <p:txBody>
          <a:bodyPr/>
          <a:lstStyle/>
          <a:p>
            <a:r>
              <a:rPr lang="en-US" altLang="zh-TW" dirty="0"/>
              <a:t>107</a:t>
            </a:r>
            <a:endParaRPr lang="zh-TW" altLang="en-US" dirty="0"/>
          </a:p>
        </p:txBody>
      </p:sp>
      <p:grpSp>
        <p:nvGrpSpPr>
          <p:cNvPr id="6" name="群組 5"/>
          <p:cNvGrpSpPr/>
          <p:nvPr/>
        </p:nvGrpSpPr>
        <p:grpSpPr>
          <a:xfrm>
            <a:off x="839417" y="2029904"/>
            <a:ext cx="10983447" cy="2870200"/>
            <a:chOff x="839417" y="2029904"/>
            <a:chExt cx="10983447" cy="2870200"/>
          </a:xfrm>
        </p:grpSpPr>
        <p:grpSp>
          <p:nvGrpSpPr>
            <p:cNvPr id="5" name="群組 4"/>
            <p:cNvGrpSpPr/>
            <p:nvPr/>
          </p:nvGrpSpPr>
          <p:grpSpPr>
            <a:xfrm>
              <a:off x="839417" y="2029904"/>
              <a:ext cx="10513167" cy="2546018"/>
              <a:chOff x="839417" y="2029904"/>
              <a:chExt cx="10513167" cy="2546018"/>
            </a:xfrm>
          </p:grpSpPr>
          <p:sp>
            <p:nvSpPr>
              <p:cNvPr id="7" name="文字方塊 6"/>
              <p:cNvSpPr txBox="1"/>
              <p:nvPr/>
            </p:nvSpPr>
            <p:spPr>
              <a:xfrm>
                <a:off x="839417" y="2029904"/>
                <a:ext cx="10513167" cy="25460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zh-TW" altLang="en-US" sz="2800" spc="300" dirty="0">
                    <a:latin typeface="Times New Roman" pitchFamily="18" charset="0"/>
                    <a:ea typeface="微軟正黑體" pitchFamily="34" charset="-120"/>
                  </a:rPr>
                  <a:t>將邊長為</a:t>
                </a:r>
                <a:r>
                  <a:rPr lang="en-US" altLang="zh-TW" sz="2800" spc="300" dirty="0">
                    <a:latin typeface="Times New Roman" pitchFamily="18" charset="0"/>
                    <a:ea typeface="微軟正黑體" pitchFamily="34" charset="-120"/>
                  </a:rPr>
                  <a:t>2 </a:t>
                </a:r>
                <a:r>
                  <a:rPr lang="zh-TW" altLang="en-US" sz="2800" spc="300" dirty="0">
                    <a:latin typeface="Times New Roman" pitchFamily="18" charset="0"/>
                    <a:ea typeface="微軟正黑體" pitchFamily="34" charset="-120"/>
                  </a:rPr>
                  <a:t>的正三角形對折，</a:t>
                </a:r>
                <a:r>
                  <a:rPr lang="zh-TW" altLang="en-US" sz="2800" spc="300">
                    <a:latin typeface="Times New Roman" pitchFamily="18" charset="0"/>
                    <a:ea typeface="微軟正黑體" pitchFamily="34" charset="-120"/>
                  </a:rPr>
                  <a:t>利用畢氏定理</a:t>
                </a:r>
                <a:r>
                  <a:rPr lang="zh-TW" altLang="en-US" sz="2800" spc="300" dirty="0">
                    <a:latin typeface="Times New Roman" pitchFamily="18" charset="0"/>
                    <a:ea typeface="微軟正黑體" pitchFamily="34" charset="-120"/>
                  </a:rPr>
                  <a:t>，</a:t>
                </a:r>
                <a:br>
                  <a:rPr lang="en-US" altLang="zh-TW" sz="2800" spc="300" dirty="0">
                    <a:latin typeface="Times New Roman" pitchFamily="18" charset="0"/>
                    <a:ea typeface="微軟正黑體" pitchFamily="34" charset="-120"/>
                  </a:rPr>
                </a:br>
                <a:r>
                  <a:rPr lang="zh-TW" altLang="en-US" sz="2800" spc="300" dirty="0">
                    <a:latin typeface="Times New Roman" pitchFamily="18" charset="0"/>
                    <a:ea typeface="微軟正黑體" pitchFamily="34" charset="-120"/>
                  </a:rPr>
                  <a:t>可以得到正三角形的高為                  ，</a:t>
                </a:r>
                <a:br>
                  <a:rPr lang="en-US" altLang="zh-TW" sz="2800" spc="300" dirty="0">
                    <a:latin typeface="Times New Roman" pitchFamily="18" charset="0"/>
                    <a:ea typeface="微軟正黑體" pitchFamily="34" charset="-120"/>
                  </a:rPr>
                </a:br>
                <a:r>
                  <a:rPr lang="zh-TW" altLang="en-US" sz="2800" spc="300" dirty="0">
                    <a:latin typeface="Times New Roman" pitchFamily="18" charset="0"/>
                    <a:ea typeface="微軟正黑體" pitchFamily="34" charset="-120"/>
                  </a:rPr>
                  <a:t>這個直角三角形的三個邊長關係，如右圖所示。</a:t>
                </a:r>
              </a:p>
            </p:txBody>
          </p:sp>
          <p:graphicFrame>
            <p:nvGraphicFramePr>
              <p:cNvPr id="2" name="物件 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28435239"/>
                  </p:ext>
                </p:extLst>
              </p:nvPr>
            </p:nvGraphicFramePr>
            <p:xfrm>
              <a:off x="5375920" y="3121082"/>
              <a:ext cx="1981200" cy="495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981080" imgH="495000" progId="Equation.DSMT4">
                      <p:embed/>
                    </p:oleObj>
                  </mc:Choice>
                  <mc:Fallback>
                    <p:oleObj name="Equation" r:id="rId2" imgW="1981080" imgH="4950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3"/>
                          <a:stretch>
                            <a:fillRect/>
                          </a:stretch>
                        </p:blipFill>
                        <p:spPr>
                          <a:xfrm>
                            <a:off x="5375920" y="3121082"/>
                            <a:ext cx="1981200" cy="4953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pic>
          <p:nvPicPr>
            <p:cNvPr id="145410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64352" y="2132856"/>
              <a:ext cx="2558512" cy="2767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347933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6240016" y="2092157"/>
            <a:ext cx="19800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200" b="1" spc="300" dirty="0">
                <a:solidFill>
                  <a:srgbClr val="FF7C80"/>
                </a:solidFill>
                <a:latin typeface="微軟正黑體" pitchFamily="34" charset="-120"/>
                <a:ea typeface="微軟正黑體" pitchFamily="34" charset="-120"/>
              </a:rPr>
              <a:t>例題選單</a:t>
            </a:r>
          </a:p>
        </p:txBody>
      </p:sp>
      <p:cxnSp>
        <p:nvCxnSpPr>
          <p:cNvPr id="5" name="直線接點 4"/>
          <p:cNvCxnSpPr>
            <a:cxnSpLocks/>
          </p:cNvCxnSpPr>
          <p:nvPr/>
        </p:nvCxnSpPr>
        <p:spPr>
          <a:xfrm>
            <a:off x="6381846" y="2708920"/>
            <a:ext cx="4826722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文字方塊 5"/>
          <p:cNvSpPr txBox="1"/>
          <p:nvPr/>
        </p:nvSpPr>
        <p:spPr>
          <a:xfrm>
            <a:off x="1344744" y="2092157"/>
            <a:ext cx="19800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200" b="1" spc="300" dirty="0">
                <a:solidFill>
                  <a:schemeClr val="accent6">
                    <a:lumMod val="7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章節選單</a:t>
            </a:r>
          </a:p>
        </p:txBody>
      </p:sp>
      <p:sp>
        <p:nvSpPr>
          <p:cNvPr id="8" name="文字版面配置區 5">
            <a:hlinkClick r:id="rId2" action="ppaction://hlinksldjump"/>
          </p:cNvPr>
          <p:cNvSpPr txBox="1">
            <a:spLocks/>
          </p:cNvSpPr>
          <p:nvPr/>
        </p:nvSpPr>
        <p:spPr bwMode="auto">
          <a:xfrm>
            <a:off x="1373793" y="2720951"/>
            <a:ext cx="4875994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TW" sz="28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2-2.1</a:t>
            </a:r>
            <a:r>
              <a:rPr lang="zh-TW" altLang="en-US" sz="28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銳角的三角函數　</a:t>
            </a:r>
          </a:p>
        </p:txBody>
      </p:sp>
      <p:sp>
        <p:nvSpPr>
          <p:cNvPr id="11" name="文字版面配置區 5">
            <a:hlinkClick r:id="rId3" action="ppaction://hlinksldjump"/>
          </p:cNvPr>
          <p:cNvSpPr txBox="1">
            <a:spLocks/>
          </p:cNvSpPr>
          <p:nvPr/>
        </p:nvSpPr>
        <p:spPr bwMode="auto">
          <a:xfrm>
            <a:off x="1373794" y="3411959"/>
            <a:ext cx="4866222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TW" sz="28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2-2.2</a:t>
            </a:r>
            <a:r>
              <a:rPr lang="zh-TW" altLang="en-US" sz="28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特別角的三角函數值</a:t>
            </a:r>
          </a:p>
        </p:txBody>
      </p:sp>
      <p:sp>
        <p:nvSpPr>
          <p:cNvPr id="14" name="文字版面配置區 5">
            <a:hlinkClick r:id="rId4" action="ppaction://hlinksldjump"/>
          </p:cNvPr>
          <p:cNvSpPr txBox="1">
            <a:spLocks/>
          </p:cNvSpPr>
          <p:nvPr/>
        </p:nvSpPr>
        <p:spPr bwMode="auto">
          <a:xfrm>
            <a:off x="1373794" y="4104555"/>
            <a:ext cx="5660762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TW" sz="28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2-2.3</a:t>
            </a:r>
            <a:r>
              <a:rPr lang="zh-TW" altLang="en-US" sz="28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三角函數的恆等關係</a:t>
            </a:r>
          </a:p>
        </p:txBody>
      </p:sp>
      <p:sp>
        <p:nvSpPr>
          <p:cNvPr id="17" name="文字版面配置區 5">
            <a:hlinkClick r:id="rId5" action="ppaction://hlinksldjump"/>
          </p:cNvPr>
          <p:cNvSpPr txBox="1">
            <a:spLocks/>
          </p:cNvSpPr>
          <p:nvPr/>
        </p:nvSpPr>
        <p:spPr bwMode="auto">
          <a:xfrm>
            <a:off x="1373794" y="5372447"/>
            <a:ext cx="4290158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>
              <a:spcBef>
                <a:spcPct val="20000"/>
              </a:spcBef>
              <a:tabLst>
                <a:tab pos="533373" algn="l"/>
              </a:tabLst>
            </a:pPr>
            <a:r>
              <a:rPr lang="zh-TW" altLang="en-US" sz="28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習 題</a:t>
            </a:r>
          </a:p>
        </p:txBody>
      </p:sp>
      <p:pic>
        <p:nvPicPr>
          <p:cNvPr id="48" name="圖片 4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5400" y="2078838"/>
            <a:ext cx="683891" cy="525896"/>
          </a:xfrm>
          <a:prstGeom prst="rect">
            <a:avLst/>
          </a:prstGeom>
        </p:spPr>
      </p:pic>
      <p:grpSp>
        <p:nvGrpSpPr>
          <p:cNvPr id="51" name="群組 50"/>
          <p:cNvGrpSpPr/>
          <p:nvPr/>
        </p:nvGrpSpPr>
        <p:grpSpPr>
          <a:xfrm>
            <a:off x="6378592" y="2997520"/>
            <a:ext cx="526968" cy="647504"/>
            <a:chOff x="1120262" y="3867894"/>
            <a:chExt cx="526968" cy="647504"/>
          </a:xfrm>
        </p:grpSpPr>
        <p:pic>
          <p:nvPicPr>
            <p:cNvPr id="49" name="圖片 48">
              <a:hlinkClick r:id="rId7" action="ppaction://hlinksldjump"/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0262" y="3867894"/>
              <a:ext cx="524523" cy="647504"/>
            </a:xfrm>
            <a:prstGeom prst="rect">
              <a:avLst/>
            </a:prstGeom>
          </p:spPr>
        </p:pic>
        <p:sp>
          <p:nvSpPr>
            <p:cNvPr id="50" name="文字方塊 49">
              <a:hlinkClick r:id="rId7" action="ppaction://hlinksldjump"/>
            </p:cNvPr>
            <p:cNvSpPr txBox="1"/>
            <p:nvPr/>
          </p:nvSpPr>
          <p:spPr>
            <a:xfrm>
              <a:off x="1161871" y="3939902"/>
              <a:ext cx="48535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dirty="0">
                  <a:solidFill>
                    <a:schemeClr val="bg1"/>
                  </a:solidFill>
                </a:rPr>
                <a:t>01</a:t>
              </a:r>
              <a:endParaRPr lang="zh-TW" altLang="en-US" sz="20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73" name="圖片 7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79319" y="2140962"/>
            <a:ext cx="570468" cy="525600"/>
          </a:xfrm>
          <a:prstGeom prst="rect">
            <a:avLst/>
          </a:prstGeom>
        </p:spPr>
      </p:pic>
      <p:grpSp>
        <p:nvGrpSpPr>
          <p:cNvPr id="74" name="群組 73"/>
          <p:cNvGrpSpPr/>
          <p:nvPr/>
        </p:nvGrpSpPr>
        <p:grpSpPr>
          <a:xfrm>
            <a:off x="7607302" y="2997520"/>
            <a:ext cx="526968" cy="647504"/>
            <a:chOff x="1120262" y="3867894"/>
            <a:chExt cx="526968" cy="647504"/>
          </a:xfrm>
        </p:grpSpPr>
        <p:pic>
          <p:nvPicPr>
            <p:cNvPr id="75" name="圖片 74">
              <a:hlinkClick r:id="rId10" action="ppaction://hlinksldjump"/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0262" y="3867894"/>
              <a:ext cx="524523" cy="647504"/>
            </a:xfrm>
            <a:prstGeom prst="rect">
              <a:avLst/>
            </a:prstGeom>
          </p:spPr>
        </p:pic>
        <p:sp>
          <p:nvSpPr>
            <p:cNvPr id="76" name="文字方塊 75">
              <a:hlinkClick r:id="rId10" action="ppaction://hlinksldjump"/>
            </p:cNvPr>
            <p:cNvSpPr txBox="1"/>
            <p:nvPr/>
          </p:nvSpPr>
          <p:spPr>
            <a:xfrm>
              <a:off x="1161871" y="3939902"/>
              <a:ext cx="48535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dirty="0">
                  <a:solidFill>
                    <a:schemeClr val="bg1"/>
                  </a:solidFill>
                </a:rPr>
                <a:t>03</a:t>
              </a:r>
              <a:endParaRPr lang="zh-TW" altLang="en-US" sz="2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77" name="群組 76"/>
          <p:cNvGrpSpPr/>
          <p:nvPr/>
        </p:nvGrpSpPr>
        <p:grpSpPr>
          <a:xfrm>
            <a:off x="8220045" y="2997520"/>
            <a:ext cx="526968" cy="647504"/>
            <a:chOff x="1120262" y="3867894"/>
            <a:chExt cx="526968" cy="647504"/>
          </a:xfrm>
        </p:grpSpPr>
        <p:pic>
          <p:nvPicPr>
            <p:cNvPr id="78" name="圖片 77">
              <a:hlinkClick r:id="rId11" action="ppaction://hlinksldjump"/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0262" y="3867894"/>
              <a:ext cx="524523" cy="647504"/>
            </a:xfrm>
            <a:prstGeom prst="rect">
              <a:avLst/>
            </a:prstGeom>
          </p:spPr>
        </p:pic>
        <p:sp>
          <p:nvSpPr>
            <p:cNvPr id="79" name="文字方塊 78">
              <a:hlinkClick r:id="rId11" action="ppaction://hlinksldjump"/>
            </p:cNvPr>
            <p:cNvSpPr txBox="1"/>
            <p:nvPr/>
          </p:nvSpPr>
          <p:spPr>
            <a:xfrm>
              <a:off x="1161871" y="3939902"/>
              <a:ext cx="48535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dirty="0">
                  <a:solidFill>
                    <a:schemeClr val="bg1"/>
                  </a:solidFill>
                </a:rPr>
                <a:t>04</a:t>
              </a:r>
              <a:endParaRPr lang="zh-TW" altLang="en-US" sz="2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80" name="群組 79"/>
          <p:cNvGrpSpPr/>
          <p:nvPr/>
        </p:nvGrpSpPr>
        <p:grpSpPr>
          <a:xfrm>
            <a:off x="8832786" y="2997520"/>
            <a:ext cx="526968" cy="647504"/>
            <a:chOff x="1120262" y="3867894"/>
            <a:chExt cx="526968" cy="647504"/>
          </a:xfrm>
        </p:grpSpPr>
        <p:pic>
          <p:nvPicPr>
            <p:cNvPr id="81" name="圖片 80">
              <a:hlinkClick r:id="rId12" action="ppaction://hlinksldjump"/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0262" y="3867894"/>
              <a:ext cx="524523" cy="647504"/>
            </a:xfrm>
            <a:prstGeom prst="rect">
              <a:avLst/>
            </a:prstGeom>
          </p:spPr>
        </p:pic>
        <p:sp>
          <p:nvSpPr>
            <p:cNvPr id="82" name="文字方塊 81">
              <a:hlinkClick r:id="rId12" action="ppaction://hlinksldjump"/>
            </p:cNvPr>
            <p:cNvSpPr txBox="1"/>
            <p:nvPr/>
          </p:nvSpPr>
          <p:spPr>
            <a:xfrm>
              <a:off x="1161871" y="3939902"/>
              <a:ext cx="48535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dirty="0">
                  <a:solidFill>
                    <a:schemeClr val="bg1"/>
                  </a:solidFill>
                </a:rPr>
                <a:t>05</a:t>
              </a:r>
              <a:endParaRPr lang="zh-TW" altLang="en-US" sz="2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83" name="群組 82"/>
          <p:cNvGrpSpPr/>
          <p:nvPr/>
        </p:nvGrpSpPr>
        <p:grpSpPr>
          <a:xfrm>
            <a:off x="6992947" y="2997520"/>
            <a:ext cx="526968" cy="647504"/>
            <a:chOff x="1120262" y="3867894"/>
            <a:chExt cx="526968" cy="647504"/>
          </a:xfrm>
        </p:grpSpPr>
        <p:pic>
          <p:nvPicPr>
            <p:cNvPr id="84" name="圖片 83">
              <a:hlinkClick r:id="rId13" action="ppaction://hlinksldjump"/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0262" y="3867894"/>
              <a:ext cx="524523" cy="647504"/>
            </a:xfrm>
            <a:prstGeom prst="rect">
              <a:avLst/>
            </a:prstGeom>
          </p:spPr>
        </p:pic>
        <p:sp>
          <p:nvSpPr>
            <p:cNvPr id="85" name="文字方塊 84">
              <a:hlinkClick r:id="rId13" action="ppaction://hlinksldjump"/>
            </p:cNvPr>
            <p:cNvSpPr txBox="1"/>
            <p:nvPr/>
          </p:nvSpPr>
          <p:spPr>
            <a:xfrm>
              <a:off x="1161871" y="3939902"/>
              <a:ext cx="48535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dirty="0">
                  <a:solidFill>
                    <a:schemeClr val="bg1"/>
                  </a:solidFill>
                </a:rPr>
                <a:t>02</a:t>
              </a:r>
              <a:endParaRPr lang="zh-TW" altLang="en-US" sz="2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86" name="群組 85"/>
          <p:cNvGrpSpPr/>
          <p:nvPr/>
        </p:nvGrpSpPr>
        <p:grpSpPr>
          <a:xfrm>
            <a:off x="9442301" y="2997520"/>
            <a:ext cx="526968" cy="647504"/>
            <a:chOff x="1120262" y="3867894"/>
            <a:chExt cx="526968" cy="647504"/>
          </a:xfrm>
        </p:grpSpPr>
        <p:pic>
          <p:nvPicPr>
            <p:cNvPr id="87" name="圖片 86">
              <a:hlinkClick r:id="rId14" action="ppaction://hlinksldjump"/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0262" y="3867894"/>
              <a:ext cx="524523" cy="647504"/>
            </a:xfrm>
            <a:prstGeom prst="rect">
              <a:avLst/>
            </a:prstGeom>
          </p:spPr>
        </p:pic>
        <p:sp>
          <p:nvSpPr>
            <p:cNvPr id="88" name="文字方塊 87">
              <a:hlinkClick r:id="rId14" action="ppaction://hlinksldjump"/>
            </p:cNvPr>
            <p:cNvSpPr txBox="1"/>
            <p:nvPr/>
          </p:nvSpPr>
          <p:spPr>
            <a:xfrm>
              <a:off x="1161871" y="3939902"/>
              <a:ext cx="48535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dirty="0">
                  <a:solidFill>
                    <a:schemeClr val="bg1"/>
                  </a:solidFill>
                </a:rPr>
                <a:t>06</a:t>
              </a:r>
              <a:endParaRPr lang="zh-TW" altLang="en-US" sz="2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89" name="群組 88"/>
          <p:cNvGrpSpPr/>
          <p:nvPr/>
        </p:nvGrpSpPr>
        <p:grpSpPr>
          <a:xfrm>
            <a:off x="10055044" y="2997520"/>
            <a:ext cx="526968" cy="647504"/>
            <a:chOff x="1120262" y="3867894"/>
            <a:chExt cx="526968" cy="647504"/>
          </a:xfrm>
        </p:grpSpPr>
        <p:pic>
          <p:nvPicPr>
            <p:cNvPr id="90" name="圖片 89">
              <a:hlinkClick r:id="rId15" action="ppaction://hlinksldjump"/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0262" y="3867894"/>
              <a:ext cx="524523" cy="647504"/>
            </a:xfrm>
            <a:prstGeom prst="rect">
              <a:avLst/>
            </a:prstGeom>
          </p:spPr>
        </p:pic>
        <p:sp>
          <p:nvSpPr>
            <p:cNvPr id="91" name="文字方塊 90">
              <a:hlinkClick r:id="rId15" action="ppaction://hlinksldjump"/>
            </p:cNvPr>
            <p:cNvSpPr txBox="1"/>
            <p:nvPr/>
          </p:nvSpPr>
          <p:spPr>
            <a:xfrm>
              <a:off x="1161871" y="3939902"/>
              <a:ext cx="48535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dirty="0">
                  <a:solidFill>
                    <a:schemeClr val="bg1"/>
                  </a:solidFill>
                </a:rPr>
                <a:t>07</a:t>
              </a:r>
              <a:endParaRPr lang="zh-TW" altLang="en-US" sz="2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92" name="群組 91"/>
          <p:cNvGrpSpPr/>
          <p:nvPr/>
        </p:nvGrpSpPr>
        <p:grpSpPr>
          <a:xfrm>
            <a:off x="10667785" y="2997520"/>
            <a:ext cx="526968" cy="647504"/>
            <a:chOff x="1120262" y="3867894"/>
            <a:chExt cx="526968" cy="647504"/>
          </a:xfrm>
        </p:grpSpPr>
        <p:pic>
          <p:nvPicPr>
            <p:cNvPr id="93" name="圖片 92">
              <a:hlinkClick r:id="rId16" action="ppaction://hlinksldjump"/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0262" y="3867894"/>
              <a:ext cx="524523" cy="647504"/>
            </a:xfrm>
            <a:prstGeom prst="rect">
              <a:avLst/>
            </a:prstGeom>
          </p:spPr>
        </p:pic>
        <p:sp>
          <p:nvSpPr>
            <p:cNvPr id="94" name="文字方塊 93">
              <a:hlinkClick r:id="rId16" action="ppaction://hlinksldjump"/>
            </p:cNvPr>
            <p:cNvSpPr txBox="1"/>
            <p:nvPr/>
          </p:nvSpPr>
          <p:spPr>
            <a:xfrm>
              <a:off x="1161871" y="3939902"/>
              <a:ext cx="48535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dirty="0">
                  <a:solidFill>
                    <a:schemeClr val="bg1"/>
                  </a:solidFill>
                </a:rPr>
                <a:t>08</a:t>
              </a:r>
              <a:endParaRPr lang="zh-TW" altLang="en-US" sz="2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8" name="群組 37">
            <a:extLst>
              <a:ext uri="{FF2B5EF4-FFF2-40B4-BE49-F238E27FC236}">
                <a16:creationId xmlns:a16="http://schemas.microsoft.com/office/drawing/2014/main" id="{57DFF68C-7E46-403B-B0EB-6A1BDA4C3656}"/>
              </a:ext>
            </a:extLst>
          </p:cNvPr>
          <p:cNvGrpSpPr/>
          <p:nvPr/>
        </p:nvGrpSpPr>
        <p:grpSpPr>
          <a:xfrm>
            <a:off x="6378592" y="3780803"/>
            <a:ext cx="526968" cy="647504"/>
            <a:chOff x="1120262" y="3867894"/>
            <a:chExt cx="526968" cy="647504"/>
          </a:xfrm>
        </p:grpSpPr>
        <p:pic>
          <p:nvPicPr>
            <p:cNvPr id="39" name="圖片 38">
              <a:hlinkClick r:id="rId17" action="ppaction://hlinksldjump"/>
              <a:extLst>
                <a:ext uri="{FF2B5EF4-FFF2-40B4-BE49-F238E27FC236}">
                  <a16:creationId xmlns:a16="http://schemas.microsoft.com/office/drawing/2014/main" id="{7BA000A6-270F-4233-BE7C-BF48AEAA207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0262" y="3867894"/>
              <a:ext cx="524523" cy="647504"/>
            </a:xfrm>
            <a:prstGeom prst="rect">
              <a:avLst/>
            </a:prstGeom>
          </p:spPr>
        </p:pic>
        <p:sp>
          <p:nvSpPr>
            <p:cNvPr id="40" name="文字方塊 39">
              <a:hlinkClick r:id="rId17" action="ppaction://hlinksldjump"/>
              <a:extLst>
                <a:ext uri="{FF2B5EF4-FFF2-40B4-BE49-F238E27FC236}">
                  <a16:creationId xmlns:a16="http://schemas.microsoft.com/office/drawing/2014/main" id="{0681D72D-3E4E-4516-82BE-C9DF226A4479}"/>
                </a:ext>
              </a:extLst>
            </p:cNvPr>
            <p:cNvSpPr txBox="1"/>
            <p:nvPr/>
          </p:nvSpPr>
          <p:spPr>
            <a:xfrm>
              <a:off x="1161871" y="3939902"/>
              <a:ext cx="48535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dirty="0">
                  <a:solidFill>
                    <a:schemeClr val="bg1"/>
                  </a:solidFill>
                </a:rPr>
                <a:t>09</a:t>
              </a:r>
              <a:endParaRPr lang="zh-TW" alt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41" name="文字版面配置區 5">
            <a:hlinkClick r:id="rId18" action="ppaction://hlinksldjump"/>
          </p:cNvPr>
          <p:cNvSpPr txBox="1">
            <a:spLocks/>
          </p:cNvSpPr>
          <p:nvPr/>
        </p:nvSpPr>
        <p:spPr bwMode="auto">
          <a:xfrm>
            <a:off x="1371342" y="4725144"/>
            <a:ext cx="5660762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TW" sz="28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2-2.4</a:t>
            </a:r>
            <a:r>
              <a:rPr lang="zh-TW" altLang="en-US" sz="28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三角恆等式</a:t>
            </a:r>
          </a:p>
        </p:txBody>
      </p:sp>
    </p:spTree>
    <p:extLst>
      <p:ext uri="{BB962C8B-B14F-4D97-AF65-F5344CB8AC3E}">
        <p14:creationId xmlns:p14="http://schemas.microsoft.com/office/powerpoint/2010/main" val="1519964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000"/>
                            </p:stCondLst>
                            <p:childTnLst>
                              <p:par>
                                <p:cTn id="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8" grpId="0"/>
      <p:bldP spid="11" grpId="0"/>
      <p:bldP spid="14" grpId="0"/>
      <p:bldP spid="17" grpId="0"/>
      <p:bldP spid="4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3"/>
          <p:cNvSpPr>
            <a:spLocks noGrp="1"/>
          </p:cNvSpPr>
          <p:nvPr>
            <p:ph type="body" sz="quarter" idx="11"/>
          </p:nvPr>
        </p:nvSpPr>
        <p:spPr>
          <a:xfrm>
            <a:off x="2174858" y="3813047"/>
            <a:ext cx="5175284" cy="697839"/>
          </a:xfrm>
        </p:spPr>
        <p:txBody>
          <a:bodyPr/>
          <a:lstStyle/>
          <a:p>
            <a:r>
              <a:rPr lang="en-US" altLang="zh-TW" dirty="0"/>
              <a:t>2-2.1</a:t>
            </a:r>
            <a:r>
              <a:rPr lang="zh-TW" altLang="en-US" dirty="0"/>
              <a:t> 銳角的三角函數</a:t>
            </a:r>
          </a:p>
        </p:txBody>
      </p:sp>
    </p:spTree>
    <p:extLst>
      <p:ext uri="{BB962C8B-B14F-4D97-AF65-F5344CB8AC3E}">
        <p14:creationId xmlns:p14="http://schemas.microsoft.com/office/powerpoint/2010/main" val="807285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/>
          <p:cNvSpPr txBox="1"/>
          <p:nvPr/>
        </p:nvSpPr>
        <p:spPr>
          <a:xfrm>
            <a:off x="1517650" y="1029136"/>
            <a:ext cx="781871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000" b="1" dirty="0">
                <a:latin typeface="微軟正黑體" pitchFamily="34" charset="-120"/>
                <a:ea typeface="微軟正黑體" pitchFamily="34" charset="-120"/>
              </a:rPr>
              <a:t>2-2.1</a:t>
            </a:r>
            <a:r>
              <a:rPr lang="zh-TW" altLang="en-US" sz="3000" b="1" dirty="0">
                <a:latin typeface="微軟正黑體" pitchFamily="34" charset="-120"/>
                <a:ea typeface="微軟正黑體" pitchFamily="34" charset="-120"/>
              </a:rPr>
              <a:t> 銳角的三角函數　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>
          <a:xfrm>
            <a:off x="1127448" y="6455660"/>
            <a:ext cx="781049" cy="357716"/>
          </a:xfrm>
        </p:spPr>
        <p:txBody>
          <a:bodyPr/>
          <a:lstStyle/>
          <a:p>
            <a:r>
              <a:rPr lang="en-US" altLang="zh-TW" dirty="0"/>
              <a:t>107</a:t>
            </a:r>
            <a:endParaRPr lang="zh-TW" altLang="en-US" dirty="0"/>
          </a:p>
        </p:txBody>
      </p:sp>
      <p:grpSp>
        <p:nvGrpSpPr>
          <p:cNvPr id="5" name="群組 4"/>
          <p:cNvGrpSpPr/>
          <p:nvPr/>
        </p:nvGrpSpPr>
        <p:grpSpPr>
          <a:xfrm>
            <a:off x="947428" y="2132856"/>
            <a:ext cx="10297144" cy="3539430"/>
            <a:chOff x="947428" y="2132856"/>
            <a:chExt cx="10297144" cy="3539430"/>
          </a:xfrm>
        </p:grpSpPr>
        <p:sp>
          <p:nvSpPr>
            <p:cNvPr id="7" name="文字方塊 6"/>
            <p:cNvSpPr txBox="1"/>
            <p:nvPr/>
          </p:nvSpPr>
          <p:spPr>
            <a:xfrm>
              <a:off x="947428" y="2132856"/>
              <a:ext cx="10297144" cy="35394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zh-TW" altLang="en-US" sz="2800" dirty="0">
                  <a:latin typeface="Times New Roman" pitchFamily="18" charset="0"/>
                  <a:ea typeface="微軟正黑體" pitchFamily="34" charset="-120"/>
                </a:rPr>
                <a:t>在右圖直角</a:t>
              </a:r>
              <a:r>
                <a:rPr lang="zh-TW" altLang="en-US" sz="2800" dirty="0">
                  <a:latin typeface="+mj-ea"/>
                  <a:ea typeface="+mj-ea"/>
                </a:rPr>
                <a:t>△</a:t>
              </a:r>
              <a:r>
                <a:rPr lang="en-US" altLang="zh-TW" sz="2800" i="1" dirty="0">
                  <a:latin typeface="Times New Roman" pitchFamily="18" charset="0"/>
                  <a:ea typeface="微軟正黑體" pitchFamily="34" charset="-120"/>
                </a:rPr>
                <a:t>ABC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dirty="0">
                  <a:latin typeface="Times New Roman" pitchFamily="18" charset="0"/>
                  <a:ea typeface="微軟正黑體" pitchFamily="34" charset="-120"/>
                </a:rPr>
                <a:t>中，      為斜邊，       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dirty="0">
                  <a:latin typeface="Times New Roman" pitchFamily="18" charset="0"/>
                  <a:ea typeface="微軟正黑體" pitchFamily="34" charset="-120"/>
                </a:rPr>
                <a:t>稱為∠</a:t>
              </a:r>
              <a:r>
                <a:rPr lang="en-US" altLang="zh-TW" sz="2800" i="1" dirty="0">
                  <a:latin typeface="Times New Roman" pitchFamily="18" charset="0"/>
                  <a:ea typeface="微軟正黑體" pitchFamily="34" charset="-120"/>
                </a:rPr>
                <a:t>A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dirty="0">
                  <a:latin typeface="Times New Roman" pitchFamily="18" charset="0"/>
                  <a:ea typeface="微軟正黑體" pitchFamily="34" charset="-120"/>
                </a:rPr>
                <a:t>的對邊，         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dirty="0">
                  <a:latin typeface="Times New Roman" pitchFamily="18" charset="0"/>
                  <a:ea typeface="微軟正黑體" pitchFamily="34" charset="-120"/>
                </a:rPr>
                <a:t>稱為∠</a:t>
              </a:r>
              <a:r>
                <a:rPr lang="en-US" altLang="zh-TW" sz="2800" i="1" dirty="0">
                  <a:latin typeface="Times New Roman" pitchFamily="18" charset="0"/>
                  <a:ea typeface="微軟正黑體" pitchFamily="34" charset="-120"/>
                </a:rPr>
                <a:t>A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dirty="0">
                  <a:latin typeface="Times New Roman" pitchFamily="18" charset="0"/>
                  <a:ea typeface="微軟正黑體" pitchFamily="34" charset="-120"/>
                </a:rPr>
                <a:t>的鄰邊。若在右圖的兩個直角三角形中，∠</a:t>
              </a:r>
              <a:r>
                <a:rPr lang="en-US" altLang="zh-TW" sz="2800" i="1" dirty="0">
                  <a:latin typeface="Times New Roman" pitchFamily="18" charset="0"/>
                  <a:ea typeface="微軟正黑體" pitchFamily="34" charset="-120"/>
                </a:rPr>
                <a:t>A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 = ∠</a:t>
              </a:r>
              <a:r>
                <a:rPr lang="en-US" altLang="zh-TW" sz="2800" i="1" dirty="0">
                  <a:latin typeface="Times New Roman" pitchFamily="18" charset="0"/>
                  <a:ea typeface="微軟正黑體" pitchFamily="34" charset="-120"/>
                </a:rPr>
                <a:t>P</a:t>
              </a:r>
              <a:r>
                <a:rPr lang="zh-TW" altLang="en-US" sz="2800" dirty="0">
                  <a:latin typeface="Times New Roman" pitchFamily="18" charset="0"/>
                  <a:ea typeface="微軟正黑體" pitchFamily="34" charset="-120"/>
                </a:rPr>
                <a:t>，</a:t>
              </a:r>
              <a:b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</a:br>
              <a:r>
                <a:rPr lang="zh-TW" altLang="en-US" sz="2800" dirty="0">
                  <a:latin typeface="Times New Roman" pitchFamily="18" charset="0"/>
                  <a:ea typeface="微軟正黑體" pitchFamily="34" charset="-120"/>
                </a:rPr>
                <a:t>則由國中所學三角形相似關係，可知</a:t>
              </a:r>
              <a:r>
                <a:rPr lang="zh-TW" altLang="en-US" sz="2800" dirty="0">
                  <a:latin typeface="新細明體" panose="02020500000000000000" pitchFamily="18" charset="-120"/>
                  <a:ea typeface="新細明體" panose="02020500000000000000" pitchFamily="18" charset="-120"/>
                </a:rPr>
                <a:t>△</a:t>
              </a:r>
              <a:r>
                <a:rPr lang="en-US" altLang="zh-TW" sz="2800" i="1" dirty="0">
                  <a:latin typeface="Times New Roman" pitchFamily="18" charset="0"/>
                  <a:ea typeface="微軟正黑體" pitchFamily="34" charset="-120"/>
                </a:rPr>
                <a:t>ABC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dirty="0">
                  <a:latin typeface="Times New Roman" pitchFamily="18" charset="0"/>
                  <a:ea typeface="微軟正黑體" pitchFamily="34" charset="-120"/>
                </a:rPr>
                <a:t>～</a:t>
              </a:r>
              <a:r>
                <a:rPr lang="zh-TW" altLang="en-US" sz="2800" dirty="0">
                  <a:latin typeface="新細明體" panose="02020500000000000000" pitchFamily="18" charset="-120"/>
                  <a:ea typeface="新細明體" panose="02020500000000000000" pitchFamily="18" charset="-120"/>
                </a:rPr>
                <a:t>△</a:t>
              </a:r>
              <a:r>
                <a:rPr lang="en-US" altLang="zh-TW" sz="2800" i="1" dirty="0">
                  <a:latin typeface="Times New Roman" pitchFamily="18" charset="0"/>
                  <a:ea typeface="微軟正黑體" pitchFamily="34" charset="-120"/>
                </a:rPr>
                <a:t>PQR</a:t>
              </a:r>
              <a:r>
                <a:rPr lang="zh-TW" altLang="en-US" sz="2800" dirty="0">
                  <a:latin typeface="Times New Roman" pitchFamily="18" charset="0"/>
                  <a:ea typeface="微軟正黑體" pitchFamily="34" charset="-120"/>
                </a:rPr>
                <a:t>，且利用對應邊成比例，可得：</a:t>
              </a:r>
            </a:p>
          </p:txBody>
        </p:sp>
        <p:graphicFrame>
          <p:nvGraphicFramePr>
            <p:cNvPr id="2" name="物件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22435062"/>
                </p:ext>
              </p:extLst>
            </p:nvPr>
          </p:nvGraphicFramePr>
          <p:xfrm>
            <a:off x="4573588" y="2505075"/>
            <a:ext cx="50800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507960" imgH="393480" progId="Equation.DSMT4">
                    <p:embed/>
                  </p:oleObj>
                </mc:Choice>
                <mc:Fallback>
                  <p:oleObj name="Equation" r:id="rId2" imgW="507960" imgH="393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4573588" y="2505075"/>
                          <a:ext cx="508000" cy="393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物件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67738180"/>
                </p:ext>
              </p:extLst>
            </p:nvPr>
          </p:nvGraphicFramePr>
          <p:xfrm>
            <a:off x="6583363" y="2498725"/>
            <a:ext cx="5207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520560" imgH="406080" progId="Equation.DSMT4">
                    <p:embed/>
                  </p:oleObj>
                </mc:Choice>
                <mc:Fallback>
                  <p:oleObj name="Equation" r:id="rId4" imgW="520560" imgH="406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6583363" y="2498725"/>
                          <a:ext cx="5207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物件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80913860"/>
                </p:ext>
              </p:extLst>
            </p:nvPr>
          </p:nvGraphicFramePr>
          <p:xfrm>
            <a:off x="10086975" y="2505075"/>
            <a:ext cx="5461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545760" imgH="406080" progId="Equation.DSMT4">
                    <p:embed/>
                  </p:oleObj>
                </mc:Choice>
                <mc:Fallback>
                  <p:oleObj name="Equation" r:id="rId6" imgW="545760" imgH="406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10086975" y="2505075"/>
                          <a:ext cx="5461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967102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TW" dirty="0"/>
              <a:t>107</a:t>
            </a:r>
            <a:endParaRPr lang="zh-TW" altLang="en-US" dirty="0"/>
          </a:p>
        </p:txBody>
      </p:sp>
      <p:grpSp>
        <p:nvGrpSpPr>
          <p:cNvPr id="9" name="群組 8"/>
          <p:cNvGrpSpPr/>
          <p:nvPr/>
        </p:nvGrpSpPr>
        <p:grpSpPr>
          <a:xfrm>
            <a:off x="803412" y="1844824"/>
            <a:ext cx="11022846" cy="3517900"/>
            <a:chOff x="617538" y="2336317"/>
            <a:chExt cx="11022846" cy="3517900"/>
          </a:xfrm>
        </p:grpSpPr>
        <p:pic>
          <p:nvPicPr>
            <p:cNvPr id="11" name="Picture 5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462" t="59603" r="9651"/>
            <a:stretch/>
          </p:blipFill>
          <p:spPr bwMode="auto">
            <a:xfrm>
              <a:off x="8616048" y="3056397"/>
              <a:ext cx="3024336" cy="26415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aphicFrame>
          <p:nvGraphicFramePr>
            <p:cNvPr id="6" name="物件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80383457"/>
                </p:ext>
              </p:extLst>
            </p:nvPr>
          </p:nvGraphicFramePr>
          <p:xfrm>
            <a:off x="617538" y="2336317"/>
            <a:ext cx="3467100" cy="3517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3466800" imgH="3517560" progId="Equation.DSMT4">
                    <p:embed/>
                  </p:oleObj>
                </mc:Choice>
                <mc:Fallback>
                  <p:oleObj name="Equation" r:id="rId3" imgW="3466800" imgH="35175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17538" y="2336317"/>
                          <a:ext cx="3467100" cy="3517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147461" name="Picture 5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025" r="9564" b="46630"/>
            <a:stretch/>
          </p:blipFill>
          <p:spPr bwMode="auto">
            <a:xfrm>
              <a:off x="4469966" y="2701716"/>
              <a:ext cx="3960440" cy="27871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982567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TW" dirty="0"/>
              <a:t>108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947428" y="1228397"/>
            <a:ext cx="1029714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事實上，在任何的直角三角形中，只要其中一個銳角與∠</a:t>
            </a:r>
            <a:r>
              <a:rPr lang="en-US" altLang="zh-TW" sz="2800" i="1" dirty="0">
                <a:latin typeface="Times New Roman" pitchFamily="18" charset="0"/>
                <a:ea typeface="微軟正黑體" pitchFamily="34" charset="-120"/>
              </a:rPr>
              <a:t>A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 </a:t>
            </a: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相等，上面這些邊長的比值，也都會相等。同理，這些邊長比值的倒數，也都會相等。因此這些直角三角形的邊長比（稱為直角三角比），只會隨著角度而變化，這樣的「角度」對應到「邊長比」的關係，我們稱之為</a:t>
            </a:r>
            <a:r>
              <a:rPr lang="zh-TW" altLang="en-US" sz="2800" b="1" dirty="0">
                <a:solidFill>
                  <a:srgbClr val="0070C0"/>
                </a:solidFill>
                <a:latin typeface="Times New Roman" pitchFamily="18" charset="0"/>
                <a:ea typeface="微軟正黑體" pitchFamily="34" charset="-120"/>
              </a:rPr>
              <a:t>銳角的三角函數</a:t>
            </a: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，其定義如下：</a:t>
            </a:r>
          </a:p>
        </p:txBody>
      </p:sp>
    </p:spTree>
    <p:extLst>
      <p:ext uri="{BB962C8B-B14F-4D97-AF65-F5344CB8AC3E}">
        <p14:creationId xmlns:p14="http://schemas.microsoft.com/office/powerpoint/2010/main" val="872780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TW" altLang="en-US" dirty="0"/>
              <a:t>銳角三角函數的定義</a:t>
            </a:r>
          </a:p>
        </p:txBody>
      </p:sp>
      <p:sp>
        <p:nvSpPr>
          <p:cNvPr id="10" name="內容版面配置區 9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zh-TW" dirty="0"/>
              <a:t>108</a:t>
            </a:r>
            <a:endParaRPr lang="zh-TW" altLang="en-US" dirty="0"/>
          </a:p>
        </p:txBody>
      </p:sp>
      <p:grpSp>
        <p:nvGrpSpPr>
          <p:cNvPr id="3" name="群組 2"/>
          <p:cNvGrpSpPr/>
          <p:nvPr/>
        </p:nvGrpSpPr>
        <p:grpSpPr>
          <a:xfrm>
            <a:off x="551384" y="1268760"/>
            <a:ext cx="11089232" cy="4064503"/>
            <a:chOff x="551384" y="1268760"/>
            <a:chExt cx="11089232" cy="4064503"/>
          </a:xfrm>
        </p:grpSpPr>
        <p:sp>
          <p:nvSpPr>
            <p:cNvPr id="6" name="文字方塊 5"/>
            <p:cNvSpPr txBox="1"/>
            <p:nvPr/>
          </p:nvSpPr>
          <p:spPr>
            <a:xfrm>
              <a:off x="623392" y="1268760"/>
              <a:ext cx="11017224" cy="1307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在直角三角形中，角</a:t>
              </a:r>
              <a:r>
                <a:rPr lang="en-US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的斜邊為</a:t>
              </a:r>
              <a:r>
                <a:rPr lang="en-US" altLang="zh-TW" sz="2800" i="1" spc="300" dirty="0">
                  <a:latin typeface="Times New Roman" pitchFamily="18" charset="0"/>
                  <a:ea typeface="微軟正黑體" pitchFamily="34" charset="-120"/>
                </a:rPr>
                <a:t>r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，對邊為</a:t>
              </a:r>
              <a:r>
                <a:rPr lang="en-US" altLang="zh-TW" sz="2800" i="1" spc="300" dirty="0">
                  <a:latin typeface="Times New Roman" pitchFamily="18" charset="0"/>
                  <a:ea typeface="微軟正黑體" pitchFamily="34" charset="-120"/>
                </a:rPr>
                <a:t>y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，鄰邊為</a:t>
              </a:r>
              <a:r>
                <a:rPr lang="en-US" altLang="zh-TW" sz="2800" i="1" spc="300" dirty="0">
                  <a:latin typeface="Times New Roman" pitchFamily="18" charset="0"/>
                  <a:ea typeface="微軟正黑體" pitchFamily="34" charset="-120"/>
                </a:rPr>
                <a:t>x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，</a:t>
              </a:r>
              <a:b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</a:b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角</a:t>
              </a:r>
              <a:r>
                <a:rPr lang="en-US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的六個三角函數值如下：</a:t>
              </a:r>
            </a:p>
          </p:txBody>
        </p:sp>
        <p:pic>
          <p:nvPicPr>
            <p:cNvPr id="148482" name="Picture 2"/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DEAEA"/>
                </a:clrFrom>
                <a:clrTo>
                  <a:srgbClr val="FDEAEA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1384" y="2888711"/>
              <a:ext cx="8320000" cy="24445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48483" name="Picture 3"/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DEAEA"/>
                </a:clrFrom>
                <a:clrTo>
                  <a:srgbClr val="FDEAEA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76956" y="2407347"/>
              <a:ext cx="2563660" cy="2925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582633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TW" dirty="0"/>
              <a:t>108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947428" y="1844824"/>
            <a:ext cx="10297144" cy="34077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在上面的定義中， 我們不難發現，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sin </a:t>
            </a:r>
            <a:r>
              <a:rPr lang="en-US" altLang="zh-TW" sz="2800" i="1" dirty="0">
                <a:latin typeface="Times New Roman" pitchFamily="18" charset="0"/>
                <a:ea typeface="微軟正黑體" pitchFamily="34" charset="-120"/>
              </a:rPr>
              <a:t>θ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 </a:t>
            </a: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與</a:t>
            </a:r>
            <a:r>
              <a:rPr lang="en-US" altLang="zh-TW" sz="2800" dirty="0" err="1">
                <a:latin typeface="Times New Roman" pitchFamily="18" charset="0"/>
                <a:ea typeface="微軟正黑體" pitchFamily="34" charset="-120"/>
              </a:rPr>
              <a:t>csc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 </a:t>
            </a:r>
            <a:r>
              <a:rPr lang="en-US" altLang="zh-TW" sz="2800" i="1" dirty="0">
                <a:latin typeface="Times New Roman" pitchFamily="18" charset="0"/>
                <a:ea typeface="微軟正黑體" pitchFamily="34" charset="-120"/>
              </a:rPr>
              <a:t>θ</a:t>
            </a: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，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cos </a:t>
            </a:r>
            <a:r>
              <a:rPr lang="en-US" altLang="zh-TW" sz="2800" i="1" dirty="0">
                <a:latin typeface="Times New Roman" pitchFamily="18" charset="0"/>
                <a:ea typeface="微軟正黑體" pitchFamily="34" charset="-120"/>
              </a:rPr>
              <a:t>θ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 </a:t>
            </a: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與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sec </a:t>
            </a:r>
            <a:r>
              <a:rPr lang="en-US" altLang="zh-TW" sz="2800" i="1" dirty="0">
                <a:latin typeface="Times New Roman" pitchFamily="18" charset="0"/>
                <a:ea typeface="微軟正黑體" pitchFamily="34" charset="-120"/>
              </a:rPr>
              <a:t>θ</a:t>
            </a: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，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tan </a:t>
            </a:r>
            <a:r>
              <a:rPr lang="en-US" altLang="zh-TW" sz="2800" i="1" dirty="0">
                <a:latin typeface="Times New Roman" pitchFamily="18" charset="0"/>
                <a:ea typeface="微軟正黑體" pitchFamily="34" charset="-120"/>
              </a:rPr>
              <a:t>θ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 </a:t>
            </a: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與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cot </a:t>
            </a:r>
            <a:r>
              <a:rPr lang="en-US" altLang="zh-TW" sz="2800" i="1" dirty="0">
                <a:latin typeface="Times New Roman" pitchFamily="18" charset="0"/>
                <a:ea typeface="微軟正黑體" pitchFamily="34" charset="-120"/>
              </a:rPr>
              <a:t>θ </a:t>
            </a: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互為倒數，因此同學在記憶的時候，只需牢記前三個函數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sin </a:t>
            </a:r>
            <a:r>
              <a:rPr lang="en-US" altLang="zh-TW" sz="2800" i="1" dirty="0">
                <a:latin typeface="Times New Roman" pitchFamily="18" charset="0"/>
                <a:ea typeface="微軟正黑體" pitchFamily="34" charset="-120"/>
              </a:rPr>
              <a:t>θ</a:t>
            </a: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、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cos </a:t>
            </a:r>
            <a:r>
              <a:rPr lang="en-US" altLang="zh-TW" sz="2800" i="1" dirty="0">
                <a:latin typeface="Times New Roman" pitchFamily="18" charset="0"/>
                <a:ea typeface="微軟正黑體" pitchFamily="34" charset="-120"/>
              </a:rPr>
              <a:t>θ</a:t>
            </a: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、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tan </a:t>
            </a:r>
            <a:r>
              <a:rPr lang="en-US" altLang="zh-TW" sz="2800" i="1" dirty="0">
                <a:latin typeface="Times New Roman" pitchFamily="18" charset="0"/>
                <a:ea typeface="微軟正黑體" pitchFamily="34" charset="-120"/>
              </a:rPr>
              <a:t>θ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 </a:t>
            </a: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的運算，再利用倒數關係，即可得到</a:t>
            </a:r>
            <a:r>
              <a:rPr lang="en-US" altLang="zh-TW" sz="2800" dirty="0" err="1">
                <a:latin typeface="Times New Roman" pitchFamily="18" charset="0"/>
                <a:ea typeface="微軟正黑體" pitchFamily="34" charset="-120"/>
              </a:rPr>
              <a:t>csc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 </a:t>
            </a:r>
            <a:r>
              <a:rPr lang="en-US" altLang="zh-TW" sz="2800" i="1" dirty="0">
                <a:latin typeface="Times New Roman" pitchFamily="18" charset="0"/>
                <a:ea typeface="微軟正黑體" pitchFamily="34" charset="-120"/>
              </a:rPr>
              <a:t>θ</a:t>
            </a: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、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sec </a:t>
            </a:r>
            <a:r>
              <a:rPr lang="en-US" altLang="zh-TW" sz="2800" i="1" dirty="0">
                <a:latin typeface="Times New Roman" pitchFamily="18" charset="0"/>
                <a:ea typeface="微軟正黑體" pitchFamily="34" charset="-120"/>
              </a:rPr>
              <a:t>θ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 </a:t>
            </a: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與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cot </a:t>
            </a:r>
            <a:r>
              <a:rPr lang="en-US" altLang="zh-TW" sz="2800" i="1" dirty="0">
                <a:latin typeface="Times New Roman" pitchFamily="18" charset="0"/>
                <a:ea typeface="微軟正黑體" pitchFamily="34" charset="-120"/>
              </a:rPr>
              <a:t>θ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 </a:t>
            </a: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的三角函數值。</a:t>
            </a:r>
          </a:p>
        </p:txBody>
      </p:sp>
    </p:spTree>
    <p:extLst>
      <p:ext uri="{BB962C8B-B14F-4D97-AF65-F5344CB8AC3E}">
        <p14:creationId xmlns:p14="http://schemas.microsoft.com/office/powerpoint/2010/main" val="1302504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>
          <a:xfrm>
            <a:off x="1127448" y="6455660"/>
            <a:ext cx="781049" cy="357716"/>
          </a:xfrm>
        </p:spPr>
        <p:txBody>
          <a:bodyPr/>
          <a:lstStyle/>
          <a:p>
            <a:r>
              <a:rPr lang="en-US" altLang="zh-TW" dirty="0"/>
              <a:t>108</a:t>
            </a:r>
            <a:endParaRPr lang="zh-TW" altLang="en-US" dirty="0"/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CEC3511A-0E52-42DB-88DB-C61856EF2BA2}"/>
              </a:ext>
            </a:extLst>
          </p:cNvPr>
          <p:cNvGrpSpPr/>
          <p:nvPr/>
        </p:nvGrpSpPr>
        <p:grpSpPr>
          <a:xfrm>
            <a:off x="695400" y="1570808"/>
            <a:ext cx="10801200" cy="4103396"/>
            <a:chOff x="695400" y="1570808"/>
            <a:chExt cx="10801200" cy="4103396"/>
          </a:xfrm>
        </p:grpSpPr>
        <p:grpSp>
          <p:nvGrpSpPr>
            <p:cNvPr id="10" name="群組 9"/>
            <p:cNvGrpSpPr/>
            <p:nvPr/>
          </p:nvGrpSpPr>
          <p:grpSpPr>
            <a:xfrm>
              <a:off x="695400" y="1570808"/>
              <a:ext cx="10801200" cy="4103396"/>
              <a:chOff x="564410" y="1411132"/>
              <a:chExt cx="10801199" cy="4103394"/>
            </a:xfrm>
          </p:grpSpPr>
          <p:grpSp>
            <p:nvGrpSpPr>
              <p:cNvPr id="7" name="群組 6"/>
              <p:cNvGrpSpPr/>
              <p:nvPr/>
            </p:nvGrpSpPr>
            <p:grpSpPr>
              <a:xfrm>
                <a:off x="564410" y="1411132"/>
                <a:ext cx="10801199" cy="3890921"/>
                <a:chOff x="768964" y="1136811"/>
                <a:chExt cx="10801199" cy="3890921"/>
              </a:xfrm>
            </p:grpSpPr>
            <p:pic>
              <p:nvPicPr>
                <p:cNvPr id="6" name="圖片 5"/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68964" y="1619621"/>
                  <a:ext cx="10801199" cy="3408111"/>
                </a:xfrm>
                <a:prstGeom prst="rect">
                  <a:avLst/>
                </a:prstGeom>
              </p:spPr>
            </p:pic>
            <p:pic>
              <p:nvPicPr>
                <p:cNvPr id="5" name="圖片 4"/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89529" y="1156346"/>
                  <a:ext cx="2751743" cy="463276"/>
                </a:xfrm>
                <a:prstGeom prst="rect">
                  <a:avLst/>
                </a:prstGeom>
              </p:spPr>
            </p:pic>
            <p:pic>
              <p:nvPicPr>
                <p:cNvPr id="3" name="圖片 2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84988" y="1136811"/>
                  <a:ext cx="1501458" cy="502347"/>
                </a:xfrm>
                <a:prstGeom prst="rect">
                  <a:avLst/>
                </a:prstGeom>
              </p:spPr>
            </p:pic>
          </p:grpSp>
          <p:sp>
            <p:nvSpPr>
              <p:cNvPr id="16" name="文字方塊 15"/>
              <p:cNvSpPr txBox="1"/>
              <p:nvPr/>
            </p:nvSpPr>
            <p:spPr>
              <a:xfrm>
                <a:off x="1212482" y="2106415"/>
                <a:ext cx="4248472" cy="34081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altLang="zh-TW" sz="2800" spc="300" dirty="0">
                    <a:latin typeface="Times New Roman" pitchFamily="18" charset="0"/>
                    <a:ea typeface="微軟正黑體" pitchFamily="34" charset="-120"/>
                  </a:rPr>
                  <a:t>sin </a:t>
                </a:r>
                <a:r>
                  <a:rPr lang="zh-TW" altLang="en-US" sz="2800" spc="300" dirty="0">
                    <a:latin typeface="Times New Roman" pitchFamily="18" charset="0"/>
                    <a:ea typeface="微軟正黑體" pitchFamily="34" charset="-120"/>
                  </a:rPr>
                  <a:t>唸作「</a:t>
                </a:r>
                <a:r>
                  <a:rPr lang="en-US" altLang="zh-TW" sz="2800" spc="300" dirty="0">
                    <a:latin typeface="Times New Roman" pitchFamily="18" charset="0"/>
                    <a:ea typeface="微軟正黑體" pitchFamily="34" charset="-120"/>
                  </a:rPr>
                  <a:t>sine</a:t>
                </a:r>
                <a:r>
                  <a:rPr lang="zh-TW" altLang="en-US" sz="2800" spc="300" dirty="0">
                    <a:latin typeface="Times New Roman" pitchFamily="18" charset="0"/>
                    <a:ea typeface="微軟正黑體" pitchFamily="34" charset="-120"/>
                  </a:rPr>
                  <a:t>」。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zh-TW" sz="2800" spc="300" dirty="0">
                    <a:latin typeface="Times New Roman" pitchFamily="18" charset="0"/>
                    <a:ea typeface="微軟正黑體" pitchFamily="34" charset="-120"/>
                  </a:rPr>
                  <a:t>cos </a:t>
                </a:r>
                <a:r>
                  <a:rPr lang="zh-TW" altLang="en-US" sz="2800" spc="300" dirty="0">
                    <a:latin typeface="Times New Roman" pitchFamily="18" charset="0"/>
                    <a:ea typeface="微軟正黑體" pitchFamily="34" charset="-120"/>
                  </a:rPr>
                  <a:t>唸作「</a:t>
                </a:r>
                <a:r>
                  <a:rPr lang="en-US" altLang="zh-TW" sz="2800" spc="300" dirty="0">
                    <a:latin typeface="Times New Roman" pitchFamily="18" charset="0"/>
                    <a:ea typeface="微軟正黑體" pitchFamily="34" charset="-120"/>
                  </a:rPr>
                  <a:t>cosine</a:t>
                </a:r>
                <a:r>
                  <a:rPr lang="zh-TW" altLang="en-US" sz="2800" spc="300" dirty="0">
                    <a:latin typeface="Times New Roman" pitchFamily="18" charset="0"/>
                    <a:ea typeface="微軟正黑體" pitchFamily="34" charset="-120"/>
                  </a:rPr>
                  <a:t>」。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zh-TW" sz="2800" spc="300" dirty="0">
                    <a:latin typeface="Times New Roman" pitchFamily="18" charset="0"/>
                    <a:ea typeface="微軟正黑體" pitchFamily="34" charset="-120"/>
                  </a:rPr>
                  <a:t>tan </a:t>
                </a:r>
                <a:r>
                  <a:rPr lang="zh-TW" altLang="en-US" sz="2800" spc="300" dirty="0">
                    <a:latin typeface="Times New Roman" pitchFamily="18" charset="0"/>
                    <a:ea typeface="微軟正黑體" pitchFamily="34" charset="-120"/>
                  </a:rPr>
                  <a:t>唸作「</a:t>
                </a:r>
                <a:r>
                  <a:rPr lang="en-US" altLang="zh-TW" sz="2800" spc="300" dirty="0">
                    <a:latin typeface="Times New Roman" pitchFamily="18" charset="0"/>
                    <a:ea typeface="微軟正黑體" pitchFamily="34" charset="-120"/>
                  </a:rPr>
                  <a:t>tangent</a:t>
                </a:r>
                <a:r>
                  <a:rPr lang="zh-TW" altLang="en-US" sz="2800" spc="300" dirty="0">
                    <a:latin typeface="Times New Roman" pitchFamily="18" charset="0"/>
                    <a:ea typeface="微軟正黑體" pitchFamily="34" charset="-120"/>
                  </a:rPr>
                  <a:t>」。</a:t>
                </a:r>
              </a:p>
              <a:p>
                <a:pPr>
                  <a:lnSpc>
                    <a:spcPct val="200000"/>
                  </a:lnSpc>
                </a:pPr>
                <a:endParaRPr lang="zh-TW" altLang="en-US" sz="2800" spc="300" dirty="0">
                  <a:latin typeface="Times New Roman" pitchFamily="18" charset="0"/>
                  <a:ea typeface="微軟正黑體" pitchFamily="34" charset="-120"/>
                </a:endParaRPr>
              </a:p>
            </p:txBody>
          </p:sp>
        </p:grp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0DC9C61C-1AF2-48A0-AC01-5FA8413C7AED}"/>
                </a:ext>
              </a:extLst>
            </p:cNvPr>
            <p:cNvSpPr/>
            <p:nvPr/>
          </p:nvSpPr>
          <p:spPr>
            <a:xfrm>
              <a:off x="6384032" y="2266091"/>
              <a:ext cx="4680520" cy="25543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lnSpc>
                  <a:spcPct val="200000"/>
                </a:lnSpc>
              </a:pPr>
              <a:r>
                <a:rPr lang="en-US" altLang="zh-TW" sz="2800" spc="300" dirty="0">
                  <a:solidFill>
                    <a:prstClr val="black"/>
                  </a:solidFill>
                  <a:latin typeface="Times New Roman" pitchFamily="18" charset="0"/>
                  <a:ea typeface="微軟正黑體" pitchFamily="34" charset="-120"/>
                </a:rPr>
                <a:t>cot </a:t>
              </a:r>
              <a:r>
                <a:rPr lang="zh-TW" altLang="en-US" sz="2800" spc="300" dirty="0">
                  <a:solidFill>
                    <a:prstClr val="black"/>
                  </a:solidFill>
                  <a:latin typeface="Times New Roman" pitchFamily="18" charset="0"/>
                  <a:ea typeface="微軟正黑體" pitchFamily="34" charset="-120"/>
                </a:rPr>
                <a:t>唸作「</a:t>
              </a:r>
              <a:r>
                <a:rPr lang="en-US" altLang="zh-TW" sz="2800" spc="300" dirty="0">
                  <a:solidFill>
                    <a:prstClr val="black"/>
                  </a:solidFill>
                  <a:latin typeface="Times New Roman" pitchFamily="18" charset="0"/>
                  <a:ea typeface="微軟正黑體" pitchFamily="34" charset="-120"/>
                </a:rPr>
                <a:t>cotangent</a:t>
              </a:r>
              <a:r>
                <a:rPr lang="zh-TW" altLang="en-US" sz="2800" spc="300" dirty="0">
                  <a:solidFill>
                    <a:prstClr val="black"/>
                  </a:solidFill>
                  <a:latin typeface="Times New Roman" pitchFamily="18" charset="0"/>
                  <a:ea typeface="微軟正黑體" pitchFamily="34" charset="-120"/>
                </a:rPr>
                <a:t>」。</a:t>
              </a:r>
            </a:p>
            <a:p>
              <a:pPr lvl="0">
                <a:lnSpc>
                  <a:spcPct val="200000"/>
                </a:lnSpc>
              </a:pPr>
              <a:r>
                <a:rPr lang="en-US" altLang="zh-TW" sz="2800" spc="300" dirty="0">
                  <a:solidFill>
                    <a:prstClr val="black"/>
                  </a:solidFill>
                  <a:latin typeface="Times New Roman" pitchFamily="18" charset="0"/>
                  <a:ea typeface="微軟正黑體" pitchFamily="34" charset="-120"/>
                </a:rPr>
                <a:t>sec </a:t>
              </a:r>
              <a:r>
                <a:rPr lang="zh-TW" altLang="en-US" sz="2800" spc="300" dirty="0">
                  <a:solidFill>
                    <a:prstClr val="black"/>
                  </a:solidFill>
                  <a:latin typeface="Times New Roman" pitchFamily="18" charset="0"/>
                  <a:ea typeface="微軟正黑體" pitchFamily="34" charset="-120"/>
                </a:rPr>
                <a:t>唸作「</a:t>
              </a:r>
              <a:r>
                <a:rPr lang="en-US" altLang="zh-TW" sz="2800" spc="300" dirty="0">
                  <a:solidFill>
                    <a:prstClr val="black"/>
                  </a:solidFill>
                  <a:latin typeface="Times New Roman" pitchFamily="18" charset="0"/>
                  <a:ea typeface="微軟正黑體" pitchFamily="34" charset="-120"/>
                </a:rPr>
                <a:t>secant</a:t>
              </a:r>
              <a:r>
                <a:rPr lang="zh-TW" altLang="en-US" sz="2800" spc="300" dirty="0">
                  <a:solidFill>
                    <a:prstClr val="black"/>
                  </a:solidFill>
                  <a:latin typeface="Times New Roman" pitchFamily="18" charset="0"/>
                  <a:ea typeface="微軟正黑體" pitchFamily="34" charset="-120"/>
                </a:rPr>
                <a:t>」。</a:t>
              </a:r>
            </a:p>
            <a:p>
              <a:pPr lvl="0">
                <a:lnSpc>
                  <a:spcPct val="200000"/>
                </a:lnSpc>
              </a:pPr>
              <a:r>
                <a:rPr lang="en-US" altLang="zh-TW" sz="2800" spc="300" dirty="0" err="1">
                  <a:solidFill>
                    <a:prstClr val="black"/>
                  </a:solidFill>
                  <a:latin typeface="Times New Roman" pitchFamily="18" charset="0"/>
                  <a:ea typeface="微軟正黑體" pitchFamily="34" charset="-120"/>
                </a:rPr>
                <a:t>csc</a:t>
              </a:r>
              <a:r>
                <a:rPr lang="en-US" altLang="zh-TW" sz="2800" spc="300" dirty="0">
                  <a:solidFill>
                    <a:prstClr val="black"/>
                  </a:solidFill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spc="300" dirty="0">
                  <a:solidFill>
                    <a:prstClr val="black"/>
                  </a:solidFill>
                  <a:latin typeface="Times New Roman" pitchFamily="18" charset="0"/>
                  <a:ea typeface="微軟正黑體" pitchFamily="34" charset="-120"/>
                </a:rPr>
                <a:t>唸作「</a:t>
              </a:r>
              <a:r>
                <a:rPr lang="en-US" altLang="zh-TW" sz="2800" spc="300" dirty="0">
                  <a:solidFill>
                    <a:prstClr val="black"/>
                  </a:solidFill>
                  <a:latin typeface="Times New Roman" pitchFamily="18" charset="0"/>
                  <a:ea typeface="微軟正黑體" pitchFamily="34" charset="-120"/>
                </a:rPr>
                <a:t>cosecant</a:t>
              </a:r>
              <a:r>
                <a:rPr lang="zh-TW" altLang="en-US" sz="2800" spc="300" dirty="0">
                  <a:solidFill>
                    <a:prstClr val="black"/>
                  </a:solidFill>
                  <a:latin typeface="Times New Roman" pitchFamily="18" charset="0"/>
                  <a:ea typeface="微軟正黑體" pitchFamily="34" charset="-120"/>
                </a:rPr>
                <a:t>」。</a:t>
              </a:r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990129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TW" altLang="en-US" dirty="0"/>
              <a:t>銳角三角函數的記憶法</a:t>
            </a:r>
          </a:p>
        </p:txBody>
      </p:sp>
      <p:sp>
        <p:nvSpPr>
          <p:cNvPr id="10" name="內容版面配置區 9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zh-TW" dirty="0"/>
              <a:t>109</a:t>
            </a:r>
            <a:endParaRPr lang="zh-TW" altLang="en-US" dirty="0"/>
          </a:p>
        </p:txBody>
      </p:sp>
      <p:grpSp>
        <p:nvGrpSpPr>
          <p:cNvPr id="5" name="群組 4"/>
          <p:cNvGrpSpPr/>
          <p:nvPr/>
        </p:nvGrpSpPr>
        <p:grpSpPr>
          <a:xfrm>
            <a:off x="2423592" y="1753489"/>
            <a:ext cx="7658278" cy="3430484"/>
            <a:chOff x="3168341" y="2431254"/>
            <a:chExt cx="7658278" cy="3430484"/>
          </a:xfrm>
        </p:grpSpPr>
        <p:pic>
          <p:nvPicPr>
            <p:cNvPr id="149508" name="Picture 4"/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DEAEA"/>
                </a:clrFrom>
                <a:clrTo>
                  <a:srgbClr val="FDEAEA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7422"/>
            <a:stretch/>
          </p:blipFill>
          <p:spPr bwMode="auto">
            <a:xfrm>
              <a:off x="7226219" y="2431254"/>
              <a:ext cx="3600400" cy="34304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aphicFrame>
          <p:nvGraphicFramePr>
            <p:cNvPr id="4" name="物件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89692394"/>
                </p:ext>
              </p:extLst>
            </p:nvPr>
          </p:nvGraphicFramePr>
          <p:xfrm>
            <a:off x="3168341" y="4540211"/>
            <a:ext cx="2413000" cy="939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2412720" imgH="939600" progId="Equation.DSMT4">
                    <p:embed/>
                  </p:oleObj>
                </mc:Choice>
                <mc:Fallback>
                  <p:oleObj name="Equation" r:id="rId3" imgW="2412720" imgH="939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168341" y="4540211"/>
                          <a:ext cx="2413000" cy="939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物件 8">
              <a:extLst>
                <a:ext uri="{FF2B5EF4-FFF2-40B4-BE49-F238E27FC236}">
                  <a16:creationId xmlns:a16="http://schemas.microsoft.com/office/drawing/2014/main" id="{CF454EDB-8202-433F-B055-424E1A25D34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54744901"/>
                </p:ext>
              </p:extLst>
            </p:nvPr>
          </p:nvGraphicFramePr>
          <p:xfrm>
            <a:off x="3181041" y="3074045"/>
            <a:ext cx="2400300" cy="889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2400120" imgH="888840" progId="Equation.DSMT4">
                    <p:embed/>
                  </p:oleObj>
                </mc:Choice>
                <mc:Fallback>
                  <p:oleObj name="Equation" r:id="rId5" imgW="2400120" imgH="888840" progId="Equation.DSMT4">
                    <p:embed/>
                    <p:pic>
                      <p:nvPicPr>
                        <p:cNvPr id="4" name="物件 3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181041" y="3074045"/>
                          <a:ext cx="2400300" cy="889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89465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TW" altLang="en-US" dirty="0"/>
              <a:t>銳角三角函數的記憶法</a:t>
            </a:r>
          </a:p>
        </p:txBody>
      </p:sp>
      <p:sp>
        <p:nvSpPr>
          <p:cNvPr id="10" name="內容版面配置區 9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zh-TW" dirty="0"/>
              <a:t>109</a:t>
            </a:r>
            <a:endParaRPr lang="zh-TW" altLang="en-US" dirty="0"/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2F4CF166-A9E3-4611-965D-6F7160C7AE9A}"/>
              </a:ext>
            </a:extLst>
          </p:cNvPr>
          <p:cNvGrpSpPr/>
          <p:nvPr/>
        </p:nvGrpSpPr>
        <p:grpSpPr>
          <a:xfrm>
            <a:off x="2430463" y="2097147"/>
            <a:ext cx="7481961" cy="3132053"/>
            <a:chOff x="2430463" y="2097147"/>
            <a:chExt cx="7481961" cy="3132053"/>
          </a:xfrm>
        </p:grpSpPr>
        <p:grpSp>
          <p:nvGrpSpPr>
            <p:cNvPr id="9" name="群組 8">
              <a:extLst>
                <a:ext uri="{FF2B5EF4-FFF2-40B4-BE49-F238E27FC236}">
                  <a16:creationId xmlns:a16="http://schemas.microsoft.com/office/drawing/2014/main" id="{CA3D467F-D0B2-48FD-AABC-002638AD283A}"/>
                </a:ext>
              </a:extLst>
            </p:cNvPr>
            <p:cNvGrpSpPr/>
            <p:nvPr/>
          </p:nvGrpSpPr>
          <p:grpSpPr>
            <a:xfrm>
              <a:off x="2430463" y="2395538"/>
              <a:ext cx="2413000" cy="2381250"/>
              <a:chOff x="3175212" y="3073303"/>
              <a:chExt cx="2413000" cy="2381250"/>
            </a:xfrm>
          </p:grpSpPr>
          <p:graphicFrame>
            <p:nvGraphicFramePr>
              <p:cNvPr id="12" name="物件 11">
                <a:extLst>
                  <a:ext uri="{FF2B5EF4-FFF2-40B4-BE49-F238E27FC236}">
                    <a16:creationId xmlns:a16="http://schemas.microsoft.com/office/drawing/2014/main" id="{1D6268F6-6856-4AE5-9382-768DA060AF3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29334708"/>
                  </p:ext>
                </p:extLst>
              </p:nvPr>
            </p:nvGraphicFramePr>
            <p:xfrm>
              <a:off x="3175212" y="4565553"/>
              <a:ext cx="2400300" cy="889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2400120" imgH="888840" progId="Equation.DSMT4">
                      <p:embed/>
                    </p:oleObj>
                  </mc:Choice>
                  <mc:Fallback>
                    <p:oleObj name="Equation" r:id="rId2" imgW="2400120" imgH="888840" progId="Equation.DSMT4">
                      <p:embed/>
                      <p:pic>
                        <p:nvPicPr>
                          <p:cNvPr id="4" name="物件 3"/>
                          <p:cNvPicPr/>
                          <p:nvPr/>
                        </p:nvPicPr>
                        <p:blipFill>
                          <a:blip r:embed="rId3"/>
                          <a:stretch>
                            <a:fillRect/>
                          </a:stretch>
                        </p:blipFill>
                        <p:spPr>
                          <a:xfrm>
                            <a:off x="3175212" y="4565553"/>
                            <a:ext cx="2400300" cy="8890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3" name="物件 12">
                <a:extLst>
                  <a:ext uri="{FF2B5EF4-FFF2-40B4-BE49-F238E27FC236}">
                    <a16:creationId xmlns:a16="http://schemas.microsoft.com/office/drawing/2014/main" id="{4BD75D9F-B14E-45FA-8407-24732AE8FF9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180045104"/>
                  </p:ext>
                </p:extLst>
              </p:nvPr>
            </p:nvGraphicFramePr>
            <p:xfrm>
              <a:off x="3175212" y="3073303"/>
              <a:ext cx="2413000" cy="889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2412720" imgH="888840" progId="Equation.DSMT4">
                      <p:embed/>
                    </p:oleObj>
                  </mc:Choice>
                  <mc:Fallback>
                    <p:oleObj name="Equation" r:id="rId4" imgW="2412720" imgH="888840" progId="Equation.DSMT4">
                      <p:embed/>
                      <p:pic>
                        <p:nvPicPr>
                          <p:cNvPr id="9" name="物件 8">
                            <a:extLst>
                              <a:ext uri="{FF2B5EF4-FFF2-40B4-BE49-F238E27FC236}">
                                <a16:creationId xmlns:a16="http://schemas.microsoft.com/office/drawing/2014/main" id="{CF454EDB-8202-433F-B055-424E1A25D34C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5"/>
                          <a:stretch>
                            <a:fillRect/>
                          </a:stretch>
                        </p:blipFill>
                        <p:spPr>
                          <a:xfrm>
                            <a:off x="3175212" y="3073303"/>
                            <a:ext cx="2413000" cy="8890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pic>
          <p:nvPicPr>
            <p:cNvPr id="16" name="Picture 2">
              <a:extLst>
                <a:ext uri="{FF2B5EF4-FFF2-40B4-BE49-F238E27FC236}">
                  <a16:creationId xmlns:a16="http://schemas.microsoft.com/office/drawing/2014/main" id="{6C049096-BDAC-48BA-A23D-C8F0CC0219D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clrChange>
                <a:clrFrom>
                  <a:srgbClr val="FDEAEA"/>
                </a:clrFrom>
                <a:clrTo>
                  <a:srgbClr val="FDEAEA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3083"/>
            <a:stretch/>
          </p:blipFill>
          <p:spPr bwMode="auto">
            <a:xfrm>
              <a:off x="6534245" y="2097147"/>
              <a:ext cx="3378179" cy="31320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27771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TW" altLang="en-US" dirty="0"/>
              <a:t>銳角三角函數的記憶法</a:t>
            </a:r>
          </a:p>
        </p:txBody>
      </p:sp>
      <p:sp>
        <p:nvSpPr>
          <p:cNvPr id="10" name="內容版面配置區 9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zh-TW" dirty="0"/>
              <a:t>109</a:t>
            </a:r>
            <a:endParaRPr lang="zh-TW" altLang="en-US" dirty="0"/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71AF6AD8-4B9A-48FA-AA3E-9C66A13B1D49}"/>
              </a:ext>
            </a:extLst>
          </p:cNvPr>
          <p:cNvGrpSpPr/>
          <p:nvPr/>
        </p:nvGrpSpPr>
        <p:grpSpPr>
          <a:xfrm>
            <a:off x="2405063" y="2074256"/>
            <a:ext cx="7579369" cy="3132053"/>
            <a:chOff x="2405063" y="2074256"/>
            <a:chExt cx="7579369" cy="3132053"/>
          </a:xfrm>
        </p:grpSpPr>
        <p:grpSp>
          <p:nvGrpSpPr>
            <p:cNvPr id="17" name="群組 16">
              <a:extLst>
                <a:ext uri="{FF2B5EF4-FFF2-40B4-BE49-F238E27FC236}">
                  <a16:creationId xmlns:a16="http://schemas.microsoft.com/office/drawing/2014/main" id="{FA541D72-41D1-4860-A622-67872584464B}"/>
                </a:ext>
              </a:extLst>
            </p:cNvPr>
            <p:cNvGrpSpPr/>
            <p:nvPr/>
          </p:nvGrpSpPr>
          <p:grpSpPr>
            <a:xfrm>
              <a:off x="2405063" y="2395538"/>
              <a:ext cx="2463800" cy="2406650"/>
              <a:chOff x="3149812" y="3073303"/>
              <a:chExt cx="2463800" cy="2406650"/>
            </a:xfrm>
          </p:grpSpPr>
          <p:graphicFrame>
            <p:nvGraphicFramePr>
              <p:cNvPr id="19" name="物件 18">
                <a:extLst>
                  <a:ext uri="{FF2B5EF4-FFF2-40B4-BE49-F238E27FC236}">
                    <a16:creationId xmlns:a16="http://schemas.microsoft.com/office/drawing/2014/main" id="{77ACD217-6607-4562-BD71-E6B5BDDE4F4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69614516"/>
                  </p:ext>
                </p:extLst>
              </p:nvPr>
            </p:nvGraphicFramePr>
            <p:xfrm>
              <a:off x="3168862" y="4540153"/>
              <a:ext cx="2413000" cy="9398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2412720" imgH="939600" progId="Equation.DSMT4">
                      <p:embed/>
                    </p:oleObj>
                  </mc:Choice>
                  <mc:Fallback>
                    <p:oleObj name="Equation" r:id="rId2" imgW="2412720" imgH="939600" progId="Equation.DSMT4">
                      <p:embed/>
                      <p:pic>
                        <p:nvPicPr>
                          <p:cNvPr id="14" name="物件 13">
                            <a:extLst>
                              <a:ext uri="{FF2B5EF4-FFF2-40B4-BE49-F238E27FC236}">
                                <a16:creationId xmlns:a16="http://schemas.microsoft.com/office/drawing/2014/main" id="{22AC8EA5-E39A-4ED2-86B0-655B647900DB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3"/>
                          <a:stretch>
                            <a:fillRect/>
                          </a:stretch>
                        </p:blipFill>
                        <p:spPr>
                          <a:xfrm>
                            <a:off x="3168862" y="4540153"/>
                            <a:ext cx="2413000" cy="9398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" name="物件 19">
                <a:extLst>
                  <a:ext uri="{FF2B5EF4-FFF2-40B4-BE49-F238E27FC236}">
                    <a16:creationId xmlns:a16="http://schemas.microsoft.com/office/drawing/2014/main" id="{69AA9C8B-7A9D-4C9D-98AE-5CD83FF8E07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89619719"/>
                  </p:ext>
                </p:extLst>
              </p:nvPr>
            </p:nvGraphicFramePr>
            <p:xfrm>
              <a:off x="3149812" y="3073303"/>
              <a:ext cx="2463800" cy="889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2463480" imgH="888840" progId="Equation.DSMT4">
                      <p:embed/>
                    </p:oleObj>
                  </mc:Choice>
                  <mc:Fallback>
                    <p:oleObj name="Equation" r:id="rId4" imgW="2463480" imgH="888840" progId="Equation.DSMT4">
                      <p:embed/>
                      <p:pic>
                        <p:nvPicPr>
                          <p:cNvPr id="15" name="物件 14">
                            <a:extLst>
                              <a:ext uri="{FF2B5EF4-FFF2-40B4-BE49-F238E27FC236}">
                                <a16:creationId xmlns:a16="http://schemas.microsoft.com/office/drawing/2014/main" id="{E2BF547F-2E22-45E4-B22E-963DA81233AA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5"/>
                          <a:stretch>
                            <a:fillRect/>
                          </a:stretch>
                        </p:blipFill>
                        <p:spPr>
                          <a:xfrm>
                            <a:off x="3149812" y="3073303"/>
                            <a:ext cx="2463800" cy="8890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pic>
          <p:nvPicPr>
            <p:cNvPr id="23" name="Picture 2">
              <a:extLst>
                <a:ext uri="{FF2B5EF4-FFF2-40B4-BE49-F238E27FC236}">
                  <a16:creationId xmlns:a16="http://schemas.microsoft.com/office/drawing/2014/main" id="{572989A3-6339-40F3-B83D-4777D0AA1E5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clrChange>
                <a:clrFrom>
                  <a:srgbClr val="FDEAEA"/>
                </a:clrFrom>
                <a:clrTo>
                  <a:srgbClr val="FDEAEA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4771"/>
            <a:stretch/>
          </p:blipFill>
          <p:spPr bwMode="auto">
            <a:xfrm>
              <a:off x="6384032" y="2074256"/>
              <a:ext cx="3600400" cy="31320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532058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/>
          <p:cNvSpPr>
            <a:spLocks noGrp="1"/>
          </p:cNvSpPr>
          <p:nvPr>
            <p:ph type="body" sz="quarter" idx="10"/>
          </p:nvPr>
        </p:nvSpPr>
        <p:spPr>
          <a:xfrm>
            <a:off x="407368" y="452669"/>
            <a:ext cx="1056117" cy="960107"/>
          </a:xfrm>
        </p:spPr>
        <p:txBody>
          <a:bodyPr/>
          <a:lstStyle/>
          <a:p>
            <a:r>
              <a:rPr lang="en-US" altLang="zh-TW"/>
              <a:t>01</a:t>
            </a:r>
            <a:endParaRPr lang="zh-TW" altLang="en-US" dirty="0"/>
          </a:p>
        </p:txBody>
      </p:sp>
      <p:sp>
        <p:nvSpPr>
          <p:cNvPr id="12" name="內容版面配置區 11"/>
          <p:cNvSpPr>
            <a:spLocks noGrp="1"/>
          </p:cNvSpPr>
          <p:nvPr>
            <p:ph sz="quarter" idx="11"/>
          </p:nvPr>
        </p:nvSpPr>
        <p:spPr>
          <a:xfrm>
            <a:off x="1127448" y="6455660"/>
            <a:ext cx="781049" cy="357716"/>
          </a:xfrm>
        </p:spPr>
        <p:txBody>
          <a:bodyPr/>
          <a:lstStyle/>
          <a:p>
            <a:r>
              <a:rPr lang="en-US" altLang="zh-TW" dirty="0"/>
              <a:t>109</a:t>
            </a:r>
            <a:endParaRPr lang="zh-TW" altLang="en-US" dirty="0"/>
          </a:p>
        </p:txBody>
      </p:sp>
      <p:grpSp>
        <p:nvGrpSpPr>
          <p:cNvPr id="4" name="群組 3"/>
          <p:cNvGrpSpPr/>
          <p:nvPr/>
        </p:nvGrpSpPr>
        <p:grpSpPr>
          <a:xfrm>
            <a:off x="1631504" y="508346"/>
            <a:ext cx="9937104" cy="5010177"/>
            <a:chOff x="1631504" y="508346"/>
            <a:chExt cx="9937104" cy="5010177"/>
          </a:xfrm>
        </p:grpSpPr>
        <p:sp>
          <p:nvSpPr>
            <p:cNvPr id="18" name="文字方塊 17"/>
            <p:cNvSpPr txBox="1"/>
            <p:nvPr/>
          </p:nvSpPr>
          <p:spPr>
            <a:xfrm>
              <a:off x="1631504" y="508346"/>
              <a:ext cx="993710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在下列各直角三角形中，求出∠</a:t>
              </a:r>
              <a:r>
                <a:rPr lang="en-US" altLang="zh-TW" sz="2800" i="1" spc="300" dirty="0">
                  <a:latin typeface="Times New Roman" pitchFamily="18" charset="0"/>
                  <a:ea typeface="微軟正黑體" pitchFamily="34" charset="-120"/>
                </a:rPr>
                <a:t>A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的六個三角函數值。</a:t>
              </a:r>
            </a:p>
          </p:txBody>
        </p:sp>
        <p:pic>
          <p:nvPicPr>
            <p:cNvPr id="152578" name="Picture 2"/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C7EBFC"/>
                </a:clrFrom>
                <a:clrTo>
                  <a:srgbClr val="C7EBFC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61592" y="1412776"/>
              <a:ext cx="7990639" cy="41057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152579" name="Rounded Rectangle 152578"/>
          <p:cNvSpPr/>
          <p:nvPr/>
        </p:nvSpPr>
        <p:spPr>
          <a:xfrm>
            <a:off x="6217920" y="3931920"/>
            <a:ext cx="5303520" cy="2468880"/>
          </a:xfrm>
          <a:prstGeom prst="roundRect">
            <a:avLst/>
          </a:prstGeom>
          <a:solidFill>
            <a:srgbClr val="FEFCE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580" name="TextBox 152579"/>
          <p:cNvSpPr txBox="1"/>
          <p:nvPr/>
        </p:nvSpPr>
        <p:spPr>
          <a:xfrm>
            <a:off x="6382512" y="4041648"/>
            <a:ext cx="4974336" cy="22494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B91C1C"/>
                </a:solidFill>
                <a:latin typeface="微軟正黑體"/>
              </a:rPr>
              <a:t>🎯 例題 1 課堂解題思考方向（求六個三角函數值）：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① 觀察已知邊：確認兩股為 3、4，利用畢氏定理求斜邊 c ＝ √(3²+4²) ＝ 5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② 標明基準角：以 ∠A 為基準，對邊＝3、鄰邊＝4、斜邊＝5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③ 套用定義：先求 sin A＝3/5、cos A＝4/5、tan A＝3/4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④ 倒數對應：立即寫出 csc A＝5/3、sec A＝5/4、cot A＝4/3</a:t>
            </a:r>
          </a:p>
        </p:txBody>
      </p:sp>
    </p:spTree>
    <p:extLst>
      <p:ext uri="{BB962C8B-B14F-4D97-AF65-F5344CB8AC3E}">
        <p14:creationId xmlns:p14="http://schemas.microsoft.com/office/powerpoint/2010/main" val="2136348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10"/>
          <p:cNvSpPr>
            <a:spLocks noGrp="1"/>
          </p:cNvSpPr>
          <p:nvPr>
            <p:ph sz="quarter" idx="11"/>
          </p:nvPr>
        </p:nvSpPr>
        <p:spPr>
          <a:xfrm>
            <a:off x="1127448" y="6455660"/>
            <a:ext cx="781049" cy="357716"/>
          </a:xfrm>
        </p:spPr>
        <p:txBody>
          <a:bodyPr/>
          <a:lstStyle/>
          <a:p>
            <a:r>
              <a:rPr lang="en-US" altLang="zh-TW" dirty="0"/>
              <a:t>110</a:t>
            </a:r>
            <a:endParaRPr lang="zh-TW" altLang="en-US" dirty="0"/>
          </a:p>
        </p:txBody>
      </p:sp>
      <p:sp>
        <p:nvSpPr>
          <p:cNvPr id="2" name="文字版面配置區 1"/>
          <p:cNvSpPr>
            <a:spLocks noGrp="1"/>
          </p:cNvSpPr>
          <p:nvPr>
            <p:ph type="body" sz="quarter" idx="10"/>
          </p:nvPr>
        </p:nvSpPr>
        <p:spPr>
          <a:xfrm>
            <a:off x="407368" y="452669"/>
            <a:ext cx="1056117" cy="960107"/>
          </a:xfrm>
        </p:spPr>
        <p:txBody>
          <a:bodyPr/>
          <a:lstStyle/>
          <a:p>
            <a:r>
              <a:rPr lang="en-US" altLang="zh-TW"/>
              <a:t>01</a:t>
            </a:r>
            <a:endParaRPr lang="zh-TW" altLang="en-US" dirty="0"/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69CC3B73-8761-4D0A-97CC-33F6EADBC0DB}"/>
              </a:ext>
            </a:extLst>
          </p:cNvPr>
          <p:cNvGrpSpPr/>
          <p:nvPr/>
        </p:nvGrpSpPr>
        <p:grpSpPr>
          <a:xfrm>
            <a:off x="1631504" y="508346"/>
            <a:ext cx="8712968" cy="5010177"/>
            <a:chOff x="1631504" y="508346"/>
            <a:chExt cx="8712968" cy="5010177"/>
          </a:xfrm>
        </p:grpSpPr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4C805559-F5D9-47F8-BB9C-AA835809077E}"/>
                </a:ext>
              </a:extLst>
            </p:cNvPr>
            <p:cNvSpPr txBox="1"/>
            <p:nvPr/>
          </p:nvSpPr>
          <p:spPr>
            <a:xfrm>
              <a:off x="1631504" y="508346"/>
              <a:ext cx="8712968" cy="6622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試求出例題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1 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各小題中，∠</a:t>
              </a:r>
              <a:r>
                <a:rPr lang="en-US" altLang="zh-TW" sz="2800" i="1" spc="300" dirty="0">
                  <a:latin typeface="Times New Roman" pitchFamily="18" charset="0"/>
                  <a:ea typeface="微軟正黑體" pitchFamily="34" charset="-120"/>
                </a:rPr>
                <a:t>B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的六個三角函數值。</a:t>
              </a:r>
            </a:p>
          </p:txBody>
        </p:sp>
        <p:pic>
          <p:nvPicPr>
            <p:cNvPr id="5" name="Picture 2">
              <a:extLst>
                <a:ext uri="{FF2B5EF4-FFF2-40B4-BE49-F238E27FC236}">
                  <a16:creationId xmlns:a16="http://schemas.microsoft.com/office/drawing/2014/main" id="{CD6104E3-7B6B-47C9-94E1-2B8CDB5903C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C7EBFC"/>
                </a:clrFrom>
                <a:clrTo>
                  <a:srgbClr val="C7EBFC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61592" y="1412776"/>
              <a:ext cx="7990639" cy="41057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12" name="Rounded Rectangle 11"/>
          <p:cNvSpPr/>
          <p:nvPr/>
        </p:nvSpPr>
        <p:spPr>
          <a:xfrm>
            <a:off x="6217920" y="3931920"/>
            <a:ext cx="5303520" cy="2468880"/>
          </a:xfrm>
          <a:prstGeom prst="roundRect">
            <a:avLst/>
          </a:prstGeom>
          <a:solidFill>
            <a:srgbClr val="FEFCE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4041648"/>
            <a:ext cx="4974336" cy="22494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B91C1C"/>
                </a:solidFill>
                <a:latin typeface="微軟正黑體"/>
              </a:rPr>
              <a:t>🎯 隨堂練習 1 課堂思考方向（基準角切換）：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① 基準角切換：注意本題改求 ∠B 的三角函數值！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② 邊長角色互換：∠B 的對邊變為 4、鄰邊變為 3、斜邊仍為 5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③ 餘角關係觀察：sin B ＝ cos A、cos B ＝ sin A、tan B ＝ cot A</a:t>
            </a:r>
          </a:p>
        </p:txBody>
      </p:sp>
    </p:spTree>
    <p:extLst>
      <p:ext uri="{BB962C8B-B14F-4D97-AF65-F5344CB8AC3E}">
        <p14:creationId xmlns:p14="http://schemas.microsoft.com/office/powerpoint/2010/main" val="2890978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字方塊 10"/>
          <p:cNvSpPr txBox="1"/>
          <p:nvPr/>
        </p:nvSpPr>
        <p:spPr>
          <a:xfrm>
            <a:off x="1512583" y="2708920"/>
            <a:ext cx="9130208" cy="1307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800" spc="300" dirty="0">
                <a:latin typeface="Times New Roman" pitchFamily="18" charset="0"/>
                <a:ea typeface="微軟正黑體" pitchFamily="34" charset="-120"/>
              </a:rPr>
              <a:t>常見的直角三角形三邊長有</a:t>
            </a:r>
            <a:r>
              <a:rPr lang="en-US" altLang="zh-TW" sz="2800" spc="300" dirty="0">
                <a:latin typeface="Times New Roman" pitchFamily="18" charset="0"/>
                <a:ea typeface="微軟正黑體" pitchFamily="34" charset="-120"/>
              </a:rPr>
              <a:t>(3, 4, 5)</a:t>
            </a:r>
            <a:r>
              <a:rPr lang="zh-TW" altLang="en-US" sz="2800" spc="300" dirty="0">
                <a:latin typeface="Times New Roman" pitchFamily="18" charset="0"/>
                <a:ea typeface="微軟正黑體" pitchFamily="34" charset="-120"/>
              </a:rPr>
              <a:t>、</a:t>
            </a:r>
            <a:r>
              <a:rPr lang="en-US" altLang="zh-TW" sz="2800" spc="300" dirty="0">
                <a:latin typeface="Times New Roman" pitchFamily="18" charset="0"/>
                <a:ea typeface="微軟正黑體" pitchFamily="34" charset="-120"/>
              </a:rPr>
              <a:t>(5, 12, 13)</a:t>
            </a:r>
            <a:r>
              <a:rPr lang="zh-TW" altLang="en-US" sz="2800" spc="300" dirty="0">
                <a:latin typeface="Times New Roman" pitchFamily="18" charset="0"/>
                <a:ea typeface="微軟正黑體" pitchFamily="34" charset="-120"/>
              </a:rPr>
              <a:t>、</a:t>
            </a:r>
            <a:r>
              <a:rPr lang="en-US" altLang="zh-TW" sz="2800" spc="300" dirty="0">
                <a:latin typeface="Times New Roman" pitchFamily="18" charset="0"/>
                <a:ea typeface="微軟正黑體" pitchFamily="34" charset="-120"/>
              </a:rPr>
              <a:t>(7, 24, 25)</a:t>
            </a:r>
            <a:r>
              <a:rPr lang="zh-TW" altLang="en-US" sz="2800" spc="300" dirty="0">
                <a:latin typeface="Times New Roman" pitchFamily="18" charset="0"/>
                <a:ea typeface="微軟正黑體" pitchFamily="34" charset="-120"/>
              </a:rPr>
              <a:t>、</a:t>
            </a:r>
            <a:r>
              <a:rPr lang="en-US" altLang="zh-TW" sz="2800" spc="300" dirty="0">
                <a:latin typeface="Times New Roman" pitchFamily="18" charset="0"/>
                <a:ea typeface="微軟正黑體" pitchFamily="34" charset="-120"/>
              </a:rPr>
              <a:t>(8, 15, 17) </a:t>
            </a:r>
            <a:r>
              <a:rPr lang="zh-TW" altLang="en-US" sz="2800" spc="300" dirty="0">
                <a:latin typeface="Times New Roman" pitchFamily="18" charset="0"/>
                <a:ea typeface="微軟正黑體" pitchFamily="34" charset="-120"/>
              </a:rPr>
              <a:t>等。</a:t>
            </a:r>
          </a:p>
        </p:txBody>
      </p:sp>
      <p:sp>
        <p:nvSpPr>
          <p:cNvPr id="14" name="內容版面配置區 13"/>
          <p:cNvSpPr>
            <a:spLocks noGrp="1"/>
          </p:cNvSpPr>
          <p:nvPr>
            <p:ph sz="quarter" idx="10"/>
          </p:nvPr>
        </p:nvSpPr>
        <p:spPr>
          <a:xfrm>
            <a:off x="1127448" y="6455660"/>
            <a:ext cx="781049" cy="357716"/>
          </a:xfrm>
        </p:spPr>
        <p:txBody>
          <a:bodyPr/>
          <a:lstStyle/>
          <a:p>
            <a:r>
              <a:rPr lang="en-US" altLang="zh-TW" dirty="0"/>
              <a:t>110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74172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/>
          <p:cNvSpPr>
            <a:spLocks noGrp="1"/>
          </p:cNvSpPr>
          <p:nvPr>
            <p:ph type="body" sz="quarter" idx="10"/>
          </p:nvPr>
        </p:nvSpPr>
        <p:spPr>
          <a:xfrm>
            <a:off x="407368" y="452669"/>
            <a:ext cx="1056117" cy="960107"/>
          </a:xfrm>
        </p:spPr>
        <p:txBody>
          <a:bodyPr/>
          <a:lstStyle/>
          <a:p>
            <a:r>
              <a:rPr lang="en-US" altLang="zh-TW" dirty="0"/>
              <a:t>02</a:t>
            </a:r>
            <a:endParaRPr lang="zh-TW" altLang="en-US" dirty="0"/>
          </a:p>
        </p:txBody>
      </p:sp>
      <p:sp>
        <p:nvSpPr>
          <p:cNvPr id="12" name="內容版面配置區 11"/>
          <p:cNvSpPr>
            <a:spLocks noGrp="1"/>
          </p:cNvSpPr>
          <p:nvPr>
            <p:ph sz="quarter" idx="11"/>
          </p:nvPr>
        </p:nvSpPr>
        <p:spPr>
          <a:xfrm>
            <a:off x="1127448" y="6455660"/>
            <a:ext cx="781049" cy="357716"/>
          </a:xfrm>
        </p:spPr>
        <p:txBody>
          <a:bodyPr/>
          <a:lstStyle/>
          <a:p>
            <a:r>
              <a:rPr lang="en-US" altLang="zh-TW" dirty="0"/>
              <a:t>111</a:t>
            </a:r>
            <a:endParaRPr lang="zh-TW" altLang="en-US" dirty="0"/>
          </a:p>
        </p:txBody>
      </p:sp>
      <p:grpSp>
        <p:nvGrpSpPr>
          <p:cNvPr id="5" name="群組 4"/>
          <p:cNvGrpSpPr/>
          <p:nvPr/>
        </p:nvGrpSpPr>
        <p:grpSpPr>
          <a:xfrm>
            <a:off x="1646519" y="508346"/>
            <a:ext cx="9145016" cy="1492514"/>
            <a:chOff x="1646519" y="508346"/>
            <a:chExt cx="9145016" cy="1492514"/>
          </a:xfrm>
        </p:grpSpPr>
        <p:sp>
          <p:nvSpPr>
            <p:cNvPr id="18" name="文字方塊 17"/>
            <p:cNvSpPr txBox="1"/>
            <p:nvPr/>
          </p:nvSpPr>
          <p:spPr>
            <a:xfrm>
              <a:off x="1646519" y="508346"/>
              <a:ext cx="9145016" cy="1308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已知直角三角形</a:t>
              </a:r>
              <a:r>
                <a:rPr lang="en-US" altLang="zh-TW" sz="2800" i="1" spc="300" dirty="0">
                  <a:latin typeface="Times New Roman" pitchFamily="18" charset="0"/>
                  <a:ea typeface="微軟正黑體" pitchFamily="34" charset="-120"/>
                </a:rPr>
                <a:t>ABC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中，∠</a:t>
              </a:r>
              <a:r>
                <a:rPr lang="en-US" altLang="zh-TW" sz="2800" i="1" spc="300" dirty="0">
                  <a:latin typeface="Times New Roman" pitchFamily="18" charset="0"/>
                  <a:ea typeface="微軟正黑體" pitchFamily="34" charset="-120"/>
                </a:rPr>
                <a:t>C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為直角，</a:t>
              </a:r>
              <a:b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</a:b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且              ，求∠</a:t>
              </a:r>
              <a:r>
                <a:rPr lang="en-US" altLang="zh-TW" sz="2800" i="1" spc="300" dirty="0">
                  <a:latin typeface="Times New Roman" pitchFamily="18" charset="0"/>
                  <a:ea typeface="微軟正黑體" pitchFamily="34" charset="-120"/>
                </a:rPr>
                <a:t>A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其餘各三角函數值。</a:t>
              </a:r>
            </a:p>
          </p:txBody>
        </p:sp>
        <p:graphicFrame>
          <p:nvGraphicFramePr>
            <p:cNvPr id="4" name="物件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15232371"/>
                </p:ext>
              </p:extLst>
            </p:nvPr>
          </p:nvGraphicFramePr>
          <p:xfrm>
            <a:off x="2351584" y="1162660"/>
            <a:ext cx="1498600" cy="838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498320" imgH="838080" progId="Equation.DSMT4">
                    <p:embed/>
                  </p:oleObj>
                </mc:Choice>
                <mc:Fallback>
                  <p:oleObj name="Equation" r:id="rId2" imgW="1498320" imgH="838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2351584" y="1162660"/>
                          <a:ext cx="1498600" cy="838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6" name="圖片 5">
            <a:extLst>
              <a:ext uri="{FF2B5EF4-FFF2-40B4-BE49-F238E27FC236}">
                <a16:creationId xmlns:a16="http://schemas.microsoft.com/office/drawing/2014/main" id="{6ADC59DC-0397-2B35-3B7E-407850456D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6200" y="1844824"/>
            <a:ext cx="3639627" cy="3785944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217920" y="3931920"/>
            <a:ext cx="5303520" cy="2468880"/>
          </a:xfrm>
          <a:prstGeom prst="roundRect">
            <a:avLst/>
          </a:prstGeom>
          <a:solidFill>
            <a:srgbClr val="FEFCE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4041648"/>
            <a:ext cx="4974336" cy="22494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B91C1C"/>
                </a:solidFill>
                <a:latin typeface="微軟正黑體"/>
              </a:rPr>
              <a:t>🎯 例題 2 課堂思考方向（一角求六角經典題）：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① 設比例邊長：已知 sin A ＝ 5/13，令對邊為 5、斜邊為 13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② 畢氏定理求第三邊：鄰邊 ＝ √(13² - 5²) ＝ 12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③ 繪製輔助直角三角形：標上邊長 5, 12, 13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④ 依定義直接寫出其餘五個三角函數值</a:t>
            </a:r>
          </a:p>
        </p:txBody>
      </p:sp>
    </p:spTree>
    <p:extLst>
      <p:ext uri="{BB962C8B-B14F-4D97-AF65-F5344CB8AC3E}">
        <p14:creationId xmlns:p14="http://schemas.microsoft.com/office/powerpoint/2010/main" val="162511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11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zh-TW" dirty="0"/>
              <a:t>111</a:t>
            </a:r>
            <a:endParaRPr lang="zh-TW" altLang="en-US" dirty="0"/>
          </a:p>
        </p:txBody>
      </p:sp>
      <p:sp>
        <p:nvSpPr>
          <p:cNvPr id="2" name="文字版面配置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02</a:t>
            </a:r>
            <a:endParaRPr lang="zh-TW" altLang="en-US" dirty="0"/>
          </a:p>
        </p:txBody>
      </p:sp>
      <p:grpSp>
        <p:nvGrpSpPr>
          <p:cNvPr id="15" name="群組 14"/>
          <p:cNvGrpSpPr/>
          <p:nvPr/>
        </p:nvGrpSpPr>
        <p:grpSpPr>
          <a:xfrm>
            <a:off x="1646519" y="508346"/>
            <a:ext cx="9145016" cy="1492514"/>
            <a:chOff x="1646519" y="508346"/>
            <a:chExt cx="9145016" cy="1492514"/>
          </a:xfrm>
        </p:grpSpPr>
        <p:sp>
          <p:nvSpPr>
            <p:cNvPr id="16" name="文字方塊 15"/>
            <p:cNvSpPr txBox="1"/>
            <p:nvPr/>
          </p:nvSpPr>
          <p:spPr>
            <a:xfrm>
              <a:off x="1646519" y="508346"/>
              <a:ext cx="9145016" cy="1308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已知直角三角形</a:t>
              </a:r>
              <a:r>
                <a:rPr lang="en-US" altLang="zh-TW" sz="2800" i="1" spc="300" dirty="0">
                  <a:latin typeface="Times New Roman" pitchFamily="18" charset="0"/>
                  <a:ea typeface="微軟正黑體" pitchFamily="34" charset="-120"/>
                </a:rPr>
                <a:t>ABC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中，∠</a:t>
              </a:r>
              <a:r>
                <a:rPr lang="en-US" altLang="zh-TW" sz="2800" i="1" spc="300" dirty="0">
                  <a:latin typeface="Times New Roman" pitchFamily="18" charset="0"/>
                  <a:ea typeface="微軟正黑體" pitchFamily="34" charset="-120"/>
                </a:rPr>
                <a:t>C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為直角，</a:t>
              </a:r>
              <a:b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</a:b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且              ，求∠</a:t>
              </a:r>
              <a:r>
                <a:rPr lang="en-US" altLang="zh-TW" sz="2800" i="1" spc="300" dirty="0">
                  <a:latin typeface="Times New Roman" pitchFamily="18" charset="0"/>
                  <a:ea typeface="微軟正黑體" pitchFamily="34" charset="-120"/>
                </a:rPr>
                <a:t>A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其餘各三角函數值。</a:t>
              </a:r>
            </a:p>
          </p:txBody>
        </p:sp>
        <p:graphicFrame>
          <p:nvGraphicFramePr>
            <p:cNvPr id="17" name="物件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10821347"/>
                </p:ext>
              </p:extLst>
            </p:nvPr>
          </p:nvGraphicFramePr>
          <p:xfrm>
            <a:off x="2351584" y="1162660"/>
            <a:ext cx="1498600" cy="838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498320" imgH="838080" progId="Equation.DSMT4">
                    <p:embed/>
                  </p:oleObj>
                </mc:Choice>
                <mc:Fallback>
                  <p:oleObj name="Equation" r:id="rId2" imgW="1498320" imgH="838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2351584" y="1162660"/>
                          <a:ext cx="1498600" cy="838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群組 13"/>
          <p:cNvGrpSpPr/>
          <p:nvPr/>
        </p:nvGrpSpPr>
        <p:grpSpPr>
          <a:xfrm>
            <a:off x="551384" y="2132856"/>
            <a:ext cx="10801200" cy="3743477"/>
            <a:chOff x="420394" y="381034"/>
            <a:chExt cx="10801199" cy="3743476"/>
          </a:xfrm>
        </p:grpSpPr>
        <p:grpSp>
          <p:nvGrpSpPr>
            <p:cNvPr id="18" name="群組 17"/>
            <p:cNvGrpSpPr/>
            <p:nvPr/>
          </p:nvGrpSpPr>
          <p:grpSpPr>
            <a:xfrm>
              <a:off x="420394" y="381034"/>
              <a:ext cx="10801199" cy="3743476"/>
              <a:chOff x="624948" y="106713"/>
              <a:chExt cx="10801199" cy="3743476"/>
            </a:xfrm>
          </p:grpSpPr>
          <p:pic>
            <p:nvPicPr>
              <p:cNvPr id="21" name="圖片 20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24948" y="591325"/>
                <a:ext cx="10801199" cy="3258864"/>
              </a:xfrm>
              <a:prstGeom prst="rect">
                <a:avLst/>
              </a:prstGeom>
            </p:spPr>
          </p:pic>
          <p:pic>
            <p:nvPicPr>
              <p:cNvPr id="22" name="圖片 21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24948" y="128050"/>
                <a:ext cx="2751743" cy="463276"/>
              </a:xfrm>
              <a:prstGeom prst="rect">
                <a:avLst/>
              </a:prstGeom>
            </p:spPr>
          </p:pic>
          <p:pic>
            <p:nvPicPr>
              <p:cNvPr id="23" name="圖片 22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14856" y="106713"/>
                <a:ext cx="1501458" cy="502347"/>
              </a:xfrm>
              <a:prstGeom prst="rect">
                <a:avLst/>
              </a:prstGeom>
            </p:spPr>
          </p:pic>
        </p:grpSp>
        <p:sp>
          <p:nvSpPr>
            <p:cNvPr id="20" name="文字方塊 19"/>
            <p:cNvSpPr txBox="1"/>
            <p:nvPr/>
          </p:nvSpPr>
          <p:spPr>
            <a:xfrm>
              <a:off x="910302" y="1173122"/>
              <a:ext cx="10009111" cy="25460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在計算的過程中，</a:t>
              </a:r>
              <a:r>
                <a:rPr lang="en-US" altLang="zh-TW" sz="2800" i="1" spc="300" dirty="0">
                  <a:latin typeface="Times New Roman" pitchFamily="18" charset="0"/>
                  <a:ea typeface="微軟正黑體" pitchFamily="34" charset="-120"/>
                </a:rPr>
                <a:t>k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會被消掉， 有時我們為了方便計算，會將邊長直接寫成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5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、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12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、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13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，但同學應該要知道這些邊長其實是比例關係。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51046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10"/>
          <p:cNvSpPr>
            <a:spLocks noGrp="1"/>
          </p:cNvSpPr>
          <p:nvPr>
            <p:ph sz="quarter" idx="11"/>
          </p:nvPr>
        </p:nvSpPr>
        <p:spPr>
          <a:xfrm>
            <a:off x="1127448" y="6455660"/>
            <a:ext cx="781049" cy="357716"/>
          </a:xfrm>
        </p:spPr>
        <p:txBody>
          <a:bodyPr/>
          <a:lstStyle/>
          <a:p>
            <a:r>
              <a:rPr lang="en-US" altLang="zh-TW" dirty="0"/>
              <a:t>111</a:t>
            </a:r>
            <a:endParaRPr lang="zh-TW" altLang="en-US" dirty="0"/>
          </a:p>
        </p:txBody>
      </p:sp>
      <p:sp>
        <p:nvSpPr>
          <p:cNvPr id="2" name="文字版面配置區 1"/>
          <p:cNvSpPr>
            <a:spLocks noGrp="1"/>
          </p:cNvSpPr>
          <p:nvPr>
            <p:ph type="body" sz="quarter" idx="10"/>
          </p:nvPr>
        </p:nvSpPr>
        <p:spPr>
          <a:xfrm>
            <a:off x="407368" y="452669"/>
            <a:ext cx="1056117" cy="960107"/>
          </a:xfrm>
        </p:spPr>
        <p:txBody>
          <a:bodyPr/>
          <a:lstStyle/>
          <a:p>
            <a:r>
              <a:rPr lang="en-US" altLang="zh-TW" dirty="0"/>
              <a:t>02</a:t>
            </a:r>
            <a:endParaRPr lang="zh-TW" altLang="en-US" dirty="0"/>
          </a:p>
        </p:txBody>
      </p:sp>
      <p:grpSp>
        <p:nvGrpSpPr>
          <p:cNvPr id="5" name="群組 4"/>
          <p:cNvGrpSpPr/>
          <p:nvPr/>
        </p:nvGrpSpPr>
        <p:grpSpPr>
          <a:xfrm>
            <a:off x="1663028" y="508346"/>
            <a:ext cx="9145016" cy="1531540"/>
            <a:chOff x="1663028" y="508346"/>
            <a:chExt cx="9145016" cy="1531540"/>
          </a:xfrm>
        </p:grpSpPr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0AEB0BDB-0556-4992-8128-FCF36117F061}"/>
                </a:ext>
              </a:extLst>
            </p:cNvPr>
            <p:cNvSpPr txBox="1"/>
            <p:nvPr/>
          </p:nvSpPr>
          <p:spPr>
            <a:xfrm>
              <a:off x="1663028" y="508346"/>
              <a:ext cx="9145016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已知直角三角形</a:t>
              </a:r>
              <a:r>
                <a:rPr lang="en-US" altLang="zh-TW" sz="2800" i="1" spc="300" dirty="0">
                  <a:latin typeface="Times New Roman" pitchFamily="18" charset="0"/>
                  <a:ea typeface="微軟正黑體" pitchFamily="34" charset="-120"/>
                </a:rPr>
                <a:t>ABC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中，∠</a:t>
              </a:r>
              <a:r>
                <a:rPr lang="en-US" altLang="zh-TW" sz="2800" i="1" spc="300" dirty="0">
                  <a:latin typeface="Times New Roman" pitchFamily="18" charset="0"/>
                  <a:ea typeface="微軟正黑體" pitchFamily="34" charset="-120"/>
                </a:rPr>
                <a:t>C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 = 90°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，</a:t>
              </a:r>
              <a:endParaRPr lang="en-US" altLang="zh-TW" sz="2800" spc="300" dirty="0">
                <a:latin typeface="Times New Roman" pitchFamily="18" charset="0"/>
                <a:ea typeface="微軟正黑體" pitchFamily="34" charset="-120"/>
              </a:endParaRPr>
            </a:p>
            <a:p>
              <a:pPr>
                <a:lnSpc>
                  <a:spcPct val="150000"/>
                </a:lnSpc>
              </a:pP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且                 ，求∠</a:t>
              </a:r>
              <a:r>
                <a:rPr lang="en-US" altLang="zh-TW" sz="2800" i="1" spc="300" dirty="0">
                  <a:latin typeface="Times New Roman" pitchFamily="18" charset="0"/>
                  <a:ea typeface="微軟正黑體" pitchFamily="34" charset="-120"/>
                </a:rPr>
                <a:t>A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其餘各三角函數值。</a:t>
              </a:r>
            </a:p>
          </p:txBody>
        </p:sp>
        <p:graphicFrame>
          <p:nvGraphicFramePr>
            <p:cNvPr id="4" name="物件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53256680"/>
                </p:ext>
              </p:extLst>
            </p:nvPr>
          </p:nvGraphicFramePr>
          <p:xfrm>
            <a:off x="2495600" y="1201686"/>
            <a:ext cx="1536700" cy="838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536480" imgH="838080" progId="Equation.DSMT4">
                    <p:embed/>
                  </p:oleObj>
                </mc:Choice>
                <mc:Fallback>
                  <p:oleObj name="Equation" r:id="rId2" imgW="1536480" imgH="838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2495600" y="1201686"/>
                          <a:ext cx="1536700" cy="838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C997F1C5-C383-7DFC-62E7-4BE584DE88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344" y="2235762"/>
            <a:ext cx="2111896" cy="3695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Rounded Rectangle 14"/>
          <p:cNvSpPr/>
          <p:nvPr/>
        </p:nvSpPr>
        <p:spPr>
          <a:xfrm>
            <a:off x="6217920" y="3931920"/>
            <a:ext cx="5303520" cy="2468880"/>
          </a:xfrm>
          <a:prstGeom prst="roundRect">
            <a:avLst/>
          </a:prstGeom>
          <a:solidFill>
            <a:srgbClr val="FEFCE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4041648"/>
            <a:ext cx="4974336" cy="22494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B91C1C"/>
                </a:solidFill>
                <a:latin typeface="微軟正黑體"/>
              </a:rPr>
              <a:t>🎯 隨堂練習 2 課堂思考方向：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① 已知 tan A ＝ 3/4，即對邊與鄰邊之比為 3 : 4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② 畢氏定理求斜邊：斜邊 ＝ √(3² + 4²) ＝ 5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③ 依序寫出其餘五個三角函數值</a:t>
            </a:r>
          </a:p>
        </p:txBody>
      </p:sp>
    </p:spTree>
    <p:extLst>
      <p:ext uri="{BB962C8B-B14F-4D97-AF65-F5344CB8AC3E}">
        <p14:creationId xmlns:p14="http://schemas.microsoft.com/office/powerpoint/2010/main" val="867372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/>
          <p:cNvSpPr>
            <a:spLocks noGrp="1"/>
          </p:cNvSpPr>
          <p:nvPr>
            <p:ph type="body" sz="quarter" idx="10"/>
          </p:nvPr>
        </p:nvSpPr>
        <p:spPr>
          <a:xfrm>
            <a:off x="407368" y="452669"/>
            <a:ext cx="1056117" cy="960107"/>
          </a:xfrm>
        </p:spPr>
        <p:txBody>
          <a:bodyPr/>
          <a:lstStyle/>
          <a:p>
            <a:r>
              <a:rPr lang="en-US" altLang="zh-TW" dirty="0"/>
              <a:t>03</a:t>
            </a:r>
            <a:endParaRPr lang="zh-TW" altLang="en-US" dirty="0"/>
          </a:p>
        </p:txBody>
      </p:sp>
      <p:sp>
        <p:nvSpPr>
          <p:cNvPr id="12" name="內容版面配置區 11"/>
          <p:cNvSpPr>
            <a:spLocks noGrp="1"/>
          </p:cNvSpPr>
          <p:nvPr>
            <p:ph sz="quarter" idx="11"/>
          </p:nvPr>
        </p:nvSpPr>
        <p:spPr>
          <a:xfrm>
            <a:off x="1127448" y="6455660"/>
            <a:ext cx="781049" cy="357716"/>
          </a:xfrm>
        </p:spPr>
        <p:txBody>
          <a:bodyPr/>
          <a:lstStyle/>
          <a:p>
            <a:r>
              <a:rPr lang="en-US" altLang="zh-TW" dirty="0"/>
              <a:t>112</a:t>
            </a:r>
            <a:endParaRPr lang="zh-TW" altLang="en-US" dirty="0"/>
          </a:p>
        </p:txBody>
      </p:sp>
      <p:grpSp>
        <p:nvGrpSpPr>
          <p:cNvPr id="4" name="群組 3"/>
          <p:cNvGrpSpPr/>
          <p:nvPr/>
        </p:nvGrpSpPr>
        <p:grpSpPr>
          <a:xfrm>
            <a:off x="1850622" y="116632"/>
            <a:ext cx="9573970" cy="1684244"/>
            <a:chOff x="1850622" y="116632"/>
            <a:chExt cx="9573970" cy="1684244"/>
          </a:xfrm>
        </p:grpSpPr>
        <p:sp>
          <p:nvSpPr>
            <p:cNvPr id="21" name="文字方塊 20"/>
            <p:cNvSpPr txBox="1"/>
            <p:nvPr/>
          </p:nvSpPr>
          <p:spPr>
            <a:xfrm>
              <a:off x="1850622" y="116632"/>
              <a:ext cx="9573970" cy="16842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直角三角形</a:t>
              </a:r>
              <a:r>
                <a:rPr lang="en-US" altLang="zh-TW" sz="2800" i="1" spc="300" dirty="0">
                  <a:latin typeface="Times New Roman" pitchFamily="18" charset="0"/>
                  <a:ea typeface="微軟正黑體" pitchFamily="34" charset="-120"/>
                </a:rPr>
                <a:t>ABC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中，∠</a:t>
              </a:r>
              <a:r>
                <a:rPr lang="en-US" altLang="zh-TW" sz="2800" i="1" spc="300" dirty="0">
                  <a:latin typeface="Times New Roman" pitchFamily="18" charset="0"/>
                  <a:ea typeface="微軟正黑體" pitchFamily="34" charset="-120"/>
                </a:rPr>
                <a:t>C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為直角，且</a:t>
              </a:r>
              <a:endParaRPr lang="en-US" altLang="zh-TW" sz="2800" spc="300" dirty="0">
                <a:latin typeface="Times New Roman" pitchFamily="18" charset="0"/>
                <a:ea typeface="微軟正黑體" pitchFamily="34" charset="-120"/>
              </a:endParaRPr>
            </a:p>
            <a:p>
              <a:pPr>
                <a:lnSpc>
                  <a:spcPct val="200000"/>
                </a:lnSpc>
              </a:pP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若              ，求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cos </a:t>
              </a:r>
              <a:r>
                <a:rPr lang="en-US" altLang="zh-TW" sz="2800" i="1" spc="300" dirty="0">
                  <a:latin typeface="Times New Roman" pitchFamily="18" charset="0"/>
                  <a:ea typeface="微軟正黑體" pitchFamily="34" charset="-120"/>
                </a:rPr>
                <a:t>A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、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tan </a:t>
              </a:r>
              <a:r>
                <a:rPr lang="en-US" altLang="zh-TW" sz="2800" i="1" spc="300" dirty="0">
                  <a:latin typeface="Times New Roman" pitchFamily="18" charset="0"/>
                  <a:ea typeface="微軟正黑體" pitchFamily="34" charset="-120"/>
                </a:rPr>
                <a:t>A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、    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與       之長。</a:t>
              </a:r>
            </a:p>
          </p:txBody>
        </p:sp>
        <p:graphicFrame>
          <p:nvGraphicFramePr>
            <p:cNvPr id="3" name="物件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15245730"/>
                </p:ext>
              </p:extLst>
            </p:nvPr>
          </p:nvGraphicFramePr>
          <p:xfrm>
            <a:off x="8596313" y="236538"/>
            <a:ext cx="1320800" cy="838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320480" imgH="838080" progId="Equation.DSMT4">
                    <p:embed/>
                  </p:oleObj>
                </mc:Choice>
                <mc:Fallback>
                  <p:oleObj name="Equation" r:id="rId2" imgW="1320480" imgH="838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8596313" y="236538"/>
                          <a:ext cx="1320800" cy="838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物件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17452122"/>
                </p:ext>
              </p:extLst>
            </p:nvPr>
          </p:nvGraphicFramePr>
          <p:xfrm>
            <a:off x="2567608" y="1309688"/>
            <a:ext cx="11684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168200" imgH="406080" progId="Equation.DSMT4">
                    <p:embed/>
                  </p:oleObj>
                </mc:Choice>
                <mc:Fallback>
                  <p:oleObj name="Equation" r:id="rId4" imgW="1168200" imgH="406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2567608" y="1309688"/>
                          <a:ext cx="11684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物件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18598069"/>
                </p:ext>
              </p:extLst>
            </p:nvPr>
          </p:nvGraphicFramePr>
          <p:xfrm>
            <a:off x="7532266" y="1340768"/>
            <a:ext cx="5207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520560" imgH="406080" progId="Equation.DSMT4">
                    <p:embed/>
                  </p:oleObj>
                </mc:Choice>
                <mc:Fallback>
                  <p:oleObj name="Equation" r:id="rId6" imgW="520560" imgH="406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7532266" y="1340768"/>
                          <a:ext cx="5207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物件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151738"/>
                </p:ext>
              </p:extLst>
            </p:nvPr>
          </p:nvGraphicFramePr>
          <p:xfrm>
            <a:off x="8671546" y="1341438"/>
            <a:ext cx="5461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545760" imgH="406080" progId="Equation.DSMT4">
                    <p:embed/>
                  </p:oleObj>
                </mc:Choice>
                <mc:Fallback>
                  <p:oleObj name="Equation" r:id="rId8" imgW="545760" imgH="406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8671546" y="1341438"/>
                          <a:ext cx="5461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9" name="圖片 8">
            <a:extLst>
              <a:ext uri="{FF2B5EF4-FFF2-40B4-BE49-F238E27FC236}">
                <a16:creationId xmlns:a16="http://schemas.microsoft.com/office/drawing/2014/main" id="{96C6C415-7C29-992C-3FBA-7FD51520B21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96200" y="2256913"/>
            <a:ext cx="3615241" cy="3718882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6217920" y="3931920"/>
            <a:ext cx="5303520" cy="2468880"/>
          </a:xfrm>
          <a:prstGeom prst="roundRect">
            <a:avLst/>
          </a:prstGeom>
          <a:solidFill>
            <a:srgbClr val="FEFCE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4041648"/>
            <a:ext cx="4974336" cy="22494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B91C1C"/>
                </a:solidFill>
                <a:latin typeface="微軟正黑體"/>
              </a:rPr>
              <a:t>🎯 例題 3 課堂思考方向（多直角三角形邊長求解）：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① 尋找關鍵共用邊：連接兩個直角三角形的橋樑是哪一個線段？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② 第一步求解：在已知條件較多的三角形中，利用三角比求出共用邊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③ 第二步推進：將共用邊代入第二個直角三角形，求解未知目標邊長</a:t>
            </a:r>
          </a:p>
        </p:txBody>
      </p:sp>
    </p:spTree>
    <p:extLst>
      <p:ext uri="{BB962C8B-B14F-4D97-AF65-F5344CB8AC3E}">
        <p14:creationId xmlns:p14="http://schemas.microsoft.com/office/powerpoint/2010/main" val="1157737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10"/>
          <p:cNvSpPr>
            <a:spLocks noGrp="1"/>
          </p:cNvSpPr>
          <p:nvPr>
            <p:ph sz="quarter" idx="11"/>
          </p:nvPr>
        </p:nvSpPr>
        <p:spPr>
          <a:xfrm>
            <a:off x="1127448" y="6455660"/>
            <a:ext cx="781049" cy="357716"/>
          </a:xfrm>
        </p:spPr>
        <p:txBody>
          <a:bodyPr/>
          <a:lstStyle/>
          <a:p>
            <a:r>
              <a:rPr lang="en-US" altLang="zh-TW" dirty="0"/>
              <a:t>112</a:t>
            </a:r>
            <a:endParaRPr lang="zh-TW" altLang="en-US" dirty="0"/>
          </a:p>
        </p:txBody>
      </p:sp>
      <p:sp>
        <p:nvSpPr>
          <p:cNvPr id="2" name="文字版面配置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03</a:t>
            </a:r>
            <a:endParaRPr lang="zh-TW" altLang="en-US" dirty="0"/>
          </a:p>
        </p:txBody>
      </p:sp>
      <p:grpSp>
        <p:nvGrpSpPr>
          <p:cNvPr id="9" name="群組 8"/>
          <p:cNvGrpSpPr/>
          <p:nvPr/>
        </p:nvGrpSpPr>
        <p:grpSpPr>
          <a:xfrm>
            <a:off x="1703512" y="90600"/>
            <a:ext cx="9823045" cy="1684244"/>
            <a:chOff x="1889578" y="100950"/>
            <a:chExt cx="9823045" cy="1684244"/>
          </a:xfrm>
        </p:grpSpPr>
        <p:graphicFrame>
          <p:nvGraphicFramePr>
            <p:cNvPr id="6" name="物件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67958235"/>
                </p:ext>
              </p:extLst>
            </p:nvPr>
          </p:nvGraphicFramePr>
          <p:xfrm>
            <a:off x="2495600" y="1268760"/>
            <a:ext cx="12573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257120" imgH="406080" progId="Equation.DSMT4">
                    <p:embed/>
                  </p:oleObj>
                </mc:Choice>
                <mc:Fallback>
                  <p:oleObj name="Equation" r:id="rId2" imgW="1257120" imgH="406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2495600" y="1268760"/>
                          <a:ext cx="12573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" name="群組 3"/>
            <p:cNvGrpSpPr/>
            <p:nvPr/>
          </p:nvGrpSpPr>
          <p:grpSpPr>
            <a:xfrm>
              <a:off x="1889578" y="100950"/>
              <a:ext cx="9823045" cy="1684244"/>
              <a:chOff x="1889578" y="100950"/>
              <a:chExt cx="9823045" cy="1684244"/>
            </a:xfrm>
          </p:grpSpPr>
          <p:sp>
            <p:nvSpPr>
              <p:cNvPr id="28" name="文字方塊 27"/>
              <p:cNvSpPr txBox="1"/>
              <p:nvPr/>
            </p:nvSpPr>
            <p:spPr>
              <a:xfrm>
                <a:off x="1889578" y="100950"/>
                <a:ext cx="9823045" cy="16842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zh-TW" altLang="en-US" sz="2800" spc="300" dirty="0">
                    <a:latin typeface="Times New Roman" pitchFamily="18" charset="0"/>
                    <a:ea typeface="微軟正黑體" pitchFamily="34" charset="-120"/>
                  </a:rPr>
                  <a:t>直角三角形</a:t>
                </a:r>
                <a:r>
                  <a:rPr lang="en-US" altLang="zh-TW" sz="2800" i="1" spc="300" dirty="0">
                    <a:latin typeface="Times New Roman" pitchFamily="18" charset="0"/>
                    <a:ea typeface="微軟正黑體" pitchFamily="34" charset="-120"/>
                  </a:rPr>
                  <a:t>ABC</a:t>
                </a:r>
                <a:r>
                  <a:rPr lang="zh-TW" altLang="en-US" sz="2800" spc="300" dirty="0">
                    <a:latin typeface="Times New Roman" pitchFamily="18" charset="0"/>
                    <a:ea typeface="微軟正黑體" pitchFamily="34" charset="-120"/>
                  </a:rPr>
                  <a:t>中，</a:t>
                </a:r>
                <a:r>
                  <a:rPr lang="en-US" altLang="zh-TW" sz="2800" spc="300" dirty="0">
                    <a:latin typeface="Times New Roman" pitchFamily="18" charset="0"/>
                    <a:ea typeface="微軟正黑體" pitchFamily="34" charset="-120"/>
                  </a:rPr>
                  <a:t>∠ </a:t>
                </a:r>
                <a:r>
                  <a:rPr lang="en-US" altLang="zh-TW" sz="2800" i="1" spc="300" dirty="0">
                    <a:latin typeface="Times New Roman" pitchFamily="18" charset="0"/>
                    <a:ea typeface="微軟正黑體" pitchFamily="34" charset="-120"/>
                  </a:rPr>
                  <a:t>C</a:t>
                </a:r>
                <a:r>
                  <a:rPr lang="en-US" altLang="zh-TW" sz="2800" spc="300" dirty="0">
                    <a:latin typeface="Times New Roman" pitchFamily="18" charset="0"/>
                    <a:ea typeface="微軟正黑體" pitchFamily="34" charset="-120"/>
                  </a:rPr>
                  <a:t> = 90°</a:t>
                </a:r>
                <a:r>
                  <a:rPr lang="zh-TW" altLang="en-US" sz="2800" spc="300" dirty="0">
                    <a:latin typeface="Times New Roman" pitchFamily="18" charset="0"/>
                    <a:ea typeface="微軟正黑體" pitchFamily="34" charset="-120"/>
                  </a:rPr>
                  <a:t>，且                 ，</a:t>
                </a:r>
                <a:br>
                  <a:rPr lang="en-US" altLang="zh-TW" sz="2800" spc="300" dirty="0">
                    <a:latin typeface="Times New Roman" pitchFamily="18" charset="0"/>
                    <a:ea typeface="微軟正黑體" pitchFamily="34" charset="-120"/>
                  </a:rPr>
                </a:br>
                <a:r>
                  <a:rPr lang="zh-TW" altLang="en-US" sz="2800" spc="300" dirty="0">
                    <a:latin typeface="Times New Roman" pitchFamily="18" charset="0"/>
                    <a:ea typeface="微軟正黑體" pitchFamily="34" charset="-120"/>
                  </a:rPr>
                  <a:t>若             ，求 </a:t>
                </a:r>
                <a:r>
                  <a:rPr lang="en-US" altLang="zh-TW" sz="2800" spc="300" dirty="0">
                    <a:latin typeface="Times New Roman" pitchFamily="18" charset="0"/>
                    <a:ea typeface="微軟正黑體" pitchFamily="34" charset="-120"/>
                  </a:rPr>
                  <a:t>tan </a:t>
                </a:r>
                <a:r>
                  <a:rPr lang="en-US" altLang="zh-TW" sz="2800" i="1" spc="300" dirty="0">
                    <a:latin typeface="Times New Roman" pitchFamily="18" charset="0"/>
                    <a:ea typeface="微軟正黑體" pitchFamily="34" charset="-120"/>
                  </a:rPr>
                  <a:t>A</a:t>
                </a:r>
                <a:r>
                  <a:rPr lang="zh-TW" altLang="en-US" sz="2800" spc="300" dirty="0">
                    <a:latin typeface="Times New Roman" pitchFamily="18" charset="0"/>
                    <a:ea typeface="微軟正黑體" pitchFamily="34" charset="-120"/>
                  </a:rPr>
                  <a:t>、</a:t>
                </a:r>
                <a:r>
                  <a:rPr lang="en-US" altLang="zh-TW" sz="2800" spc="300" dirty="0">
                    <a:latin typeface="Times New Roman" pitchFamily="18" charset="0"/>
                    <a:ea typeface="微軟正黑體" pitchFamily="34" charset="-120"/>
                  </a:rPr>
                  <a:t>sec </a:t>
                </a:r>
                <a:r>
                  <a:rPr lang="en-US" altLang="zh-TW" sz="2800" i="1" spc="300" dirty="0">
                    <a:latin typeface="Times New Roman" pitchFamily="18" charset="0"/>
                    <a:ea typeface="微軟正黑體" pitchFamily="34" charset="-120"/>
                  </a:rPr>
                  <a:t>A</a:t>
                </a:r>
                <a:r>
                  <a:rPr lang="zh-TW" altLang="en-US" sz="2800" i="1" spc="300" dirty="0">
                    <a:latin typeface="Times New Roman" pitchFamily="18" charset="0"/>
                    <a:ea typeface="微軟正黑體" pitchFamily="34" charset="-120"/>
                  </a:rPr>
                  <a:t> </a:t>
                </a:r>
                <a:r>
                  <a:rPr lang="zh-TW" altLang="en-US" sz="2800" spc="300" dirty="0">
                    <a:latin typeface="Times New Roman" pitchFamily="18" charset="0"/>
                    <a:ea typeface="微軟正黑體" pitchFamily="34" charset="-120"/>
                  </a:rPr>
                  <a:t>、      與      之長。</a:t>
                </a:r>
              </a:p>
            </p:txBody>
          </p:sp>
          <p:graphicFrame>
            <p:nvGraphicFramePr>
              <p:cNvPr id="3" name="物件 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78073233"/>
                  </p:ext>
                </p:extLst>
              </p:nvPr>
            </p:nvGraphicFramePr>
            <p:xfrm>
              <a:off x="8472264" y="260648"/>
              <a:ext cx="1498600" cy="838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1498320" imgH="838080" progId="Equation.DSMT4">
                      <p:embed/>
                    </p:oleObj>
                  </mc:Choice>
                  <mc:Fallback>
                    <p:oleObj name="Equation" r:id="rId4" imgW="1498320" imgH="8380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5"/>
                          <a:stretch>
                            <a:fillRect/>
                          </a:stretch>
                        </p:blipFill>
                        <p:spPr>
                          <a:xfrm>
                            <a:off x="8472264" y="260648"/>
                            <a:ext cx="1498600" cy="8382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" name="物件 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01019680"/>
                  </p:ext>
                </p:extLst>
              </p:nvPr>
            </p:nvGraphicFramePr>
            <p:xfrm>
              <a:off x="7896200" y="1275110"/>
              <a:ext cx="508000" cy="3937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" imgW="507960" imgH="393480" progId="Equation.DSMT4">
                      <p:embed/>
                    </p:oleObj>
                  </mc:Choice>
                  <mc:Fallback>
                    <p:oleObj name="Equation" r:id="rId6" imgW="507960" imgH="3934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7896200" y="1275110"/>
                            <a:ext cx="508000" cy="3937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" name="物件 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38129363"/>
                  </p:ext>
                </p:extLst>
              </p:nvPr>
            </p:nvGraphicFramePr>
            <p:xfrm>
              <a:off x="9042523" y="1268760"/>
              <a:ext cx="520700" cy="4064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8" imgW="520560" imgH="406080" progId="Equation.DSMT4">
                      <p:embed/>
                    </p:oleObj>
                  </mc:Choice>
                  <mc:Fallback>
                    <p:oleObj name="Equation" r:id="rId8" imgW="520560" imgH="4060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9042523" y="1268760"/>
                            <a:ext cx="520700" cy="4064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pic>
        <p:nvPicPr>
          <p:cNvPr id="5" name="圖片 4">
            <a:extLst>
              <a:ext uri="{FF2B5EF4-FFF2-40B4-BE49-F238E27FC236}">
                <a16:creationId xmlns:a16="http://schemas.microsoft.com/office/drawing/2014/main" id="{97AD69DE-F1C8-8B5C-4C55-9785006C194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8677" y="2564904"/>
            <a:ext cx="2391109" cy="3248478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6217920" y="3931920"/>
            <a:ext cx="5303520" cy="2468880"/>
          </a:xfrm>
          <a:prstGeom prst="roundRect">
            <a:avLst/>
          </a:prstGeom>
          <a:solidFill>
            <a:srgbClr val="FEFCE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82512" y="4041648"/>
            <a:ext cx="4974336" cy="22494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B91C1C"/>
                </a:solidFill>
                <a:latin typeface="微軟正黑體"/>
              </a:rPr>
              <a:t>🎯 隨堂練習 3 課堂思考方向：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① 依圖形標示已知邊長與特殊角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② 利用共用邊進行線段長度換算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③ 求出未知目標線段長度</a:t>
            </a:r>
          </a:p>
        </p:txBody>
      </p:sp>
    </p:spTree>
    <p:extLst>
      <p:ext uri="{BB962C8B-B14F-4D97-AF65-F5344CB8AC3E}">
        <p14:creationId xmlns:p14="http://schemas.microsoft.com/office/powerpoint/2010/main" val="3425920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3"/>
          <p:cNvSpPr>
            <a:spLocks noGrp="1"/>
          </p:cNvSpPr>
          <p:nvPr>
            <p:ph type="body" sz="quarter" idx="11"/>
          </p:nvPr>
        </p:nvSpPr>
        <p:spPr>
          <a:xfrm>
            <a:off x="1703512" y="3813047"/>
            <a:ext cx="6120680" cy="697839"/>
          </a:xfrm>
        </p:spPr>
        <p:txBody>
          <a:bodyPr/>
          <a:lstStyle/>
          <a:p>
            <a:r>
              <a:rPr lang="en-US" altLang="zh-TW" dirty="0"/>
              <a:t>2</a:t>
            </a:r>
            <a:r>
              <a:rPr lang="en-US" altLang="zh-TW" spc="300" dirty="0"/>
              <a:t>-2.2</a:t>
            </a:r>
            <a:r>
              <a:rPr lang="zh-TW" altLang="en-US" dirty="0"/>
              <a:t>特別角的三角函數值</a:t>
            </a:r>
          </a:p>
        </p:txBody>
      </p:sp>
    </p:spTree>
    <p:extLst>
      <p:ext uri="{BB962C8B-B14F-4D97-AF65-F5344CB8AC3E}">
        <p14:creationId xmlns:p14="http://schemas.microsoft.com/office/powerpoint/2010/main" val="11812745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/>
          <p:cNvSpPr txBox="1"/>
          <p:nvPr/>
        </p:nvSpPr>
        <p:spPr>
          <a:xfrm>
            <a:off x="1517650" y="1029136"/>
            <a:ext cx="781871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000" b="1" dirty="0">
                <a:latin typeface="微軟正黑體" pitchFamily="34" charset="-120"/>
                <a:ea typeface="微軟正黑體" pitchFamily="34" charset="-120"/>
              </a:rPr>
              <a:t>2-2.2</a:t>
            </a:r>
            <a:r>
              <a:rPr lang="zh-TW" altLang="en-US" sz="3000" b="1" dirty="0">
                <a:latin typeface="微軟正黑體" pitchFamily="34" charset="-120"/>
                <a:ea typeface="微軟正黑體" pitchFamily="34" charset="-120"/>
              </a:rPr>
              <a:t>特別角的三角函數值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>
          <a:xfrm>
            <a:off x="1127448" y="6455660"/>
            <a:ext cx="781049" cy="357716"/>
          </a:xfrm>
        </p:spPr>
        <p:txBody>
          <a:bodyPr/>
          <a:lstStyle/>
          <a:p>
            <a:r>
              <a:rPr lang="en-US" altLang="zh-TW" dirty="0"/>
              <a:t>113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959042" y="1764099"/>
            <a:ext cx="1029714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三角函數常應用於物理及工程上，其中常見的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30°</a:t>
            </a: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、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45°</a:t>
            </a: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、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60°</a:t>
            </a: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，</a:t>
            </a:r>
            <a:br>
              <a:rPr lang="en-US" altLang="zh-TW" sz="2800" dirty="0">
                <a:latin typeface="Times New Roman" pitchFamily="18" charset="0"/>
                <a:ea typeface="微軟正黑體" pitchFamily="34" charset="-120"/>
              </a:rPr>
            </a:b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我們稱為特別角。</a:t>
            </a:r>
          </a:p>
          <a:p>
            <a:pPr>
              <a:lnSpc>
                <a:spcPct val="200000"/>
              </a:lnSpc>
            </a:pP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在這一小節的開始， 我們曾經將邊長為 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2 </a:t>
            </a: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的正三角形對折， 可以得到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30°-60°-90° </a:t>
            </a: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的直角三角形三個邊長關係，如下圖所示。可得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30° </a:t>
            </a: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與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60° </a:t>
            </a: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的六個三角函數值：</a:t>
            </a:r>
          </a:p>
        </p:txBody>
      </p:sp>
    </p:spTree>
    <p:extLst>
      <p:ext uri="{BB962C8B-B14F-4D97-AF65-F5344CB8AC3E}">
        <p14:creationId xmlns:p14="http://schemas.microsoft.com/office/powerpoint/2010/main" val="446466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TW" dirty="0"/>
              <a:t>113</a:t>
            </a:r>
            <a:endParaRPr lang="zh-TW" altLang="en-US" dirty="0"/>
          </a:p>
        </p:txBody>
      </p:sp>
      <p:grpSp>
        <p:nvGrpSpPr>
          <p:cNvPr id="5" name="群組 4"/>
          <p:cNvGrpSpPr/>
          <p:nvPr/>
        </p:nvGrpSpPr>
        <p:grpSpPr>
          <a:xfrm>
            <a:off x="767408" y="1617886"/>
            <a:ext cx="10806711" cy="3622228"/>
            <a:chOff x="767408" y="1988840"/>
            <a:chExt cx="10806711" cy="3622228"/>
          </a:xfrm>
        </p:grpSpPr>
        <p:graphicFrame>
          <p:nvGraphicFramePr>
            <p:cNvPr id="2" name="物件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88217833"/>
                </p:ext>
              </p:extLst>
            </p:nvPr>
          </p:nvGraphicFramePr>
          <p:xfrm>
            <a:off x="767408" y="2420888"/>
            <a:ext cx="4292600" cy="292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4292280" imgH="2920680" progId="Equation.DSMT4">
                    <p:embed/>
                  </p:oleObj>
                </mc:Choice>
                <mc:Fallback>
                  <p:oleObj name="Equation" r:id="rId2" imgW="4292280" imgH="29206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767408" y="2420888"/>
                          <a:ext cx="4292600" cy="292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167938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35960" y="2420888"/>
              <a:ext cx="3380391" cy="30529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67939" name="Picture 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17190" y="1988840"/>
              <a:ext cx="2356929" cy="36222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97802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TW" dirty="0"/>
              <a:t>113</a:t>
            </a:r>
            <a:endParaRPr lang="zh-TW" altLang="en-US" dirty="0"/>
          </a:p>
        </p:txBody>
      </p:sp>
      <p:grpSp>
        <p:nvGrpSpPr>
          <p:cNvPr id="5" name="群組 4"/>
          <p:cNvGrpSpPr/>
          <p:nvPr/>
        </p:nvGrpSpPr>
        <p:grpSpPr>
          <a:xfrm>
            <a:off x="376238" y="1617886"/>
            <a:ext cx="11197881" cy="3622228"/>
            <a:chOff x="376238" y="1988840"/>
            <a:chExt cx="11197881" cy="3622228"/>
          </a:xfrm>
        </p:grpSpPr>
        <p:graphicFrame>
          <p:nvGraphicFramePr>
            <p:cNvPr id="2" name="物件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12480563"/>
                </p:ext>
              </p:extLst>
            </p:nvPr>
          </p:nvGraphicFramePr>
          <p:xfrm>
            <a:off x="376238" y="2574925"/>
            <a:ext cx="5346700" cy="292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5346360" imgH="2920680" progId="Equation.DSMT4">
                    <p:embed/>
                  </p:oleObj>
                </mc:Choice>
                <mc:Fallback>
                  <p:oleObj name="Equation" r:id="rId2" imgW="5346360" imgH="29206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376238" y="2574925"/>
                          <a:ext cx="5346700" cy="292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167938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35960" y="2420888"/>
              <a:ext cx="3380391" cy="30529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67939" name="Picture 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17190" y="1988840"/>
              <a:ext cx="2356929" cy="36222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839249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TW" dirty="0"/>
              <a:t>113</a:t>
            </a:r>
            <a:endParaRPr lang="zh-TW" altLang="en-US" dirty="0"/>
          </a:p>
        </p:txBody>
      </p:sp>
      <p:grpSp>
        <p:nvGrpSpPr>
          <p:cNvPr id="5" name="群組 4"/>
          <p:cNvGrpSpPr/>
          <p:nvPr/>
        </p:nvGrpSpPr>
        <p:grpSpPr>
          <a:xfrm>
            <a:off x="767408" y="1628800"/>
            <a:ext cx="10886291" cy="3600400"/>
            <a:chOff x="959042" y="1988840"/>
            <a:chExt cx="10886291" cy="3600400"/>
          </a:xfrm>
        </p:grpSpPr>
        <p:pic>
          <p:nvPicPr>
            <p:cNvPr id="168962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48328" y="1988840"/>
              <a:ext cx="2797005" cy="3600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" name="文字方塊 6"/>
            <p:cNvSpPr txBox="1"/>
            <p:nvPr/>
          </p:nvSpPr>
          <p:spPr>
            <a:xfrm>
              <a:off x="959042" y="2348880"/>
              <a:ext cx="10297144" cy="25460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zh-TW" altLang="en-US" sz="2800" dirty="0">
                  <a:latin typeface="Times New Roman" pitchFamily="18" charset="0"/>
                  <a:ea typeface="微軟正黑體" pitchFamily="34" charset="-120"/>
                </a:rPr>
                <a:t>此外，在常見的等腰直角三角形中，若兩股長皆為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1</a:t>
              </a:r>
              <a:r>
                <a:rPr lang="zh-TW" altLang="en-US" sz="2800" dirty="0">
                  <a:latin typeface="Times New Roman" pitchFamily="18" charset="0"/>
                  <a:ea typeface="微軟正黑體" pitchFamily="34" charset="-120"/>
                </a:rPr>
                <a:t>，</a:t>
              </a:r>
              <a:b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</a:br>
              <a:r>
                <a:rPr lang="zh-TW" altLang="en-US" sz="2800" dirty="0">
                  <a:latin typeface="Times New Roman" pitchFamily="18" charset="0"/>
                  <a:ea typeface="微軟正黑體" pitchFamily="34" charset="-120"/>
                </a:rPr>
                <a:t>根據畢氏定理可得斜邊                                  。</a:t>
              </a:r>
              <a:endParaRPr lang="en-US" altLang="zh-TW" sz="2800" dirty="0">
                <a:latin typeface="Times New Roman" pitchFamily="18" charset="0"/>
                <a:ea typeface="微軟正黑體" pitchFamily="34" charset="-120"/>
              </a:endParaRPr>
            </a:p>
            <a:p>
              <a:pPr>
                <a:lnSpc>
                  <a:spcPct val="200000"/>
                </a:lnSpc>
              </a:pPr>
              <a:r>
                <a:rPr lang="zh-TW" altLang="en-US" sz="2800" dirty="0">
                  <a:latin typeface="Times New Roman" pitchFamily="18" charset="0"/>
                  <a:ea typeface="微軟正黑體" pitchFamily="34" charset="-120"/>
                </a:rPr>
                <a:t>此時由下圖，可推得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45° </a:t>
              </a:r>
              <a:r>
                <a:rPr lang="zh-TW" altLang="en-US" sz="2800" dirty="0">
                  <a:latin typeface="Times New Roman" pitchFamily="18" charset="0"/>
                  <a:ea typeface="微軟正黑體" pitchFamily="34" charset="-120"/>
                </a:rPr>
                <a:t>的六個三角函數值：</a:t>
              </a:r>
            </a:p>
          </p:txBody>
        </p:sp>
        <p:graphicFrame>
          <p:nvGraphicFramePr>
            <p:cNvPr id="2" name="物件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90378494"/>
                </p:ext>
              </p:extLst>
            </p:nvPr>
          </p:nvGraphicFramePr>
          <p:xfrm>
            <a:off x="4843964" y="3429000"/>
            <a:ext cx="2527300" cy="546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2527200" imgH="545760" progId="Equation.DSMT4">
                    <p:embed/>
                  </p:oleObj>
                </mc:Choice>
                <mc:Fallback>
                  <p:oleObj name="Equation" r:id="rId3" imgW="2527200" imgH="5457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843964" y="3429000"/>
                          <a:ext cx="2527300" cy="546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034807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TW" dirty="0"/>
              <a:t>113</a:t>
            </a:r>
            <a:endParaRPr lang="zh-TW" altLang="en-US" dirty="0"/>
          </a:p>
        </p:txBody>
      </p:sp>
      <p:grpSp>
        <p:nvGrpSpPr>
          <p:cNvPr id="8" name="群組 7"/>
          <p:cNvGrpSpPr/>
          <p:nvPr/>
        </p:nvGrpSpPr>
        <p:grpSpPr>
          <a:xfrm>
            <a:off x="1145107" y="1196752"/>
            <a:ext cx="10412194" cy="4990767"/>
            <a:chOff x="1145107" y="1196752"/>
            <a:chExt cx="10412194" cy="4990767"/>
          </a:xfrm>
        </p:grpSpPr>
        <p:pic>
          <p:nvPicPr>
            <p:cNvPr id="168962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80176" y="1196752"/>
              <a:ext cx="3877125" cy="49907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aphicFrame>
          <p:nvGraphicFramePr>
            <p:cNvPr id="6" name="物件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96202383"/>
                </p:ext>
              </p:extLst>
            </p:nvPr>
          </p:nvGraphicFramePr>
          <p:xfrm>
            <a:off x="1145107" y="2447535"/>
            <a:ext cx="5168900" cy="2489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5168880" imgH="2489040" progId="Equation.DSMT4">
                    <p:embed/>
                  </p:oleObj>
                </mc:Choice>
                <mc:Fallback>
                  <p:oleObj name="Equation" r:id="rId3" imgW="5168880" imgH="2489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145107" y="2447535"/>
                          <a:ext cx="5168900" cy="2489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186096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TW" dirty="0"/>
              <a:t>113</a:t>
            </a:r>
            <a:endParaRPr lang="zh-TW" alt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1517972" y="2521059"/>
            <a:ext cx="9042524" cy="16842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我們將常用的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30°</a:t>
            </a: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、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45°</a:t>
            </a: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、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60° </a:t>
            </a: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的三角函數值整理如下表，</a:t>
            </a:r>
            <a:br>
              <a:rPr lang="en-US" altLang="zh-TW" sz="2800" dirty="0">
                <a:latin typeface="Times New Roman" pitchFamily="18" charset="0"/>
                <a:ea typeface="微軟正黑體" pitchFamily="34" charset="-120"/>
              </a:rPr>
            </a:b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方便同學記憶與使用：</a:t>
            </a:r>
          </a:p>
        </p:txBody>
      </p:sp>
    </p:spTree>
    <p:extLst>
      <p:ext uri="{BB962C8B-B14F-4D97-AF65-F5344CB8AC3E}">
        <p14:creationId xmlns:p14="http://schemas.microsoft.com/office/powerpoint/2010/main" val="1331521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TW" dirty="0"/>
              <a:t>114</a:t>
            </a:r>
            <a:endParaRPr lang="zh-TW" altLang="en-US" dirty="0"/>
          </a:p>
        </p:txBody>
      </p:sp>
      <p:pic>
        <p:nvPicPr>
          <p:cNvPr id="1699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713" y="548680"/>
            <a:ext cx="11058574" cy="5760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41075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9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/>
          <p:cNvSpPr>
            <a:spLocks noGrp="1"/>
          </p:cNvSpPr>
          <p:nvPr>
            <p:ph type="body" sz="quarter" idx="10"/>
          </p:nvPr>
        </p:nvSpPr>
        <p:spPr>
          <a:xfrm>
            <a:off x="407368" y="452669"/>
            <a:ext cx="1056117" cy="960107"/>
          </a:xfrm>
        </p:spPr>
        <p:txBody>
          <a:bodyPr/>
          <a:lstStyle/>
          <a:p>
            <a:r>
              <a:rPr lang="en-US" altLang="zh-TW" dirty="0"/>
              <a:t>04</a:t>
            </a:r>
            <a:endParaRPr lang="zh-TW" altLang="en-US" dirty="0"/>
          </a:p>
        </p:txBody>
      </p:sp>
      <p:sp>
        <p:nvSpPr>
          <p:cNvPr id="12" name="內容版面配置區 11"/>
          <p:cNvSpPr>
            <a:spLocks noGrp="1"/>
          </p:cNvSpPr>
          <p:nvPr>
            <p:ph sz="quarter" idx="11"/>
          </p:nvPr>
        </p:nvSpPr>
        <p:spPr>
          <a:xfrm>
            <a:off x="1127448" y="6455660"/>
            <a:ext cx="781049" cy="357716"/>
          </a:xfrm>
        </p:spPr>
        <p:txBody>
          <a:bodyPr/>
          <a:lstStyle/>
          <a:p>
            <a:r>
              <a:rPr lang="en-US" altLang="zh-TW" dirty="0"/>
              <a:t>114</a:t>
            </a:r>
            <a:endParaRPr lang="zh-TW" altLang="en-US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1788622" y="404664"/>
            <a:ext cx="7187697" cy="1953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試求下列各式之值：</a:t>
            </a:r>
          </a:p>
          <a:p>
            <a:pPr>
              <a:lnSpc>
                <a:spcPct val="150000"/>
              </a:lnSpc>
            </a:pP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(1) sin 30° - cos 60° + tan 45°</a:t>
            </a:r>
          </a:p>
          <a:p>
            <a:pPr>
              <a:lnSpc>
                <a:spcPct val="150000"/>
              </a:lnSpc>
            </a:pP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(2) 2 sin2 45° + cot 30° </a:t>
            </a:r>
            <a:r>
              <a:rPr lang="en-US" altLang="zh-TW" sz="2800" dirty="0" err="1">
                <a:latin typeface="Times New Roman" pitchFamily="18" charset="0"/>
                <a:ea typeface="微軟正黑體" pitchFamily="34" charset="-120"/>
              </a:rPr>
              <a:t>csc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 60°</a:t>
            </a:r>
            <a:endParaRPr lang="zh-TW" altLang="en-US" sz="2800" dirty="0">
              <a:latin typeface="Times New Roman" pitchFamily="18" charset="0"/>
              <a:ea typeface="微軟正黑體" pitchFamily="34" charset="-12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217920" y="3931920"/>
            <a:ext cx="5303520" cy="2468880"/>
          </a:xfrm>
          <a:prstGeom prst="roundRect">
            <a:avLst/>
          </a:prstGeom>
          <a:solidFill>
            <a:srgbClr val="FEFCE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4041648"/>
            <a:ext cx="4974336" cy="22494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B91C1C"/>
                </a:solidFill>
                <a:latin typeface="微軟正黑體"/>
              </a:rPr>
              <a:t>🎯 例題 4 課堂思考方向（特別角混和四則運算）：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① 熟練查表/手勢推導：準確代入 30°、45°、60° 函數值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② 運算順序叮嚀：先算『三角函數的平方』，再算乘除，最後算加減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③ 注意：sin² 30° 代表 (sin 30°)² ＝ (1/2)² ＝ 1/4</a:t>
            </a:r>
          </a:p>
        </p:txBody>
      </p:sp>
    </p:spTree>
    <p:extLst>
      <p:ext uri="{BB962C8B-B14F-4D97-AF65-F5344CB8AC3E}">
        <p14:creationId xmlns:p14="http://schemas.microsoft.com/office/powerpoint/2010/main" val="1157737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11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zh-TW" dirty="0"/>
              <a:t>114</a:t>
            </a:r>
            <a:endParaRPr lang="zh-TW" altLang="en-US" dirty="0"/>
          </a:p>
        </p:txBody>
      </p:sp>
      <p:sp>
        <p:nvSpPr>
          <p:cNvPr id="2" name="文字版面配置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04</a:t>
            </a:r>
            <a:endParaRPr lang="zh-TW" altLang="en-US" dirty="0"/>
          </a:p>
        </p:txBody>
      </p:sp>
      <p:sp>
        <p:nvSpPr>
          <p:cNvPr id="16" name="文字方塊 15"/>
          <p:cNvSpPr txBox="1"/>
          <p:nvPr/>
        </p:nvSpPr>
        <p:spPr>
          <a:xfrm>
            <a:off x="1788622" y="404664"/>
            <a:ext cx="7187697" cy="1953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試求下列各式之值：</a:t>
            </a:r>
          </a:p>
          <a:p>
            <a:pPr>
              <a:lnSpc>
                <a:spcPct val="150000"/>
              </a:lnSpc>
            </a:pP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(1) sin 30° - cos 60° + tan 45°</a:t>
            </a:r>
          </a:p>
          <a:p>
            <a:pPr>
              <a:lnSpc>
                <a:spcPct val="150000"/>
              </a:lnSpc>
            </a:pP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(2) 2 sin2 45° + cot 30° </a:t>
            </a:r>
            <a:r>
              <a:rPr lang="en-US" altLang="zh-TW" sz="2800" dirty="0" err="1">
                <a:latin typeface="Times New Roman" pitchFamily="18" charset="0"/>
                <a:ea typeface="微軟正黑體" pitchFamily="34" charset="-120"/>
              </a:rPr>
              <a:t>csc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 60°</a:t>
            </a:r>
            <a:endParaRPr lang="zh-TW" altLang="en-US" sz="2800" dirty="0">
              <a:latin typeface="Times New Roman" pitchFamily="18" charset="0"/>
              <a:ea typeface="微軟正黑體" pitchFamily="34" charset="-120"/>
            </a:endParaRPr>
          </a:p>
        </p:txBody>
      </p:sp>
      <p:grpSp>
        <p:nvGrpSpPr>
          <p:cNvPr id="14" name="群組 13"/>
          <p:cNvGrpSpPr/>
          <p:nvPr/>
        </p:nvGrpSpPr>
        <p:grpSpPr>
          <a:xfrm>
            <a:off x="479376" y="3429000"/>
            <a:ext cx="10801200" cy="2228345"/>
            <a:chOff x="420394" y="381034"/>
            <a:chExt cx="10801199" cy="2228344"/>
          </a:xfrm>
        </p:grpSpPr>
        <p:grpSp>
          <p:nvGrpSpPr>
            <p:cNvPr id="15" name="群組 14"/>
            <p:cNvGrpSpPr/>
            <p:nvPr/>
          </p:nvGrpSpPr>
          <p:grpSpPr>
            <a:xfrm>
              <a:off x="420394" y="381034"/>
              <a:ext cx="10801199" cy="2228344"/>
              <a:chOff x="624948" y="106713"/>
              <a:chExt cx="10801199" cy="2228344"/>
            </a:xfrm>
          </p:grpSpPr>
          <p:pic>
            <p:nvPicPr>
              <p:cNvPr id="19" name="圖片 18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24948" y="591325"/>
                <a:ext cx="10801199" cy="1743732"/>
              </a:xfrm>
              <a:prstGeom prst="rect">
                <a:avLst/>
              </a:prstGeom>
            </p:spPr>
          </p:pic>
          <p:pic>
            <p:nvPicPr>
              <p:cNvPr id="20" name="圖片 19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24948" y="128050"/>
                <a:ext cx="2751743" cy="463276"/>
              </a:xfrm>
              <a:prstGeom prst="rect">
                <a:avLst/>
              </a:prstGeom>
            </p:spPr>
          </p:pic>
          <p:pic>
            <p:nvPicPr>
              <p:cNvPr id="22" name="圖片 21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14856" y="106713"/>
                <a:ext cx="1501458" cy="502347"/>
              </a:xfrm>
              <a:prstGeom prst="rect">
                <a:avLst/>
              </a:prstGeom>
            </p:spPr>
          </p:pic>
        </p:grpSp>
        <p:sp>
          <p:nvSpPr>
            <p:cNvPr id="18" name="文字方塊 17"/>
            <p:cNvSpPr txBox="1"/>
            <p:nvPr/>
          </p:nvSpPr>
          <p:spPr>
            <a:xfrm>
              <a:off x="636418" y="1220131"/>
              <a:ext cx="1000911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sin</a:t>
              </a:r>
              <a:r>
                <a:rPr lang="en-US" altLang="zh-TW" sz="2800" spc="300" baseline="30000" dirty="0">
                  <a:latin typeface="Times New Roman" pitchFamily="18" charset="0"/>
                  <a:ea typeface="微軟正黑體" pitchFamily="34" charset="-120"/>
                </a:rPr>
                <a:t>2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el-GR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spc="3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是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(sin </a:t>
              </a:r>
              <a:r>
                <a:rPr lang="el-GR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spc="300" dirty="0">
                  <a:latin typeface="Times New Roman" pitchFamily="18" charset="0"/>
                  <a:ea typeface="微軟正黑體" pitchFamily="34" charset="-120"/>
                </a:rPr>
                <a:t>)</a:t>
              </a:r>
              <a:r>
                <a:rPr lang="el-GR" altLang="zh-TW" sz="2800" spc="300" baseline="30000" dirty="0">
                  <a:latin typeface="Times New Roman" pitchFamily="18" charset="0"/>
                  <a:ea typeface="微軟正黑體" pitchFamily="34" charset="-120"/>
                </a:rPr>
                <a:t>2</a:t>
              </a:r>
              <a:r>
                <a:rPr lang="el-GR" altLang="zh-TW" sz="2800" spc="3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的簡寫，即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sin</a:t>
              </a:r>
              <a:r>
                <a:rPr lang="en-US" altLang="zh-TW" sz="2800" spc="300" baseline="30000" dirty="0">
                  <a:latin typeface="Times New Roman" pitchFamily="18" charset="0"/>
                  <a:ea typeface="微軟正黑體" pitchFamily="34" charset="-120"/>
                </a:rPr>
                <a:t>2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 45° = (sin 45°)</a:t>
              </a:r>
              <a:r>
                <a:rPr lang="en-US" altLang="zh-TW" sz="2800" spc="300" baseline="30000" dirty="0">
                  <a:latin typeface="Times New Roman" pitchFamily="18" charset="0"/>
                  <a:ea typeface="微軟正黑體" pitchFamily="34" charset="-120"/>
                </a:rPr>
                <a:t>2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71609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10"/>
          <p:cNvSpPr>
            <a:spLocks noGrp="1"/>
          </p:cNvSpPr>
          <p:nvPr>
            <p:ph sz="quarter" idx="11"/>
          </p:nvPr>
        </p:nvSpPr>
        <p:spPr>
          <a:xfrm>
            <a:off x="1127448" y="6455660"/>
            <a:ext cx="781049" cy="357716"/>
          </a:xfrm>
        </p:spPr>
        <p:txBody>
          <a:bodyPr/>
          <a:lstStyle/>
          <a:p>
            <a:r>
              <a:rPr lang="en-US" altLang="zh-TW" dirty="0"/>
              <a:t>114</a:t>
            </a:r>
            <a:endParaRPr lang="zh-TW" altLang="en-US" dirty="0"/>
          </a:p>
        </p:txBody>
      </p:sp>
      <p:sp>
        <p:nvSpPr>
          <p:cNvPr id="2" name="文字版面配置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04</a:t>
            </a:r>
            <a:endParaRPr lang="zh-TW" altLang="en-US" dirty="0"/>
          </a:p>
        </p:txBody>
      </p:sp>
      <p:grpSp>
        <p:nvGrpSpPr>
          <p:cNvPr id="4" name="群組 3"/>
          <p:cNvGrpSpPr/>
          <p:nvPr/>
        </p:nvGrpSpPr>
        <p:grpSpPr>
          <a:xfrm>
            <a:off x="1788622" y="404664"/>
            <a:ext cx="7187697" cy="2350368"/>
            <a:chOff x="1788622" y="404664"/>
            <a:chExt cx="7187697" cy="2350368"/>
          </a:xfrm>
        </p:grpSpPr>
        <p:sp>
          <p:nvSpPr>
            <p:cNvPr id="7" name="文字方塊 6"/>
            <p:cNvSpPr txBox="1"/>
            <p:nvPr/>
          </p:nvSpPr>
          <p:spPr>
            <a:xfrm>
              <a:off x="1788622" y="404664"/>
              <a:ext cx="7187697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TW" altLang="en-US" sz="2800" dirty="0">
                  <a:latin typeface="Times New Roman" pitchFamily="18" charset="0"/>
                  <a:ea typeface="微軟正黑體" pitchFamily="34" charset="-120"/>
                </a:rPr>
                <a:t>試求下列各式之值：</a:t>
              </a:r>
            </a:p>
            <a:p>
              <a:pPr>
                <a:lnSpc>
                  <a:spcPct val="150000"/>
                </a:lnSpc>
              </a:pP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(1) </a:t>
              </a:r>
            </a:p>
            <a:p>
              <a:pPr>
                <a:lnSpc>
                  <a:spcPct val="150000"/>
                </a:lnSpc>
              </a:pP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(2)</a:t>
              </a:r>
              <a:endParaRPr lang="zh-TW" altLang="en-US" sz="2800" dirty="0">
                <a:latin typeface="Times New Roman" pitchFamily="18" charset="0"/>
                <a:ea typeface="微軟正黑體" pitchFamily="34" charset="-120"/>
              </a:endParaRPr>
            </a:p>
          </p:txBody>
        </p:sp>
        <p:graphicFrame>
          <p:nvGraphicFramePr>
            <p:cNvPr id="3" name="物件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79404394"/>
                </p:ext>
              </p:extLst>
            </p:nvPr>
          </p:nvGraphicFramePr>
          <p:xfrm>
            <a:off x="2567608" y="1198076"/>
            <a:ext cx="4292600" cy="444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4292280" imgH="444240" progId="Equation.DSMT4">
                    <p:embed/>
                  </p:oleObj>
                </mc:Choice>
                <mc:Fallback>
                  <p:oleObj name="Equation" r:id="rId2" imgW="4292280" imgH="4442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2567608" y="1198076"/>
                          <a:ext cx="4292600" cy="444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物件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58855372"/>
                </p:ext>
              </p:extLst>
            </p:nvPr>
          </p:nvGraphicFramePr>
          <p:xfrm>
            <a:off x="2567608" y="1916832"/>
            <a:ext cx="3416300" cy="838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3416040" imgH="838080" progId="Equation.DSMT4">
                    <p:embed/>
                  </p:oleObj>
                </mc:Choice>
                <mc:Fallback>
                  <p:oleObj name="Equation" r:id="rId4" imgW="3416040" imgH="838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2567608" y="1916832"/>
                          <a:ext cx="3416300" cy="838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6" name="圖片 5">
            <a:extLst>
              <a:ext uri="{FF2B5EF4-FFF2-40B4-BE49-F238E27FC236}">
                <a16:creationId xmlns:a16="http://schemas.microsoft.com/office/drawing/2014/main" id="{04AA3FDB-6260-589A-2E86-206DA20E63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1733" y="404664"/>
            <a:ext cx="3365284" cy="2225233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217920" y="3931920"/>
            <a:ext cx="5303520" cy="2468880"/>
          </a:xfrm>
          <a:prstGeom prst="roundRect">
            <a:avLst/>
          </a:prstGeom>
          <a:solidFill>
            <a:srgbClr val="FEFCE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4041648"/>
            <a:ext cx="4974336" cy="22494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B91C1C"/>
                </a:solidFill>
                <a:latin typeface="微軟正黑體"/>
              </a:rPr>
              <a:t>🎯 隨堂練習 4 課堂思考方向：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① 查表帶入各特殊角之數值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② 優先計算各項平方值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③ 依序進行通分加減與乘除運算</a:t>
            </a:r>
          </a:p>
        </p:txBody>
      </p:sp>
    </p:spTree>
    <p:extLst>
      <p:ext uri="{BB962C8B-B14F-4D97-AF65-F5344CB8AC3E}">
        <p14:creationId xmlns:p14="http://schemas.microsoft.com/office/powerpoint/2010/main" val="3425920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/>
          <p:cNvSpPr txBox="1"/>
          <p:nvPr/>
        </p:nvSpPr>
        <p:spPr>
          <a:xfrm>
            <a:off x="1517650" y="1029136"/>
            <a:ext cx="781871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000" b="1" dirty="0">
                <a:latin typeface="微軟正黑體" pitchFamily="34" charset="-120"/>
                <a:ea typeface="微軟正黑體" pitchFamily="34" charset="-120"/>
              </a:rPr>
              <a:t>2-2.2</a:t>
            </a:r>
            <a:r>
              <a:rPr lang="zh-TW" altLang="en-US" sz="3000" b="1" dirty="0">
                <a:latin typeface="微軟正黑體" pitchFamily="34" charset="-120"/>
                <a:ea typeface="微軟正黑體" pitchFamily="34" charset="-120"/>
              </a:rPr>
              <a:t>特別角的三角函數值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>
          <a:xfrm>
            <a:off x="1127448" y="6455660"/>
            <a:ext cx="781049" cy="357716"/>
          </a:xfrm>
        </p:spPr>
        <p:txBody>
          <a:bodyPr/>
          <a:lstStyle/>
          <a:p>
            <a:r>
              <a:rPr lang="en-US" altLang="zh-TW" dirty="0"/>
              <a:t>115</a:t>
            </a:r>
            <a:endParaRPr lang="zh-TW" alt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789299" y="2492896"/>
            <a:ext cx="10985264" cy="25460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在日常生活中，我們不見得每次都會碰到像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30°</a:t>
            </a: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、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45°</a:t>
            </a: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、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60°</a:t>
            </a: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這樣的特別角，若遇到非特別角，如何運用計算機或手機來進行操作，</a:t>
            </a:r>
            <a:br>
              <a:rPr lang="en-US" altLang="zh-TW" sz="2800" dirty="0">
                <a:latin typeface="Times New Roman" pitchFamily="18" charset="0"/>
                <a:ea typeface="微軟正黑體" pitchFamily="34" charset="-120"/>
              </a:rPr>
            </a:b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請參閱附錄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2</a:t>
            </a: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892495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/>
          <p:cNvSpPr>
            <a:spLocks noGrp="1"/>
          </p:cNvSpPr>
          <p:nvPr>
            <p:ph type="body" sz="quarter" idx="10"/>
          </p:nvPr>
        </p:nvSpPr>
        <p:spPr>
          <a:xfrm>
            <a:off x="407368" y="452669"/>
            <a:ext cx="1056117" cy="960107"/>
          </a:xfrm>
        </p:spPr>
        <p:txBody>
          <a:bodyPr/>
          <a:lstStyle/>
          <a:p>
            <a:r>
              <a:rPr lang="en-US" altLang="zh-TW" dirty="0"/>
              <a:t>05</a:t>
            </a:r>
            <a:endParaRPr lang="zh-TW" altLang="en-US" dirty="0"/>
          </a:p>
        </p:txBody>
      </p:sp>
      <p:sp>
        <p:nvSpPr>
          <p:cNvPr id="12" name="內容版面配置區 11"/>
          <p:cNvSpPr>
            <a:spLocks noGrp="1"/>
          </p:cNvSpPr>
          <p:nvPr>
            <p:ph sz="quarter" idx="11"/>
          </p:nvPr>
        </p:nvSpPr>
        <p:spPr>
          <a:xfrm>
            <a:off x="1127448" y="6455660"/>
            <a:ext cx="781049" cy="357716"/>
          </a:xfrm>
        </p:spPr>
        <p:txBody>
          <a:bodyPr/>
          <a:lstStyle/>
          <a:p>
            <a:r>
              <a:rPr lang="en-US" altLang="zh-TW" dirty="0"/>
              <a:t>115</a:t>
            </a:r>
            <a:endParaRPr lang="zh-TW" altLang="en-US" dirty="0"/>
          </a:p>
        </p:txBody>
      </p:sp>
      <p:grpSp>
        <p:nvGrpSpPr>
          <p:cNvPr id="4" name="群組 3"/>
          <p:cNvGrpSpPr/>
          <p:nvPr/>
        </p:nvGrpSpPr>
        <p:grpSpPr>
          <a:xfrm>
            <a:off x="1631504" y="260648"/>
            <a:ext cx="9721080" cy="4157877"/>
            <a:chOff x="1631504" y="621391"/>
            <a:chExt cx="9721080" cy="4157877"/>
          </a:xfrm>
        </p:grpSpPr>
        <p:sp>
          <p:nvSpPr>
            <p:cNvPr id="11" name="文字方塊 10"/>
            <p:cNvSpPr txBox="1"/>
            <p:nvPr/>
          </p:nvSpPr>
          <p:spPr>
            <a:xfrm>
              <a:off x="1631504" y="621391"/>
              <a:ext cx="9721080" cy="19535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TW" altLang="en-US" sz="2800" dirty="0">
                  <a:latin typeface="Times New Roman" pitchFamily="18" charset="0"/>
                  <a:ea typeface="微軟正黑體" pitchFamily="34" charset="-120"/>
                </a:rPr>
                <a:t>根據內政部營建署對於無障礙坡道的規定，室內坡道坡度應小於八分之一（如下圖所示）。換句話說，室內坡道與地面的夾角大約要小於多少度？（四捨五入至小數點後第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3 </a:t>
              </a:r>
              <a:r>
                <a:rPr lang="zh-TW" altLang="en-US" sz="2800" dirty="0">
                  <a:latin typeface="Times New Roman" pitchFamily="18" charset="0"/>
                  <a:ea typeface="微軟正黑體" pitchFamily="34" charset="-120"/>
                </a:rPr>
                <a:t>位）</a:t>
              </a:r>
            </a:p>
          </p:txBody>
        </p:sp>
        <p:pic>
          <p:nvPicPr>
            <p:cNvPr id="34064" name="Picture 272"/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C7EBFC"/>
                </a:clrFrom>
                <a:clrTo>
                  <a:srgbClr val="C7EBFC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31504" y="3140968"/>
              <a:ext cx="8002588" cy="1638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34065" name="Rounded Rectangle 34064"/>
          <p:cNvSpPr/>
          <p:nvPr/>
        </p:nvSpPr>
        <p:spPr>
          <a:xfrm>
            <a:off x="6217920" y="3931920"/>
            <a:ext cx="5303520" cy="2468880"/>
          </a:xfrm>
          <a:prstGeom prst="roundRect">
            <a:avLst/>
          </a:prstGeom>
          <a:solidFill>
            <a:srgbClr val="FEFCE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66" name="TextBox 34065"/>
          <p:cNvSpPr txBox="1"/>
          <p:nvPr/>
        </p:nvSpPr>
        <p:spPr>
          <a:xfrm>
            <a:off x="6382512" y="4041648"/>
            <a:ext cx="4974336" cy="22494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B91C1C"/>
                </a:solidFill>
                <a:latin typeface="微軟正黑體"/>
              </a:rPr>
              <a:t>🎯 例題 5 課堂思考方向（工程坡道度數應用）：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① 坡度定義：坡度 ＝ 垂直上升高度 / 水平距離 ＝ tan θ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② 依題意：tan θ ＝ 1/8 ＝ 0.125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③ 反三角函數查表/計算機：求出對應夾角 θ 約為多少度</a:t>
            </a:r>
          </a:p>
        </p:txBody>
      </p:sp>
    </p:spTree>
    <p:extLst>
      <p:ext uri="{BB962C8B-B14F-4D97-AF65-F5344CB8AC3E}">
        <p14:creationId xmlns:p14="http://schemas.microsoft.com/office/powerpoint/2010/main" val="1157737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11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zh-TW" dirty="0"/>
              <a:t>115</a:t>
            </a:r>
            <a:endParaRPr lang="zh-TW" altLang="en-US" dirty="0"/>
          </a:p>
        </p:txBody>
      </p:sp>
      <p:sp>
        <p:nvSpPr>
          <p:cNvPr id="2" name="文字版面配置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05</a:t>
            </a:r>
            <a:endParaRPr lang="zh-TW" altLang="en-US" dirty="0"/>
          </a:p>
        </p:txBody>
      </p:sp>
      <p:pic>
        <p:nvPicPr>
          <p:cNvPr id="13" name="圖片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8110" y="2677874"/>
            <a:ext cx="619364" cy="5994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文字方塊 31"/>
          <p:cNvSpPr txBox="1"/>
          <p:nvPr/>
        </p:nvSpPr>
        <p:spPr>
          <a:xfrm>
            <a:off x="1991544" y="404664"/>
            <a:ext cx="884388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8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  <a:t>(1) iOS </a:t>
            </a:r>
            <a:r>
              <a:rPr lang="zh-TW" altLang="en-US" sz="28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  <a:t>系統：先按下</a:t>
            </a:r>
            <a:r>
              <a:rPr lang="en-US" altLang="zh-TW" sz="28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  <a:t>2</a:t>
            </a:r>
            <a:r>
              <a:rPr lang="en-US" altLang="zh-TW" sz="2800" baseline="300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  <a:t>nd</a:t>
            </a:r>
            <a:r>
              <a:rPr lang="en-US" altLang="zh-TW" sz="28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  <a:t> </a:t>
            </a:r>
            <a:r>
              <a:rPr lang="zh-TW" altLang="en-US" sz="28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  <a:t>的按鍵切換函數，此時會出現下圖</a:t>
            </a:r>
            <a:r>
              <a:rPr lang="en-US" altLang="zh-TW" sz="28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  <a:t>(a) </a:t>
            </a:r>
            <a:r>
              <a:rPr lang="zh-TW" altLang="en-US" sz="28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  <a:t>的畫面，輸入「</a:t>
            </a:r>
            <a:r>
              <a:rPr lang="en-US" altLang="zh-TW" sz="28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  <a:t>1 ÷ 8 = </a:t>
            </a:r>
            <a:r>
              <a:rPr lang="zh-TW" altLang="en-US" sz="28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  <a:t>」，再按下</a:t>
            </a:r>
            <a:r>
              <a:rPr lang="en-US" altLang="zh-TW" sz="28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  <a:t>tan</a:t>
            </a:r>
            <a:r>
              <a:rPr lang="en-US" altLang="zh-TW" sz="2800" baseline="300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  <a:t>-1</a:t>
            </a:r>
            <a:r>
              <a:rPr lang="en-US" altLang="zh-TW" sz="28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  <a:t> </a:t>
            </a:r>
            <a:r>
              <a:rPr lang="zh-TW" altLang="en-US" sz="28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  <a:t>的按鍵，即可由三角函數值，反推求角度約為</a:t>
            </a:r>
            <a:r>
              <a:rPr lang="en-US" altLang="zh-TW" sz="2800" dirty="0">
                <a:solidFill>
                  <a:srgbClr val="FF0000"/>
                </a:solidFill>
                <a:latin typeface="Times New Roman" pitchFamily="18" charset="0"/>
                <a:ea typeface="微軟正黑體" pitchFamily="34" charset="-120"/>
              </a:rPr>
              <a:t>7.125°</a:t>
            </a:r>
            <a:r>
              <a:rPr lang="zh-TW" altLang="en-US" sz="28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  <a:t>，如下圖</a:t>
            </a:r>
            <a:r>
              <a:rPr lang="en-US" altLang="zh-TW" sz="28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  <a:t>(b)</a:t>
            </a:r>
            <a:endParaRPr lang="zh-TW" altLang="en-US" sz="2800" dirty="0">
              <a:solidFill>
                <a:srgbClr val="0000FF"/>
              </a:solidFill>
              <a:latin typeface="Times New Roman" pitchFamily="18" charset="0"/>
              <a:ea typeface="微軟正黑體" pitchFamily="34" charset="-120"/>
            </a:endParaRPr>
          </a:p>
        </p:txBody>
      </p:sp>
      <p:pic>
        <p:nvPicPr>
          <p:cNvPr id="17613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1544" y="2492896"/>
            <a:ext cx="8797827" cy="3293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48973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6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11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zh-TW" dirty="0"/>
              <a:t>115</a:t>
            </a:r>
            <a:endParaRPr lang="zh-TW" altLang="en-US" dirty="0"/>
          </a:p>
        </p:txBody>
      </p:sp>
      <p:sp>
        <p:nvSpPr>
          <p:cNvPr id="2" name="文字版面配置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05</a:t>
            </a:r>
            <a:endParaRPr lang="zh-TW" altLang="en-US" dirty="0"/>
          </a:p>
        </p:txBody>
      </p:sp>
      <p:pic>
        <p:nvPicPr>
          <p:cNvPr id="13" name="圖片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8110" y="2677874"/>
            <a:ext cx="619364" cy="5994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群組 4"/>
          <p:cNvGrpSpPr/>
          <p:nvPr/>
        </p:nvGrpSpPr>
        <p:grpSpPr>
          <a:xfrm>
            <a:off x="1991544" y="404664"/>
            <a:ext cx="9361040" cy="2031325"/>
            <a:chOff x="1991544" y="404664"/>
            <a:chExt cx="9361040" cy="2031325"/>
          </a:xfrm>
        </p:grpSpPr>
        <p:sp>
          <p:nvSpPr>
            <p:cNvPr id="32" name="文字方塊 31"/>
            <p:cNvSpPr txBox="1"/>
            <p:nvPr/>
          </p:nvSpPr>
          <p:spPr>
            <a:xfrm>
              <a:off x="1991544" y="404664"/>
              <a:ext cx="9361040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TW" sz="2800" dirty="0">
                  <a:solidFill>
                    <a:srgbClr val="0000FF"/>
                  </a:solidFill>
                  <a:latin typeface="Times New Roman" pitchFamily="18" charset="0"/>
                  <a:ea typeface="微軟正黑體" pitchFamily="34" charset="-120"/>
                </a:rPr>
                <a:t>(2) Android </a:t>
              </a:r>
              <a:r>
                <a:rPr lang="zh-TW" altLang="en-US" sz="2800" dirty="0">
                  <a:solidFill>
                    <a:srgbClr val="0000FF"/>
                  </a:solidFill>
                  <a:latin typeface="Times New Roman" pitchFamily="18" charset="0"/>
                  <a:ea typeface="微軟正黑體" pitchFamily="34" charset="-120"/>
                </a:rPr>
                <a:t>系統：先按下       </a:t>
              </a:r>
              <a:r>
                <a:rPr lang="en-US" altLang="zh-TW" sz="2800" dirty="0">
                  <a:solidFill>
                    <a:srgbClr val="0000FF"/>
                  </a:solidFill>
                  <a:latin typeface="Times New Roman" pitchFamily="18" charset="0"/>
                  <a:ea typeface="微軟正黑體" pitchFamily="34" charset="-120"/>
                </a:rPr>
                <a:t>2</a:t>
              </a:r>
              <a:r>
                <a:rPr lang="en-US" altLang="zh-TW" sz="2800" baseline="30000" dirty="0">
                  <a:solidFill>
                    <a:srgbClr val="0000FF"/>
                  </a:solidFill>
                  <a:latin typeface="Times New Roman" pitchFamily="18" charset="0"/>
                  <a:ea typeface="微軟正黑體" pitchFamily="34" charset="-120"/>
                </a:rPr>
                <a:t>nd</a:t>
              </a:r>
              <a:r>
                <a:rPr lang="en-US" altLang="zh-TW" sz="2800" dirty="0">
                  <a:solidFill>
                    <a:srgbClr val="0000FF"/>
                  </a:solidFill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dirty="0">
                  <a:solidFill>
                    <a:srgbClr val="0000FF"/>
                  </a:solidFill>
                  <a:latin typeface="Times New Roman" pitchFamily="18" charset="0"/>
                  <a:ea typeface="微軟正黑體" pitchFamily="34" charset="-120"/>
                </a:rPr>
                <a:t>的按鍵切換函數，此時會出現下圖</a:t>
              </a:r>
              <a:r>
                <a:rPr lang="en-US" altLang="zh-TW" sz="2800" dirty="0">
                  <a:solidFill>
                    <a:srgbClr val="0000FF"/>
                  </a:solidFill>
                  <a:latin typeface="Times New Roman" pitchFamily="18" charset="0"/>
                  <a:ea typeface="微軟正黑體" pitchFamily="34" charset="-120"/>
                </a:rPr>
                <a:t>(a)</a:t>
              </a:r>
              <a:r>
                <a:rPr lang="zh-TW" altLang="en-US" sz="2800" dirty="0">
                  <a:solidFill>
                    <a:srgbClr val="0000FF"/>
                  </a:solidFill>
                  <a:latin typeface="Times New Roman" pitchFamily="18" charset="0"/>
                  <a:ea typeface="微軟正黑體" pitchFamily="34" charset="-120"/>
                </a:rPr>
                <a:t>的畫面，按下</a:t>
              </a:r>
              <a:r>
                <a:rPr lang="en-US" altLang="zh-TW" sz="2800" dirty="0">
                  <a:solidFill>
                    <a:srgbClr val="0000FF"/>
                  </a:solidFill>
                  <a:latin typeface="Times New Roman" pitchFamily="18" charset="0"/>
                  <a:ea typeface="微軟正黑體" pitchFamily="34" charset="-120"/>
                </a:rPr>
                <a:t>tan</a:t>
              </a:r>
              <a:r>
                <a:rPr lang="en-US" altLang="zh-TW" sz="2800" baseline="30000" dirty="0">
                  <a:solidFill>
                    <a:srgbClr val="0000FF"/>
                  </a:solidFill>
                  <a:latin typeface="Times New Roman" pitchFamily="18" charset="0"/>
                  <a:ea typeface="微軟正黑體" pitchFamily="34" charset="-120"/>
                </a:rPr>
                <a:t>-1</a:t>
              </a:r>
              <a:r>
                <a:rPr lang="en-US" altLang="zh-TW" sz="2800" dirty="0">
                  <a:solidFill>
                    <a:srgbClr val="0000FF"/>
                  </a:solidFill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dirty="0">
                  <a:solidFill>
                    <a:srgbClr val="0000FF"/>
                  </a:solidFill>
                  <a:latin typeface="Times New Roman" pitchFamily="18" charset="0"/>
                  <a:ea typeface="微軟正黑體" pitchFamily="34" charset="-120"/>
                </a:rPr>
                <a:t>的按鍵，輸入「</a:t>
              </a:r>
              <a:r>
                <a:rPr lang="en-US" altLang="zh-TW" sz="2800" dirty="0">
                  <a:solidFill>
                    <a:srgbClr val="0000FF"/>
                  </a:solidFill>
                  <a:latin typeface="Times New Roman" pitchFamily="18" charset="0"/>
                  <a:ea typeface="微軟正黑體" pitchFamily="34" charset="-120"/>
                </a:rPr>
                <a:t>1 ÷ 8 = </a:t>
              </a:r>
              <a:r>
                <a:rPr lang="zh-TW" altLang="en-US" sz="2800" dirty="0">
                  <a:solidFill>
                    <a:srgbClr val="0000FF"/>
                  </a:solidFill>
                  <a:latin typeface="Times New Roman" pitchFamily="18" charset="0"/>
                  <a:ea typeface="微軟正黑體" pitchFamily="34" charset="-120"/>
                </a:rPr>
                <a:t>」，即可反推求角度約為</a:t>
              </a:r>
              <a:r>
                <a:rPr lang="en-US" altLang="zh-TW" sz="2800" dirty="0">
                  <a:solidFill>
                    <a:srgbClr val="FF0000"/>
                  </a:solidFill>
                  <a:latin typeface="Times New Roman" pitchFamily="18" charset="0"/>
                  <a:ea typeface="微軟正黑體" pitchFamily="34" charset="-120"/>
                </a:rPr>
                <a:t>7.125°</a:t>
              </a:r>
              <a:r>
                <a:rPr lang="zh-TW" altLang="en-US" sz="2800" dirty="0">
                  <a:solidFill>
                    <a:srgbClr val="0000FF"/>
                  </a:solidFill>
                  <a:latin typeface="Times New Roman" pitchFamily="18" charset="0"/>
                  <a:ea typeface="微軟正黑體" pitchFamily="34" charset="-120"/>
                </a:rPr>
                <a:t>，如下圖</a:t>
              </a:r>
              <a:r>
                <a:rPr lang="en-US" altLang="zh-TW" sz="2800" dirty="0">
                  <a:solidFill>
                    <a:srgbClr val="0000FF"/>
                  </a:solidFill>
                  <a:latin typeface="Times New Roman" pitchFamily="18" charset="0"/>
                  <a:ea typeface="微軟正黑體" pitchFamily="34" charset="-120"/>
                </a:rPr>
                <a:t>(b)</a:t>
              </a:r>
              <a:endParaRPr lang="zh-TW" altLang="en-US" sz="28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endParaRPr>
            </a:p>
          </p:txBody>
        </p:sp>
        <p:graphicFrame>
          <p:nvGraphicFramePr>
            <p:cNvPr id="4" name="物件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35894041"/>
                </p:ext>
              </p:extLst>
            </p:nvPr>
          </p:nvGraphicFramePr>
          <p:xfrm>
            <a:off x="6096000" y="620688"/>
            <a:ext cx="408046" cy="3600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215640" imgH="190440" progId="Equation.DSMT4">
                    <p:embed/>
                  </p:oleObj>
                </mc:Choice>
                <mc:Fallback>
                  <p:oleObj name="Equation" r:id="rId3" imgW="215640" imgH="1904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096000" y="620688"/>
                          <a:ext cx="408046" cy="36004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177154" name="Picture 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94"/>
          <a:stretch/>
        </p:blipFill>
        <p:spPr bwMode="auto">
          <a:xfrm>
            <a:off x="1991544" y="2713808"/>
            <a:ext cx="8784976" cy="30652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25179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7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11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zh-TW" dirty="0"/>
              <a:t>116</a:t>
            </a:r>
            <a:endParaRPr lang="zh-TW" altLang="en-US" dirty="0"/>
          </a:p>
        </p:txBody>
      </p:sp>
      <p:sp>
        <p:nvSpPr>
          <p:cNvPr id="2" name="文字版面配置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05</a:t>
            </a:r>
            <a:endParaRPr lang="zh-TW" altLang="en-US" dirty="0"/>
          </a:p>
        </p:txBody>
      </p:sp>
      <p:pic>
        <p:nvPicPr>
          <p:cNvPr id="13" name="圖片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8110" y="2677874"/>
            <a:ext cx="619364" cy="5994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文字方塊 31"/>
          <p:cNvSpPr txBox="1"/>
          <p:nvPr/>
        </p:nvSpPr>
        <p:spPr>
          <a:xfrm>
            <a:off x="2023410" y="865469"/>
            <a:ext cx="4680520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8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  <a:t>(3) </a:t>
            </a:r>
            <a:r>
              <a:rPr lang="zh-TW" altLang="en-US" sz="28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  <a:t>計算機的用法也是類似，先視需求按下功能鍵</a:t>
            </a:r>
            <a:r>
              <a:rPr lang="en-US" altLang="zh-TW" sz="28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  <a:t>MODE </a:t>
            </a:r>
            <a:r>
              <a:rPr lang="zh-TW" altLang="en-US" sz="28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  <a:t>將角度切換至適當單位，再按下</a:t>
            </a:r>
            <a:r>
              <a:rPr lang="en-US" altLang="zh-TW" sz="28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  <a:t>SHIFT </a:t>
            </a:r>
            <a:r>
              <a:rPr lang="zh-TW" altLang="en-US" sz="28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  <a:t>的按鍵啟用第二功能，接著按下</a:t>
            </a:r>
            <a:r>
              <a:rPr lang="en-US" altLang="zh-TW" sz="28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  <a:t>tan(tan</a:t>
            </a:r>
            <a:r>
              <a:rPr lang="en-US" altLang="zh-TW" sz="2800" baseline="300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  <a:t>-1</a:t>
            </a:r>
            <a:r>
              <a:rPr lang="en-US" altLang="zh-TW" sz="28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  <a:t>)</a:t>
            </a:r>
            <a:r>
              <a:rPr lang="zh-TW" altLang="en-US" sz="28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  <a:t>的按鍵，再輸入「</a:t>
            </a:r>
            <a:r>
              <a:rPr lang="en-US" altLang="zh-TW" sz="28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  <a:t>1 ÷ 8</a:t>
            </a:r>
            <a:r>
              <a:rPr lang="zh-TW" altLang="en-US" sz="28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  <a:t>」，</a:t>
            </a:r>
            <a:br>
              <a:rPr lang="en-US" altLang="zh-TW" sz="28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</a:br>
            <a:r>
              <a:rPr lang="zh-TW" altLang="en-US" sz="28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  <a:t>即可反推求角度約為</a:t>
            </a:r>
            <a:r>
              <a:rPr lang="en-US" altLang="zh-TW" sz="2800" dirty="0">
                <a:solidFill>
                  <a:srgbClr val="FF0000"/>
                </a:solidFill>
                <a:latin typeface="Times New Roman" pitchFamily="18" charset="0"/>
                <a:ea typeface="微軟正黑體" pitchFamily="34" charset="-120"/>
              </a:rPr>
              <a:t>7.125°</a:t>
            </a:r>
            <a:endParaRPr lang="zh-TW" altLang="en-US" sz="2800" dirty="0">
              <a:solidFill>
                <a:srgbClr val="FF0000"/>
              </a:solidFill>
              <a:latin typeface="Times New Roman" pitchFamily="18" charset="0"/>
              <a:ea typeface="微軟正黑體" pitchFamily="34" charset="-120"/>
            </a:endParaRPr>
          </a:p>
        </p:txBody>
      </p:sp>
      <p:pic>
        <p:nvPicPr>
          <p:cNvPr id="17817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0176" y="527635"/>
            <a:ext cx="3456384" cy="54993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91456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8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11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zh-TW" dirty="0"/>
              <a:t>116</a:t>
            </a:r>
            <a:endParaRPr lang="zh-TW" altLang="en-US" dirty="0"/>
          </a:p>
        </p:txBody>
      </p:sp>
      <p:sp>
        <p:nvSpPr>
          <p:cNvPr id="2" name="文字版面配置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05</a:t>
            </a:r>
            <a:endParaRPr lang="zh-TW" altLang="en-US" dirty="0"/>
          </a:p>
        </p:txBody>
      </p:sp>
      <p:pic>
        <p:nvPicPr>
          <p:cNvPr id="13" name="圖片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8110" y="2677874"/>
            <a:ext cx="619364" cy="5994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文字方塊 31"/>
          <p:cNvSpPr txBox="1"/>
          <p:nvPr/>
        </p:nvSpPr>
        <p:spPr>
          <a:xfrm>
            <a:off x="1991544" y="900584"/>
            <a:ext cx="8352928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8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  <a:t>同學可用類似的方法，利用</a:t>
            </a:r>
            <a:r>
              <a:rPr lang="en-US" altLang="zh-TW" sz="28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  <a:t>sin</a:t>
            </a:r>
            <a:r>
              <a:rPr lang="en-US" altLang="zh-TW" sz="2800" baseline="300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  <a:t>-1</a:t>
            </a:r>
            <a:r>
              <a:rPr lang="en-US" altLang="zh-TW" sz="28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  <a:t> </a:t>
            </a:r>
            <a:r>
              <a:rPr lang="zh-TW" altLang="en-US" sz="28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  <a:t>或</a:t>
            </a:r>
            <a:r>
              <a:rPr lang="en-US" altLang="zh-TW" sz="28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  <a:t>cos</a:t>
            </a:r>
            <a:r>
              <a:rPr lang="en-US" altLang="zh-TW" sz="2800" baseline="300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  <a:t>-1</a:t>
            </a:r>
            <a:r>
              <a:rPr lang="en-US" altLang="zh-TW" sz="28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  <a:t> </a:t>
            </a:r>
            <a:r>
              <a:rPr lang="zh-TW" altLang="en-US" sz="28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  <a:t>反推求角度，儘管各廠牌型號計算機按鍵有所不同，但求三角函數值時，不外乎是先使用</a:t>
            </a:r>
            <a:r>
              <a:rPr lang="en-US" altLang="zh-TW" sz="28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  <a:t>MODE </a:t>
            </a:r>
            <a:r>
              <a:rPr lang="zh-TW" altLang="en-US" sz="28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  <a:t>鍵將角度切換至適當單位，再視需要決定是否利用</a:t>
            </a:r>
            <a:r>
              <a:rPr lang="en-US" altLang="zh-TW" sz="28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  <a:t>SHIFT </a:t>
            </a:r>
            <a:r>
              <a:rPr lang="zh-TW" altLang="en-US" sz="2800" dirty="0">
                <a:solidFill>
                  <a:srgbClr val="0000FF"/>
                </a:solidFill>
                <a:latin typeface="Times New Roman" pitchFamily="18" charset="0"/>
                <a:ea typeface="微軟正黑體" pitchFamily="34" charset="-120"/>
              </a:rPr>
              <a:t>鍵切換計算。在專業科目上，我們時常需要利用三角函數反推回角度，此時，同學們就可以善用上面所敘述的手機或計算機功能反推求角度</a:t>
            </a:r>
          </a:p>
        </p:txBody>
      </p:sp>
    </p:spTree>
    <p:extLst>
      <p:ext uri="{BB962C8B-B14F-4D97-AF65-F5344CB8AC3E}">
        <p14:creationId xmlns:p14="http://schemas.microsoft.com/office/powerpoint/2010/main" val="2035413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11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zh-TW" dirty="0"/>
              <a:t>116</a:t>
            </a:r>
            <a:endParaRPr lang="zh-TW" altLang="en-US" dirty="0"/>
          </a:p>
        </p:txBody>
      </p:sp>
      <p:sp>
        <p:nvSpPr>
          <p:cNvPr id="2" name="文字版面配置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05</a:t>
            </a:r>
            <a:endParaRPr lang="zh-TW" altLang="en-US" dirty="0"/>
          </a:p>
        </p:txBody>
      </p:sp>
      <p:pic>
        <p:nvPicPr>
          <p:cNvPr id="13" name="圖片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8110" y="2677874"/>
            <a:ext cx="619364" cy="5994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群組 2"/>
          <p:cNvGrpSpPr/>
          <p:nvPr/>
        </p:nvGrpSpPr>
        <p:grpSpPr>
          <a:xfrm>
            <a:off x="1847528" y="980728"/>
            <a:ext cx="9865096" cy="4680520"/>
            <a:chOff x="1847528" y="980728"/>
            <a:chExt cx="9865096" cy="4680520"/>
          </a:xfrm>
        </p:grpSpPr>
        <p:grpSp>
          <p:nvGrpSpPr>
            <p:cNvPr id="6" name="群組 5"/>
            <p:cNvGrpSpPr/>
            <p:nvPr/>
          </p:nvGrpSpPr>
          <p:grpSpPr>
            <a:xfrm>
              <a:off x="1847528" y="980728"/>
              <a:ext cx="9865096" cy="4680520"/>
              <a:chOff x="420394" y="381034"/>
              <a:chExt cx="9865095" cy="4680518"/>
            </a:xfrm>
          </p:grpSpPr>
          <p:grpSp>
            <p:nvGrpSpPr>
              <p:cNvPr id="7" name="群組 6"/>
              <p:cNvGrpSpPr/>
              <p:nvPr/>
            </p:nvGrpSpPr>
            <p:grpSpPr>
              <a:xfrm>
                <a:off x="420394" y="381034"/>
                <a:ext cx="9865095" cy="4680518"/>
                <a:chOff x="624948" y="106713"/>
                <a:chExt cx="9865095" cy="4680518"/>
              </a:xfrm>
            </p:grpSpPr>
            <p:pic>
              <p:nvPicPr>
                <p:cNvPr id="9" name="圖片 8"/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4948" y="590259"/>
                  <a:ext cx="9865095" cy="4196972"/>
                </a:xfrm>
                <a:prstGeom prst="rect">
                  <a:avLst/>
                </a:prstGeom>
              </p:spPr>
            </p:pic>
            <p:pic>
              <p:nvPicPr>
                <p:cNvPr id="10" name="圖片 9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4948" y="128050"/>
                  <a:ext cx="2751743" cy="463276"/>
                </a:xfrm>
                <a:prstGeom prst="rect">
                  <a:avLst/>
                </a:prstGeom>
              </p:spPr>
            </p:pic>
            <p:pic>
              <p:nvPicPr>
                <p:cNvPr id="11" name="圖片 10"/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14856" y="106713"/>
                  <a:ext cx="1501458" cy="502347"/>
                </a:xfrm>
                <a:prstGeom prst="rect">
                  <a:avLst/>
                </a:prstGeom>
              </p:spPr>
            </p:pic>
          </p:grpSp>
          <p:sp>
            <p:nvSpPr>
              <p:cNvPr id="8" name="文字方塊 7"/>
              <p:cNvSpPr txBox="1"/>
              <p:nvPr/>
            </p:nvSpPr>
            <p:spPr>
              <a:xfrm>
                <a:off x="636418" y="1220131"/>
                <a:ext cx="7416823" cy="35394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altLang="zh-TW" sz="2800" spc="300" dirty="0">
                    <a:latin typeface="Times New Roman" pitchFamily="18" charset="0"/>
                    <a:ea typeface="微軟正黑體" pitchFamily="34" charset="-120"/>
                  </a:rPr>
                  <a:t>(1) Android </a:t>
                </a:r>
                <a:r>
                  <a:rPr lang="zh-TW" altLang="en-US" sz="2800" spc="300" dirty="0">
                    <a:latin typeface="Times New Roman" pitchFamily="18" charset="0"/>
                    <a:ea typeface="微軟正黑體" pitchFamily="34" charset="-120"/>
                  </a:rPr>
                  <a:t>計算機中的</a:t>
                </a:r>
                <a:r>
                  <a:rPr lang="en-US" altLang="zh-TW" sz="2800" spc="300" dirty="0">
                    <a:latin typeface="Times New Roman" pitchFamily="18" charset="0"/>
                    <a:ea typeface="微軟正黑體" pitchFamily="34" charset="-120"/>
                  </a:rPr>
                  <a:t>RAD </a:t>
                </a:r>
                <a:r>
                  <a:rPr lang="zh-TW" altLang="en-US" sz="2800" spc="300" dirty="0">
                    <a:latin typeface="Times New Roman" pitchFamily="18" charset="0"/>
                    <a:ea typeface="微軟正黑體" pitchFamily="34" charset="-120"/>
                  </a:rPr>
                  <a:t>代表「弳」，</a:t>
                </a:r>
                <a:r>
                  <a:rPr lang="en-US" altLang="zh-TW" sz="2800" spc="300" dirty="0">
                    <a:latin typeface="Times New Roman" pitchFamily="18" charset="0"/>
                    <a:ea typeface="微軟正黑體" pitchFamily="34" charset="-120"/>
                  </a:rPr>
                  <a:t>DEG </a:t>
                </a:r>
                <a:r>
                  <a:rPr lang="zh-TW" altLang="en-US" sz="2800" spc="300" dirty="0">
                    <a:latin typeface="Times New Roman" pitchFamily="18" charset="0"/>
                    <a:ea typeface="微軟正黑體" pitchFamily="34" charset="-120"/>
                  </a:rPr>
                  <a:t>代表「度」，若要改變單位，只需按這兩個按鍵即可。</a:t>
                </a:r>
                <a:endParaRPr lang="en-US" altLang="zh-TW" sz="2800" spc="300" dirty="0">
                  <a:latin typeface="Times New Roman" pitchFamily="18" charset="0"/>
                  <a:ea typeface="微軟正黑體" pitchFamily="34" charset="-120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zh-TW" sz="2800" spc="300" dirty="0">
                    <a:latin typeface="Times New Roman" pitchFamily="18" charset="0"/>
                    <a:ea typeface="微軟正黑體" pitchFamily="34" charset="-120"/>
                  </a:rPr>
                  <a:t>(2) </a:t>
                </a:r>
                <a:r>
                  <a:rPr lang="zh-TW" altLang="en-US" sz="2800" spc="300" dirty="0">
                    <a:latin typeface="Times New Roman" pitchFamily="18" charset="0"/>
                    <a:ea typeface="微軟正黑體" pitchFamily="34" charset="-120"/>
                  </a:rPr>
                  <a:t>計算機的</a:t>
                </a:r>
                <a:r>
                  <a:rPr lang="en-US" altLang="zh-TW" sz="2800" spc="300" dirty="0">
                    <a:latin typeface="Times New Roman" pitchFamily="18" charset="0"/>
                    <a:ea typeface="微軟正黑體" pitchFamily="34" charset="-120"/>
                  </a:rPr>
                  <a:t>SHIFT </a:t>
                </a:r>
                <a:r>
                  <a:rPr lang="zh-TW" altLang="en-US" sz="2800" spc="300" dirty="0">
                    <a:latin typeface="Times New Roman" pitchFamily="18" charset="0"/>
                    <a:ea typeface="微軟正黑體" pitchFamily="34" charset="-120"/>
                  </a:rPr>
                  <a:t>主要是控制第二功能。</a:t>
                </a:r>
              </a:p>
            </p:txBody>
          </p:sp>
        </p:grpSp>
        <p:pic>
          <p:nvPicPr>
            <p:cNvPr id="179202" name="Picture 2"/>
            <p:cNvPicPr>
              <a:picLocks noChangeAspect="1" noChangeArrowheads="1"/>
            </p:cNvPicPr>
            <p:nvPr/>
          </p:nvPicPr>
          <p:blipFill>
            <a:blip r:embed="rId6">
              <a:clrChange>
                <a:clrFrom>
                  <a:srgbClr val="DDF1F1"/>
                </a:clrFrom>
                <a:clrTo>
                  <a:srgbClr val="DDF1F1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96400" y="2609814"/>
              <a:ext cx="1657350" cy="23050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97477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10"/>
          <p:cNvSpPr>
            <a:spLocks noGrp="1"/>
          </p:cNvSpPr>
          <p:nvPr>
            <p:ph sz="quarter" idx="11"/>
          </p:nvPr>
        </p:nvSpPr>
        <p:spPr>
          <a:xfrm>
            <a:off x="1127448" y="6455660"/>
            <a:ext cx="781049" cy="357716"/>
          </a:xfrm>
        </p:spPr>
        <p:txBody>
          <a:bodyPr/>
          <a:lstStyle/>
          <a:p>
            <a:r>
              <a:rPr lang="en-US" altLang="zh-TW" dirty="0"/>
              <a:t>100</a:t>
            </a:r>
            <a:endParaRPr lang="zh-TW" altLang="en-US" dirty="0"/>
          </a:p>
        </p:txBody>
      </p:sp>
      <p:sp>
        <p:nvSpPr>
          <p:cNvPr id="2" name="文字版面配置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05</a:t>
            </a:r>
            <a:endParaRPr lang="zh-TW" altLang="en-US" dirty="0"/>
          </a:p>
        </p:txBody>
      </p:sp>
      <p:grpSp>
        <p:nvGrpSpPr>
          <p:cNvPr id="3" name="群組 2"/>
          <p:cNvGrpSpPr/>
          <p:nvPr/>
        </p:nvGrpSpPr>
        <p:grpSpPr>
          <a:xfrm>
            <a:off x="1631504" y="290947"/>
            <a:ext cx="9725985" cy="2599879"/>
            <a:chOff x="1631504" y="290947"/>
            <a:chExt cx="9725985" cy="2599879"/>
          </a:xfrm>
        </p:grpSpPr>
        <p:sp>
          <p:nvSpPr>
            <p:cNvPr id="24" name="文字方塊 23"/>
            <p:cNvSpPr txBox="1"/>
            <p:nvPr/>
          </p:nvSpPr>
          <p:spPr>
            <a:xfrm>
              <a:off x="1631504" y="290947"/>
              <a:ext cx="9721080" cy="25998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TW" altLang="en-US" sz="2800" dirty="0">
                  <a:latin typeface="Times New Roman" pitchFamily="18" charset="0"/>
                  <a:ea typeface="微軟正黑體" pitchFamily="34" charset="-120"/>
                </a:rPr>
                <a:t>在網站的自行車討論綜合區出現以下的照片：</a:t>
              </a:r>
            </a:p>
            <a:p>
              <a:pPr>
                <a:lnSpc>
                  <a:spcPct val="150000"/>
                </a:lnSpc>
              </a:pPr>
              <a:r>
                <a:rPr lang="zh-TW" altLang="en-US" sz="2800" dirty="0">
                  <a:latin typeface="Times New Roman" pitchFamily="18" charset="0"/>
                  <a:ea typeface="微軟正黑體" pitchFamily="34" charset="-120"/>
                </a:rPr>
                <a:t>請同學計算這個險升坡與地面的夾角約是多</a:t>
              </a:r>
            </a:p>
            <a:p>
              <a:pPr>
                <a:lnSpc>
                  <a:spcPct val="150000"/>
                </a:lnSpc>
              </a:pPr>
              <a:r>
                <a:rPr lang="zh-TW" altLang="en-US" sz="2800" dirty="0">
                  <a:latin typeface="Times New Roman" pitchFamily="18" charset="0"/>
                  <a:ea typeface="微軟正黑體" pitchFamily="34" charset="-120"/>
                </a:rPr>
                <a:t>少度？（四捨五入至整數位）其中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20% </a:t>
              </a:r>
              <a:r>
                <a:rPr lang="zh-TW" altLang="en-US" sz="2800" dirty="0">
                  <a:latin typeface="Times New Roman" pitchFamily="18" charset="0"/>
                  <a:ea typeface="微軟正黑體" pitchFamily="34" charset="-120"/>
                </a:rPr>
                <a:t>是指</a:t>
              </a:r>
            </a:p>
            <a:p>
              <a:pPr>
                <a:lnSpc>
                  <a:spcPct val="150000"/>
                </a:lnSpc>
              </a:pPr>
              <a:r>
                <a:rPr lang="zh-TW" altLang="en-US" sz="2800" dirty="0">
                  <a:latin typeface="Times New Roman" pitchFamily="18" charset="0"/>
                  <a:ea typeface="微軟正黑體" pitchFamily="34" charset="-120"/>
                </a:rPr>
                <a:t>每前進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100 </a:t>
              </a:r>
              <a:r>
                <a:rPr lang="zh-TW" altLang="en-US" sz="2800" dirty="0">
                  <a:latin typeface="Times New Roman" pitchFamily="18" charset="0"/>
                  <a:ea typeface="微軟正黑體" pitchFamily="34" charset="-120"/>
                </a:rPr>
                <a:t>公尺會上升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20 </a:t>
              </a:r>
              <a:r>
                <a:rPr lang="zh-TW" altLang="en-US" sz="2800" dirty="0">
                  <a:latin typeface="Times New Roman" pitchFamily="18" charset="0"/>
                  <a:ea typeface="微軟正黑體" pitchFamily="34" charset="-120"/>
                </a:rPr>
                <a:t>公尺。</a:t>
              </a:r>
            </a:p>
          </p:txBody>
        </p:sp>
        <p:pic>
          <p:nvPicPr>
            <p:cNvPr id="180226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10345" y="404664"/>
              <a:ext cx="2247144" cy="1761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4" name="Picture 715">
            <a:extLst>
              <a:ext uri="{FF2B5EF4-FFF2-40B4-BE49-F238E27FC236}">
                <a16:creationId xmlns:a16="http://schemas.microsoft.com/office/drawing/2014/main" id="{20212DDF-1336-ABF2-EA34-F7E37B296D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6329" y="3348956"/>
            <a:ext cx="3024336" cy="1008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0227" name="Rounded Rectangle 180226"/>
          <p:cNvSpPr/>
          <p:nvPr/>
        </p:nvSpPr>
        <p:spPr>
          <a:xfrm>
            <a:off x="6217920" y="3931920"/>
            <a:ext cx="5303520" cy="2468880"/>
          </a:xfrm>
          <a:prstGeom prst="roundRect">
            <a:avLst/>
          </a:prstGeom>
          <a:solidFill>
            <a:srgbClr val="FEFCE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228" name="TextBox 180227"/>
          <p:cNvSpPr txBox="1"/>
          <p:nvPr/>
        </p:nvSpPr>
        <p:spPr>
          <a:xfrm>
            <a:off x="6382512" y="4041648"/>
            <a:ext cx="4974336" cy="22494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B91C1C"/>
                </a:solidFill>
                <a:latin typeface="微軟正黑體"/>
              </a:rPr>
              <a:t>🎯 隨堂練習 5 課堂思考方向：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① 險升坡百分比：20% ＝ 每前進 100 公尺上升 20 公尺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② 坡度正切值：tan θ ＝ 20 / 100 ＝ 0.2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③ 反推夾角：求對應夾角 θ 大約為多少度</a:t>
            </a:r>
          </a:p>
        </p:txBody>
      </p:sp>
    </p:spTree>
    <p:extLst>
      <p:ext uri="{BB962C8B-B14F-4D97-AF65-F5344CB8AC3E}">
        <p14:creationId xmlns:p14="http://schemas.microsoft.com/office/powerpoint/2010/main" val="3425920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3"/>
          <p:cNvSpPr>
            <a:spLocks noGrp="1"/>
          </p:cNvSpPr>
          <p:nvPr>
            <p:ph type="body" sz="quarter" idx="11"/>
          </p:nvPr>
        </p:nvSpPr>
        <p:spPr>
          <a:xfrm>
            <a:off x="1559496" y="3813047"/>
            <a:ext cx="6696744" cy="697839"/>
          </a:xfrm>
        </p:spPr>
        <p:txBody>
          <a:bodyPr/>
          <a:lstStyle/>
          <a:p>
            <a:r>
              <a:rPr lang="en-US" altLang="zh-TW" dirty="0"/>
              <a:t>2</a:t>
            </a:r>
            <a:r>
              <a:rPr lang="en-US" altLang="zh-TW" spc="300" dirty="0"/>
              <a:t>-2.3</a:t>
            </a:r>
            <a:r>
              <a:rPr lang="zh-TW" altLang="en-US" dirty="0"/>
              <a:t>三角函數的恆等關係</a:t>
            </a:r>
            <a:endParaRPr lang="zh-TW" altLang="en-US" spc="300" dirty="0"/>
          </a:p>
        </p:txBody>
      </p:sp>
    </p:spTree>
    <p:extLst>
      <p:ext uri="{BB962C8B-B14F-4D97-AF65-F5344CB8AC3E}">
        <p14:creationId xmlns:p14="http://schemas.microsoft.com/office/powerpoint/2010/main" val="3547714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/>
          <p:cNvSpPr txBox="1"/>
          <p:nvPr/>
        </p:nvSpPr>
        <p:spPr>
          <a:xfrm>
            <a:off x="1517650" y="1029136"/>
            <a:ext cx="781871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000" b="1" dirty="0">
                <a:latin typeface="微軟正黑體" pitchFamily="34" charset="-120"/>
                <a:ea typeface="微軟正黑體" pitchFamily="34" charset="-120"/>
              </a:rPr>
              <a:t>2-2.3</a:t>
            </a:r>
            <a:r>
              <a:rPr lang="zh-TW" altLang="en-US" sz="3000" b="1" dirty="0">
                <a:latin typeface="微軟正黑體" pitchFamily="34" charset="-120"/>
                <a:ea typeface="微軟正黑體" pitchFamily="34" charset="-120"/>
              </a:rPr>
              <a:t>三角函數的恆等關係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>
          <a:xfrm>
            <a:off x="1127448" y="6455660"/>
            <a:ext cx="781049" cy="357716"/>
          </a:xfrm>
        </p:spPr>
        <p:txBody>
          <a:bodyPr/>
          <a:lstStyle/>
          <a:p>
            <a:r>
              <a:rPr lang="en-US" altLang="zh-TW" dirty="0"/>
              <a:t>117</a:t>
            </a:r>
            <a:endParaRPr lang="zh-TW" alt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789299" y="2492896"/>
            <a:ext cx="1098526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根據三角函數的定義，我們知道三角函數存在著倒數關係，</a:t>
            </a:r>
            <a:br>
              <a:rPr lang="en-US" altLang="zh-TW" sz="2800" dirty="0">
                <a:latin typeface="Times New Roman" pitchFamily="18" charset="0"/>
                <a:ea typeface="微軟正黑體" pitchFamily="34" charset="-120"/>
              </a:rPr>
            </a:b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除此之外，我們來看看三角函數還有哪些重要的恆等關係？</a:t>
            </a:r>
          </a:p>
        </p:txBody>
      </p:sp>
    </p:spTree>
    <p:extLst>
      <p:ext uri="{BB962C8B-B14F-4D97-AF65-F5344CB8AC3E}">
        <p14:creationId xmlns:p14="http://schemas.microsoft.com/office/powerpoint/2010/main" val="1277812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1. </a:t>
            </a:r>
            <a:r>
              <a:rPr lang="zh-TW" altLang="en-US" dirty="0"/>
              <a:t>倒數關係</a:t>
            </a:r>
          </a:p>
        </p:txBody>
      </p:sp>
      <p:sp>
        <p:nvSpPr>
          <p:cNvPr id="10" name="內容版面配置區 9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zh-TW" dirty="0"/>
              <a:t>117</a:t>
            </a:r>
            <a:endParaRPr lang="zh-TW" altLang="en-US" dirty="0"/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99731EE9-A112-49CE-A31E-EC16951259A7}"/>
              </a:ext>
            </a:extLst>
          </p:cNvPr>
          <p:cNvGrpSpPr/>
          <p:nvPr/>
        </p:nvGrpSpPr>
        <p:grpSpPr>
          <a:xfrm>
            <a:off x="1271464" y="1916928"/>
            <a:ext cx="9761266" cy="3246017"/>
            <a:chOff x="1271464" y="1916928"/>
            <a:chExt cx="9761266" cy="3246017"/>
          </a:xfrm>
        </p:grpSpPr>
        <p:sp>
          <p:nvSpPr>
            <p:cNvPr id="6" name="文字方塊 5"/>
            <p:cNvSpPr txBox="1"/>
            <p:nvPr/>
          </p:nvSpPr>
          <p:spPr>
            <a:xfrm>
              <a:off x="1271464" y="1916928"/>
              <a:ext cx="5954184" cy="32460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六角形中，每條對角線兩端點的三角函數，互為倒數。</a:t>
              </a:r>
            </a:p>
            <a:p>
              <a:pPr>
                <a:lnSpc>
                  <a:spcPct val="150000"/>
                </a:lnSpc>
              </a:pP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(1) sin </a:t>
              </a:r>
              <a:r>
                <a:rPr lang="el-GR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spc="300" dirty="0">
                  <a:latin typeface="Times New Roman" pitchFamily="18" charset="0"/>
                  <a:ea typeface="微軟正黑體" pitchFamily="34" charset="-120"/>
                </a:rPr>
                <a:t> ⋅ </a:t>
              </a:r>
              <a:r>
                <a:rPr lang="en-US" altLang="zh-TW" sz="2800" spc="300" dirty="0" err="1">
                  <a:latin typeface="Times New Roman" pitchFamily="18" charset="0"/>
                  <a:ea typeface="微軟正黑體" pitchFamily="34" charset="-120"/>
                </a:rPr>
                <a:t>csc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el-GR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spc="300" dirty="0">
                  <a:latin typeface="Times New Roman" pitchFamily="18" charset="0"/>
                  <a:ea typeface="微軟正黑體" pitchFamily="34" charset="-120"/>
                </a:rPr>
                <a:t> = 1</a:t>
              </a:r>
            </a:p>
            <a:p>
              <a:pPr>
                <a:lnSpc>
                  <a:spcPct val="150000"/>
                </a:lnSpc>
              </a:pPr>
              <a:r>
                <a:rPr lang="el-GR" altLang="zh-TW" sz="2800" spc="300" dirty="0">
                  <a:latin typeface="Times New Roman" pitchFamily="18" charset="0"/>
                  <a:ea typeface="微軟正黑體" pitchFamily="34" charset="-120"/>
                </a:rPr>
                <a:t>(2) 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cos </a:t>
              </a:r>
              <a:r>
                <a:rPr lang="el-GR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spc="300" dirty="0">
                  <a:latin typeface="Times New Roman" pitchFamily="18" charset="0"/>
                  <a:ea typeface="微軟正黑體" pitchFamily="34" charset="-120"/>
                </a:rPr>
                <a:t> ⋅ 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sec </a:t>
              </a:r>
              <a:r>
                <a:rPr lang="el-GR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spc="300" dirty="0">
                  <a:latin typeface="Times New Roman" pitchFamily="18" charset="0"/>
                  <a:ea typeface="微軟正黑體" pitchFamily="34" charset="-120"/>
                </a:rPr>
                <a:t> = 1</a:t>
              </a:r>
            </a:p>
            <a:p>
              <a:pPr>
                <a:lnSpc>
                  <a:spcPct val="150000"/>
                </a:lnSpc>
              </a:pPr>
              <a:r>
                <a:rPr lang="el-GR" altLang="zh-TW" sz="2800" spc="300" dirty="0">
                  <a:latin typeface="Times New Roman" pitchFamily="18" charset="0"/>
                  <a:ea typeface="微軟正黑體" pitchFamily="34" charset="-120"/>
                </a:rPr>
                <a:t>(3) 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tan 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el-GR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spc="300" dirty="0">
                  <a:latin typeface="Times New Roman" pitchFamily="18" charset="0"/>
                  <a:ea typeface="微軟正黑體" pitchFamily="34" charset="-120"/>
                </a:rPr>
                <a:t> ⋅ 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cot </a:t>
              </a:r>
              <a:r>
                <a:rPr lang="el-GR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spc="300" dirty="0">
                  <a:latin typeface="Times New Roman" pitchFamily="18" charset="0"/>
                  <a:ea typeface="微軟正黑體" pitchFamily="34" charset="-120"/>
                </a:rPr>
                <a:t> = 1</a:t>
              </a:r>
              <a:r>
                <a:rPr lang="zh-TW" altLang="el-GR" sz="2800" spc="300" dirty="0">
                  <a:latin typeface="Times New Roman" pitchFamily="18" charset="0"/>
                  <a:ea typeface="微軟正黑體" pitchFamily="34" charset="-120"/>
                </a:rPr>
                <a:t>。</a:t>
              </a:r>
              <a:endParaRPr lang="zh-TW" altLang="en-US" sz="2800" spc="300" dirty="0">
                <a:latin typeface="Times New Roman" pitchFamily="18" charset="0"/>
                <a:ea typeface="微軟正黑體" pitchFamily="34" charset="-120"/>
              </a:endParaRPr>
            </a:p>
          </p:txBody>
        </p:sp>
        <p:pic>
          <p:nvPicPr>
            <p:cNvPr id="5" name="Picture 2">
              <a:extLst>
                <a:ext uri="{FF2B5EF4-FFF2-40B4-BE49-F238E27FC236}">
                  <a16:creationId xmlns:a16="http://schemas.microsoft.com/office/drawing/2014/main" id="{9A34C9A9-C207-45BC-BDE0-5920AB620D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DEAEA"/>
                </a:clrFrom>
                <a:clrTo>
                  <a:srgbClr val="FDEAEA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28003" y="1969425"/>
              <a:ext cx="3804727" cy="31410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873887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2. </a:t>
            </a:r>
            <a:r>
              <a:rPr lang="zh-TW" altLang="en-US" dirty="0"/>
              <a:t>平方關係</a:t>
            </a:r>
          </a:p>
        </p:txBody>
      </p:sp>
      <p:sp>
        <p:nvSpPr>
          <p:cNvPr id="10" name="內容版面配置區 9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zh-TW" dirty="0"/>
              <a:t>117</a:t>
            </a:r>
            <a:endParaRPr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976824" y="1916831"/>
            <a:ext cx="6204385" cy="324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800" spc="300" dirty="0">
                <a:latin typeface="Times New Roman" pitchFamily="18" charset="0"/>
                <a:ea typeface="微軟正黑體" pitchFamily="34" charset="-120"/>
              </a:rPr>
              <a:t>六角形中，每個倒三角形，上方兩頂點之平方和等於下方頂點之平方。</a:t>
            </a:r>
          </a:p>
          <a:p>
            <a:pPr>
              <a:lnSpc>
                <a:spcPct val="150000"/>
              </a:lnSpc>
            </a:pPr>
            <a:r>
              <a:rPr lang="en-US" altLang="zh-TW" sz="2800" spc="300" dirty="0">
                <a:latin typeface="Times New Roman" pitchFamily="18" charset="0"/>
                <a:ea typeface="微軟正黑體" pitchFamily="34" charset="-120"/>
              </a:rPr>
              <a:t>(1) sin</a:t>
            </a:r>
            <a:r>
              <a:rPr lang="en-US" altLang="zh-TW" sz="2800" spc="300" baseline="30000" dirty="0">
                <a:latin typeface="Times New Roman" pitchFamily="18" charset="0"/>
                <a:ea typeface="微軟正黑體" pitchFamily="34" charset="-120"/>
              </a:rPr>
              <a:t>2</a:t>
            </a:r>
            <a:r>
              <a:rPr lang="en-US" altLang="zh-TW" sz="2800" spc="300" dirty="0">
                <a:latin typeface="Times New Roman" pitchFamily="18" charset="0"/>
                <a:ea typeface="微軟正黑體" pitchFamily="34" charset="-120"/>
              </a:rPr>
              <a:t> </a:t>
            </a:r>
            <a:r>
              <a:rPr lang="el-GR" altLang="zh-TW" sz="2800" i="1" spc="300" dirty="0">
                <a:latin typeface="Times New Roman" pitchFamily="18" charset="0"/>
                <a:ea typeface="微軟正黑體" pitchFamily="34" charset="-120"/>
              </a:rPr>
              <a:t>θ</a:t>
            </a:r>
            <a:r>
              <a:rPr lang="el-GR" altLang="zh-TW" sz="2800" spc="300" dirty="0">
                <a:latin typeface="Times New Roman" pitchFamily="18" charset="0"/>
                <a:ea typeface="微軟正黑體" pitchFamily="34" charset="-120"/>
              </a:rPr>
              <a:t> + </a:t>
            </a:r>
            <a:r>
              <a:rPr lang="en-US" altLang="zh-TW" sz="2800" spc="300" dirty="0">
                <a:latin typeface="Times New Roman" pitchFamily="18" charset="0"/>
                <a:ea typeface="微軟正黑體" pitchFamily="34" charset="-120"/>
              </a:rPr>
              <a:t>cos</a:t>
            </a:r>
            <a:r>
              <a:rPr lang="en-US" altLang="zh-TW" sz="2800" spc="300" baseline="30000" dirty="0">
                <a:latin typeface="Times New Roman" pitchFamily="18" charset="0"/>
                <a:ea typeface="微軟正黑體" pitchFamily="34" charset="-120"/>
              </a:rPr>
              <a:t>2</a:t>
            </a:r>
            <a:r>
              <a:rPr lang="en-US" altLang="zh-TW" sz="2800" spc="300" dirty="0">
                <a:latin typeface="Times New Roman" pitchFamily="18" charset="0"/>
                <a:ea typeface="微軟正黑體" pitchFamily="34" charset="-120"/>
              </a:rPr>
              <a:t> </a:t>
            </a:r>
            <a:r>
              <a:rPr lang="el-GR" altLang="zh-TW" sz="2800" i="1" spc="300" dirty="0">
                <a:latin typeface="Times New Roman" pitchFamily="18" charset="0"/>
                <a:ea typeface="微軟正黑體" pitchFamily="34" charset="-120"/>
              </a:rPr>
              <a:t>θ</a:t>
            </a:r>
            <a:r>
              <a:rPr lang="el-GR" altLang="zh-TW" sz="2800" spc="300" dirty="0">
                <a:latin typeface="Times New Roman" pitchFamily="18" charset="0"/>
                <a:ea typeface="微軟正黑體" pitchFamily="34" charset="-120"/>
              </a:rPr>
              <a:t> = 1</a:t>
            </a:r>
          </a:p>
          <a:p>
            <a:pPr>
              <a:lnSpc>
                <a:spcPct val="150000"/>
              </a:lnSpc>
            </a:pPr>
            <a:r>
              <a:rPr lang="el-GR" altLang="zh-TW" sz="2800" spc="300" dirty="0">
                <a:latin typeface="Times New Roman" pitchFamily="18" charset="0"/>
                <a:ea typeface="微軟正黑體" pitchFamily="34" charset="-120"/>
              </a:rPr>
              <a:t>(2) </a:t>
            </a:r>
            <a:r>
              <a:rPr lang="en-US" altLang="zh-TW" sz="2800" spc="300" dirty="0">
                <a:latin typeface="Times New Roman" pitchFamily="18" charset="0"/>
                <a:ea typeface="微軟正黑體" pitchFamily="34" charset="-120"/>
              </a:rPr>
              <a:t>tan</a:t>
            </a:r>
            <a:r>
              <a:rPr lang="en-US" altLang="zh-TW" sz="2800" spc="300" baseline="30000" dirty="0">
                <a:latin typeface="Times New Roman" pitchFamily="18" charset="0"/>
                <a:ea typeface="微軟正黑體" pitchFamily="34" charset="-120"/>
              </a:rPr>
              <a:t>2</a:t>
            </a:r>
            <a:r>
              <a:rPr lang="en-US" altLang="zh-TW" sz="2800" spc="300" dirty="0">
                <a:latin typeface="Times New Roman" pitchFamily="18" charset="0"/>
                <a:ea typeface="微軟正黑體" pitchFamily="34" charset="-120"/>
              </a:rPr>
              <a:t> </a:t>
            </a:r>
            <a:r>
              <a:rPr lang="el-GR" altLang="zh-TW" sz="2800" i="1" spc="300" dirty="0">
                <a:latin typeface="Times New Roman" pitchFamily="18" charset="0"/>
                <a:ea typeface="微軟正黑體" pitchFamily="34" charset="-120"/>
              </a:rPr>
              <a:t>θ</a:t>
            </a:r>
            <a:r>
              <a:rPr lang="el-GR" altLang="zh-TW" sz="2800" spc="300" dirty="0">
                <a:latin typeface="Times New Roman" pitchFamily="18" charset="0"/>
                <a:ea typeface="微軟正黑體" pitchFamily="34" charset="-120"/>
              </a:rPr>
              <a:t> + 1 = </a:t>
            </a:r>
            <a:r>
              <a:rPr lang="en-US" altLang="zh-TW" sz="2800" spc="300" dirty="0">
                <a:latin typeface="Times New Roman" pitchFamily="18" charset="0"/>
                <a:ea typeface="微軟正黑體" pitchFamily="34" charset="-120"/>
              </a:rPr>
              <a:t>sec</a:t>
            </a:r>
            <a:r>
              <a:rPr lang="en-US" altLang="zh-TW" sz="2800" spc="300" baseline="30000" dirty="0">
                <a:latin typeface="Times New Roman" pitchFamily="18" charset="0"/>
                <a:ea typeface="微軟正黑體" pitchFamily="34" charset="-120"/>
              </a:rPr>
              <a:t>2</a:t>
            </a:r>
            <a:r>
              <a:rPr lang="en-US" altLang="zh-TW" sz="2800" spc="300" dirty="0">
                <a:latin typeface="Times New Roman" pitchFamily="18" charset="0"/>
                <a:ea typeface="微軟正黑體" pitchFamily="34" charset="-120"/>
              </a:rPr>
              <a:t> </a:t>
            </a:r>
            <a:r>
              <a:rPr lang="el-GR" altLang="zh-TW" sz="2800" i="1" spc="300" dirty="0">
                <a:latin typeface="Times New Roman" pitchFamily="18" charset="0"/>
                <a:ea typeface="微軟正黑體" pitchFamily="34" charset="-120"/>
              </a:rPr>
              <a:t>θ</a:t>
            </a:r>
          </a:p>
          <a:p>
            <a:pPr>
              <a:lnSpc>
                <a:spcPct val="150000"/>
              </a:lnSpc>
            </a:pPr>
            <a:r>
              <a:rPr lang="el-GR" altLang="zh-TW" sz="2800" spc="300" dirty="0">
                <a:latin typeface="Times New Roman" pitchFamily="18" charset="0"/>
                <a:ea typeface="微軟正黑體" pitchFamily="34" charset="-120"/>
              </a:rPr>
              <a:t>(3) 1 + </a:t>
            </a:r>
            <a:r>
              <a:rPr lang="en-US" altLang="zh-TW" sz="2800" spc="300" dirty="0">
                <a:latin typeface="Times New Roman" pitchFamily="18" charset="0"/>
                <a:ea typeface="微軟正黑體" pitchFamily="34" charset="-120"/>
              </a:rPr>
              <a:t>cot</a:t>
            </a:r>
            <a:r>
              <a:rPr lang="en-US" altLang="zh-TW" sz="2800" spc="300" baseline="30000" dirty="0">
                <a:latin typeface="Times New Roman" pitchFamily="18" charset="0"/>
                <a:ea typeface="微軟正黑體" pitchFamily="34" charset="-120"/>
              </a:rPr>
              <a:t>2</a:t>
            </a:r>
            <a:r>
              <a:rPr lang="en-US" altLang="zh-TW" sz="2800" spc="300" dirty="0">
                <a:latin typeface="Times New Roman" pitchFamily="18" charset="0"/>
                <a:ea typeface="微軟正黑體" pitchFamily="34" charset="-120"/>
              </a:rPr>
              <a:t> </a:t>
            </a:r>
            <a:r>
              <a:rPr lang="el-GR" altLang="zh-TW" sz="2800" i="1" spc="300" dirty="0">
                <a:latin typeface="Times New Roman" pitchFamily="18" charset="0"/>
                <a:ea typeface="微軟正黑體" pitchFamily="34" charset="-120"/>
              </a:rPr>
              <a:t>θ</a:t>
            </a:r>
            <a:r>
              <a:rPr lang="el-GR" altLang="zh-TW" sz="2800" spc="300" dirty="0">
                <a:latin typeface="Times New Roman" pitchFamily="18" charset="0"/>
                <a:ea typeface="微軟正黑體" pitchFamily="34" charset="-120"/>
              </a:rPr>
              <a:t> = </a:t>
            </a:r>
            <a:r>
              <a:rPr lang="en-US" altLang="zh-TW" sz="2800" spc="300" dirty="0">
                <a:latin typeface="Times New Roman" pitchFamily="18" charset="0"/>
                <a:ea typeface="微軟正黑體" pitchFamily="34" charset="-120"/>
              </a:rPr>
              <a:t>csc</a:t>
            </a:r>
            <a:r>
              <a:rPr lang="en-US" altLang="zh-TW" sz="2800" spc="300" baseline="30000" dirty="0">
                <a:latin typeface="Times New Roman" pitchFamily="18" charset="0"/>
                <a:ea typeface="微軟正黑體" pitchFamily="34" charset="-120"/>
              </a:rPr>
              <a:t>2</a:t>
            </a:r>
            <a:r>
              <a:rPr lang="en-US" altLang="zh-TW" sz="2800" spc="300" dirty="0">
                <a:latin typeface="Times New Roman" pitchFamily="18" charset="0"/>
                <a:ea typeface="微軟正黑體" pitchFamily="34" charset="-120"/>
              </a:rPr>
              <a:t> </a:t>
            </a:r>
            <a:r>
              <a:rPr lang="el-GR" altLang="zh-TW" sz="2800" i="1" spc="300" dirty="0">
                <a:latin typeface="Times New Roman" pitchFamily="18" charset="0"/>
                <a:ea typeface="微軟正黑體" pitchFamily="34" charset="-120"/>
              </a:rPr>
              <a:t>θ</a:t>
            </a:r>
            <a:r>
              <a:rPr lang="zh-TW" altLang="el-GR" sz="2800" spc="300" dirty="0">
                <a:latin typeface="Times New Roman" pitchFamily="18" charset="0"/>
                <a:ea typeface="微軟正黑體" pitchFamily="34" charset="-120"/>
              </a:rPr>
              <a:t>。</a:t>
            </a:r>
            <a:endParaRPr lang="zh-TW" altLang="en-US" sz="2800" spc="300" dirty="0">
              <a:latin typeface="Times New Roman" pitchFamily="18" charset="0"/>
              <a:ea typeface="微軟正黑體" pitchFamily="34" charset="-120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6A8C0269-95E5-4200-A39E-85B6DD35F6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DEAEA"/>
              </a:clrFrom>
              <a:clrTo>
                <a:srgbClr val="FDEAE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8003" y="1969425"/>
            <a:ext cx="3804727" cy="31410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40926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3. </a:t>
            </a:r>
            <a:r>
              <a:rPr lang="zh-TW" altLang="en-US" dirty="0"/>
              <a:t>商數關係</a:t>
            </a:r>
          </a:p>
        </p:txBody>
      </p:sp>
      <p:sp>
        <p:nvSpPr>
          <p:cNvPr id="10" name="內容版面配置區 9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zh-TW" dirty="0"/>
              <a:t>117</a:t>
            </a:r>
            <a:endParaRPr lang="zh-TW" altLang="en-US" dirty="0"/>
          </a:p>
        </p:txBody>
      </p:sp>
      <p:grpSp>
        <p:nvGrpSpPr>
          <p:cNvPr id="4" name="群組 3"/>
          <p:cNvGrpSpPr/>
          <p:nvPr/>
        </p:nvGrpSpPr>
        <p:grpSpPr>
          <a:xfrm>
            <a:off x="587388" y="1774896"/>
            <a:ext cx="11017224" cy="3236923"/>
            <a:chOff x="587388" y="1774896"/>
            <a:chExt cx="11017224" cy="3236923"/>
          </a:xfrm>
        </p:grpSpPr>
        <p:sp>
          <p:nvSpPr>
            <p:cNvPr id="6" name="文字方塊 5"/>
            <p:cNvSpPr txBox="1"/>
            <p:nvPr/>
          </p:nvSpPr>
          <p:spPr>
            <a:xfrm>
              <a:off x="587388" y="1774896"/>
              <a:ext cx="11017224" cy="31382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250000"/>
                </a:lnSpc>
              </a:pP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六角形中，每個頂點為相鄰兩頂點之乘積。</a:t>
              </a:r>
            </a:p>
            <a:p>
              <a:pPr>
                <a:lnSpc>
                  <a:spcPct val="250000"/>
                </a:lnSpc>
              </a:pP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(1) sin </a:t>
              </a:r>
              <a:r>
                <a:rPr lang="en-US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 = tan </a:t>
              </a:r>
              <a:r>
                <a:rPr lang="en-US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 ⋅ cos</a:t>
              </a:r>
              <a:r>
                <a:rPr lang="en-US" altLang="zh-TW" sz="2800" i="1" spc="300" dirty="0">
                  <a:latin typeface="Times New Roman" pitchFamily="18" charset="0"/>
                  <a:ea typeface="微軟正黑體" pitchFamily="34" charset="-120"/>
                </a:rPr>
                <a:t> θ</a:t>
              </a:r>
              <a:r>
                <a:rPr lang="zh-TW" altLang="el-GR" sz="2800" i="1" spc="3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l-GR" sz="2800" spc="300" dirty="0">
                  <a:latin typeface="Times New Roman" pitchFamily="18" charset="0"/>
                  <a:ea typeface="微軟正黑體" pitchFamily="34" charset="-120"/>
                </a:rPr>
                <a:t>，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即</a:t>
              </a:r>
              <a:endParaRPr lang="en-US" altLang="zh-TW" sz="2800" spc="300" dirty="0">
                <a:latin typeface="Times New Roman" pitchFamily="18" charset="0"/>
                <a:ea typeface="微軟正黑體" pitchFamily="34" charset="-120"/>
              </a:endParaRPr>
            </a:p>
            <a:p>
              <a:pPr>
                <a:lnSpc>
                  <a:spcPct val="250000"/>
                </a:lnSpc>
              </a:pP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(2) cos </a:t>
              </a:r>
              <a:r>
                <a:rPr lang="el-GR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spc="300" dirty="0">
                  <a:latin typeface="Times New Roman" pitchFamily="18" charset="0"/>
                  <a:ea typeface="微軟正黑體" pitchFamily="34" charset="-120"/>
                </a:rPr>
                <a:t> = 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cot </a:t>
              </a:r>
              <a:r>
                <a:rPr lang="el-GR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spc="300" dirty="0">
                  <a:latin typeface="Times New Roman" pitchFamily="18" charset="0"/>
                  <a:ea typeface="微軟正黑體" pitchFamily="34" charset="-120"/>
                </a:rPr>
                <a:t> ⋅ 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sin </a:t>
              </a:r>
              <a:r>
                <a:rPr lang="el-GR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zh-TW" altLang="en-US" sz="2800" i="1" spc="3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l-GR" sz="2800" spc="300" dirty="0">
                  <a:latin typeface="Times New Roman" pitchFamily="18" charset="0"/>
                  <a:ea typeface="微軟正黑體" pitchFamily="34" charset="-120"/>
                </a:rPr>
                <a:t>，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即</a:t>
              </a:r>
            </a:p>
          </p:txBody>
        </p:sp>
        <p:graphicFrame>
          <p:nvGraphicFramePr>
            <p:cNvPr id="3" name="物件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08881455"/>
                </p:ext>
              </p:extLst>
            </p:nvPr>
          </p:nvGraphicFramePr>
          <p:xfrm>
            <a:off x="5932200" y="3120836"/>
            <a:ext cx="1841500" cy="838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841400" imgH="838080" progId="Equation.DSMT4">
                    <p:embed/>
                  </p:oleObj>
                </mc:Choice>
                <mc:Fallback>
                  <p:oleObj name="Equation" r:id="rId2" imgW="1841400" imgH="838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5932200" y="3120836"/>
                          <a:ext cx="1841500" cy="838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物件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4197771"/>
                </p:ext>
              </p:extLst>
            </p:nvPr>
          </p:nvGraphicFramePr>
          <p:xfrm>
            <a:off x="5944900" y="4173619"/>
            <a:ext cx="1828800" cy="838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828800" imgH="838080" progId="Equation.DSMT4">
                    <p:embed/>
                  </p:oleObj>
                </mc:Choice>
                <mc:Fallback>
                  <p:oleObj name="Equation" r:id="rId4" imgW="1828800" imgH="838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944900" y="4173619"/>
                          <a:ext cx="1828800" cy="838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8" name="Picture 2">
            <a:extLst>
              <a:ext uri="{FF2B5EF4-FFF2-40B4-BE49-F238E27FC236}">
                <a16:creationId xmlns:a16="http://schemas.microsoft.com/office/drawing/2014/main" id="{14A096D6-0C2A-4C53-8B2B-16E3478DD3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DEAEA"/>
              </a:clrFrom>
              <a:clrTo>
                <a:srgbClr val="FDEAE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4232" y="1969425"/>
            <a:ext cx="3804727" cy="31410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63493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4. </a:t>
            </a:r>
            <a:r>
              <a:rPr lang="zh-TW" altLang="en-US" dirty="0"/>
              <a:t>餘角關係</a:t>
            </a:r>
          </a:p>
        </p:txBody>
      </p:sp>
      <p:sp>
        <p:nvSpPr>
          <p:cNvPr id="10" name="內容版面配置區 9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zh-TW" dirty="0"/>
              <a:t>117</a:t>
            </a:r>
            <a:endParaRPr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971433" y="1120676"/>
            <a:ext cx="9949103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800" spc="300" dirty="0">
                <a:latin typeface="Times New Roman" pitchFamily="18" charset="0"/>
                <a:ea typeface="微軟正黑體" pitchFamily="34" charset="-120"/>
              </a:rPr>
              <a:t>六角形中，每條橫線兩端點的三角函數互為餘角關係。</a:t>
            </a:r>
          </a:p>
          <a:p>
            <a:pPr>
              <a:lnSpc>
                <a:spcPct val="150000"/>
              </a:lnSpc>
            </a:pPr>
            <a:r>
              <a:rPr lang="en-US" altLang="zh-TW" sz="2800" spc="300" dirty="0">
                <a:latin typeface="Times New Roman" pitchFamily="18" charset="0"/>
                <a:ea typeface="微軟正黑體" pitchFamily="34" charset="-120"/>
              </a:rPr>
              <a:t>(1) sin(90°</a:t>
            </a:r>
            <a:r>
              <a:rPr lang="en-US" altLang="zh-TW" sz="2800" spc="300" dirty="0">
                <a:latin typeface="Symbol" panose="05050102010706020507" pitchFamily="18" charset="2"/>
                <a:ea typeface="微軟正黑體" pitchFamily="34" charset="-120"/>
              </a:rPr>
              <a:t>-</a:t>
            </a:r>
            <a:r>
              <a:rPr lang="el-GR" altLang="zh-TW" sz="2800" i="1" spc="300" dirty="0">
                <a:latin typeface="Times New Roman" pitchFamily="18" charset="0"/>
                <a:ea typeface="微軟正黑體" pitchFamily="34" charset="-120"/>
              </a:rPr>
              <a:t>θ</a:t>
            </a:r>
            <a:r>
              <a:rPr lang="el-GR" altLang="zh-TW" sz="2800" spc="300" dirty="0">
                <a:latin typeface="Times New Roman" pitchFamily="18" charset="0"/>
                <a:ea typeface="微軟正黑體" pitchFamily="34" charset="-120"/>
              </a:rPr>
              <a:t>) = </a:t>
            </a:r>
            <a:r>
              <a:rPr lang="en-US" altLang="zh-TW" sz="2800" spc="300" dirty="0">
                <a:latin typeface="Times New Roman" pitchFamily="18" charset="0"/>
                <a:ea typeface="微軟正黑體" pitchFamily="34" charset="-120"/>
              </a:rPr>
              <a:t>cos </a:t>
            </a:r>
            <a:r>
              <a:rPr lang="el-GR" altLang="zh-TW" sz="2800" i="1" spc="300" dirty="0">
                <a:latin typeface="Times New Roman" pitchFamily="18" charset="0"/>
                <a:ea typeface="微軟正黑體" pitchFamily="34" charset="-120"/>
              </a:rPr>
              <a:t>θ</a:t>
            </a:r>
            <a:endParaRPr lang="en-US" altLang="zh-TW" sz="2800" i="1" spc="300" dirty="0">
              <a:latin typeface="Times New Roman" pitchFamily="18" charset="0"/>
              <a:ea typeface="微軟正黑體" pitchFamily="34" charset="-120"/>
            </a:endParaRPr>
          </a:p>
          <a:p>
            <a:pPr>
              <a:lnSpc>
                <a:spcPct val="150000"/>
              </a:lnSpc>
            </a:pPr>
            <a:r>
              <a:rPr lang="el-GR" altLang="zh-TW" sz="2800" spc="300" dirty="0">
                <a:latin typeface="Times New Roman" pitchFamily="18" charset="0"/>
                <a:ea typeface="微軟正黑體" pitchFamily="34" charset="-120"/>
              </a:rPr>
              <a:t>(2) </a:t>
            </a:r>
            <a:r>
              <a:rPr lang="en-US" altLang="zh-TW" sz="2800" spc="300" dirty="0">
                <a:latin typeface="Times New Roman" pitchFamily="18" charset="0"/>
                <a:ea typeface="微軟正黑體" pitchFamily="34" charset="-120"/>
              </a:rPr>
              <a:t>cos(90°</a:t>
            </a:r>
            <a:r>
              <a:rPr lang="en-US" altLang="zh-TW" sz="2800" spc="300" dirty="0">
                <a:latin typeface="Symbol" panose="05050102010706020507" pitchFamily="18" charset="2"/>
                <a:ea typeface="微軟正黑體" pitchFamily="34" charset="-120"/>
              </a:rPr>
              <a:t>-</a:t>
            </a:r>
            <a:r>
              <a:rPr lang="el-GR" altLang="zh-TW" sz="2800" i="1" spc="300" dirty="0">
                <a:latin typeface="Times New Roman" pitchFamily="18" charset="0"/>
                <a:ea typeface="微軟正黑體" pitchFamily="34" charset="-120"/>
              </a:rPr>
              <a:t>θ</a:t>
            </a:r>
            <a:r>
              <a:rPr lang="el-GR" altLang="zh-TW" sz="2800" spc="300" dirty="0">
                <a:latin typeface="Times New Roman" pitchFamily="18" charset="0"/>
                <a:ea typeface="微軟正黑體" pitchFamily="34" charset="-120"/>
              </a:rPr>
              <a:t>) = </a:t>
            </a:r>
            <a:r>
              <a:rPr lang="en-US" altLang="zh-TW" sz="2800" spc="300" dirty="0">
                <a:latin typeface="Times New Roman" pitchFamily="18" charset="0"/>
                <a:ea typeface="微軟正黑體" pitchFamily="34" charset="-120"/>
              </a:rPr>
              <a:t>sin </a:t>
            </a:r>
            <a:r>
              <a:rPr lang="el-GR" altLang="zh-TW" sz="2800" i="1" spc="300" dirty="0">
                <a:latin typeface="Times New Roman" pitchFamily="18" charset="0"/>
                <a:ea typeface="微軟正黑體" pitchFamily="34" charset="-120"/>
              </a:rPr>
              <a:t>θ</a:t>
            </a:r>
            <a:r>
              <a:rPr lang="zh-TW" altLang="el-GR" sz="2800" spc="300" dirty="0">
                <a:latin typeface="Times New Roman" pitchFamily="18" charset="0"/>
                <a:ea typeface="微軟正黑體" pitchFamily="34" charset="-120"/>
              </a:rPr>
              <a:t>　</a:t>
            </a:r>
            <a:endParaRPr lang="en-US" altLang="zh-TW" sz="2800" spc="300" dirty="0">
              <a:latin typeface="Times New Roman" pitchFamily="18" charset="0"/>
              <a:ea typeface="微軟正黑體" pitchFamily="34" charset="-120"/>
            </a:endParaRPr>
          </a:p>
          <a:p>
            <a:pPr>
              <a:lnSpc>
                <a:spcPct val="150000"/>
              </a:lnSpc>
            </a:pPr>
            <a:r>
              <a:rPr lang="el-GR" altLang="zh-TW" sz="2800" spc="300" dirty="0">
                <a:latin typeface="Times New Roman" pitchFamily="18" charset="0"/>
                <a:ea typeface="微軟正黑體" pitchFamily="34" charset="-120"/>
              </a:rPr>
              <a:t>(3) </a:t>
            </a:r>
            <a:r>
              <a:rPr lang="en-US" altLang="zh-TW" sz="2800" spc="300" dirty="0">
                <a:latin typeface="Times New Roman" pitchFamily="18" charset="0"/>
                <a:ea typeface="微軟正黑體" pitchFamily="34" charset="-120"/>
              </a:rPr>
              <a:t>tan(90°</a:t>
            </a:r>
            <a:r>
              <a:rPr lang="en-US" altLang="zh-TW" sz="2800" spc="300" dirty="0">
                <a:latin typeface="Symbol" panose="05050102010706020507" pitchFamily="18" charset="2"/>
                <a:ea typeface="微軟正黑體" pitchFamily="34" charset="-120"/>
              </a:rPr>
              <a:t>-</a:t>
            </a:r>
            <a:r>
              <a:rPr lang="el-GR" altLang="zh-TW" sz="2800" i="1" spc="300" dirty="0">
                <a:latin typeface="Times New Roman" pitchFamily="18" charset="0"/>
                <a:ea typeface="微軟正黑體" pitchFamily="34" charset="-120"/>
              </a:rPr>
              <a:t>θ</a:t>
            </a:r>
            <a:r>
              <a:rPr lang="el-GR" altLang="zh-TW" sz="2800" spc="300" dirty="0">
                <a:latin typeface="Times New Roman" pitchFamily="18" charset="0"/>
                <a:ea typeface="微軟正黑體" pitchFamily="34" charset="-120"/>
              </a:rPr>
              <a:t>) = </a:t>
            </a:r>
            <a:r>
              <a:rPr lang="en-US" altLang="zh-TW" sz="2800" spc="300" dirty="0">
                <a:latin typeface="Times New Roman" pitchFamily="18" charset="0"/>
                <a:ea typeface="微軟正黑體" pitchFamily="34" charset="-120"/>
              </a:rPr>
              <a:t>cot </a:t>
            </a:r>
            <a:r>
              <a:rPr lang="el-GR" altLang="zh-TW" sz="2800" i="1" spc="300" dirty="0">
                <a:latin typeface="Times New Roman" pitchFamily="18" charset="0"/>
                <a:ea typeface="微軟正黑體" pitchFamily="34" charset="-120"/>
              </a:rPr>
              <a:t>θ</a:t>
            </a:r>
            <a:r>
              <a:rPr lang="zh-TW" altLang="el-GR" sz="2800" spc="300" dirty="0">
                <a:latin typeface="Times New Roman" pitchFamily="18" charset="0"/>
                <a:ea typeface="微軟正黑體" pitchFamily="34" charset="-120"/>
              </a:rPr>
              <a:t>　</a:t>
            </a:r>
            <a:r>
              <a:rPr lang="el-GR" altLang="zh-TW" sz="2800" spc="300" dirty="0">
                <a:latin typeface="Times New Roman" pitchFamily="18" charset="0"/>
                <a:ea typeface="微軟正黑體" pitchFamily="34" charset="-120"/>
              </a:rPr>
              <a:t> </a:t>
            </a:r>
            <a:endParaRPr lang="en-US" altLang="zh-TW" sz="2800" spc="300" dirty="0">
              <a:latin typeface="Times New Roman" pitchFamily="18" charset="0"/>
              <a:ea typeface="微軟正黑體" pitchFamily="34" charset="-120"/>
            </a:endParaRPr>
          </a:p>
          <a:p>
            <a:pPr>
              <a:lnSpc>
                <a:spcPct val="150000"/>
              </a:lnSpc>
            </a:pPr>
            <a:r>
              <a:rPr lang="el-GR" altLang="zh-TW" sz="2800" spc="300" dirty="0">
                <a:latin typeface="Times New Roman" pitchFamily="18" charset="0"/>
                <a:ea typeface="微軟正黑體" pitchFamily="34" charset="-120"/>
              </a:rPr>
              <a:t>(4) </a:t>
            </a:r>
            <a:r>
              <a:rPr lang="en-US" altLang="zh-TW" sz="2800" spc="300" dirty="0">
                <a:latin typeface="Times New Roman" pitchFamily="18" charset="0"/>
                <a:ea typeface="微軟正黑體" pitchFamily="34" charset="-120"/>
              </a:rPr>
              <a:t>cot(90°</a:t>
            </a:r>
            <a:r>
              <a:rPr lang="en-US" altLang="zh-TW" sz="2800" spc="300" dirty="0">
                <a:latin typeface="Symbol" panose="05050102010706020507" pitchFamily="18" charset="2"/>
                <a:ea typeface="微軟正黑體" pitchFamily="34" charset="-120"/>
              </a:rPr>
              <a:t>-</a:t>
            </a:r>
            <a:r>
              <a:rPr lang="el-GR" altLang="zh-TW" sz="2800" i="1" spc="300" dirty="0">
                <a:latin typeface="Times New Roman" pitchFamily="18" charset="0"/>
                <a:ea typeface="微軟正黑體" pitchFamily="34" charset="-120"/>
              </a:rPr>
              <a:t>θ</a:t>
            </a:r>
            <a:r>
              <a:rPr lang="el-GR" altLang="zh-TW" sz="2800" spc="300" dirty="0">
                <a:latin typeface="Times New Roman" pitchFamily="18" charset="0"/>
                <a:ea typeface="微軟正黑體" pitchFamily="34" charset="-120"/>
              </a:rPr>
              <a:t>) = </a:t>
            </a:r>
            <a:r>
              <a:rPr lang="en-US" altLang="zh-TW" sz="2800" spc="300" dirty="0">
                <a:latin typeface="Times New Roman" pitchFamily="18" charset="0"/>
                <a:ea typeface="微軟正黑體" pitchFamily="34" charset="-120"/>
              </a:rPr>
              <a:t>tan </a:t>
            </a:r>
            <a:r>
              <a:rPr lang="el-GR" altLang="zh-TW" sz="2800" i="1" spc="300" dirty="0">
                <a:latin typeface="Times New Roman" pitchFamily="18" charset="0"/>
                <a:ea typeface="微軟正黑體" pitchFamily="34" charset="-120"/>
              </a:rPr>
              <a:t>θ</a:t>
            </a:r>
            <a:r>
              <a:rPr lang="zh-TW" altLang="el-GR" sz="2800" spc="300" dirty="0">
                <a:latin typeface="Times New Roman" pitchFamily="18" charset="0"/>
                <a:ea typeface="微軟正黑體" pitchFamily="34" charset="-120"/>
              </a:rPr>
              <a:t>　</a:t>
            </a:r>
            <a:endParaRPr lang="en-US" altLang="zh-TW" sz="2800" spc="300" dirty="0">
              <a:latin typeface="Times New Roman" pitchFamily="18" charset="0"/>
              <a:ea typeface="微軟正黑體" pitchFamily="34" charset="-120"/>
            </a:endParaRPr>
          </a:p>
          <a:p>
            <a:pPr>
              <a:lnSpc>
                <a:spcPct val="150000"/>
              </a:lnSpc>
            </a:pPr>
            <a:r>
              <a:rPr lang="el-GR" altLang="zh-TW" sz="2800" spc="300" dirty="0">
                <a:latin typeface="Times New Roman" pitchFamily="18" charset="0"/>
                <a:ea typeface="微軟正黑體" pitchFamily="34" charset="-120"/>
              </a:rPr>
              <a:t>(5) </a:t>
            </a:r>
            <a:r>
              <a:rPr lang="en-US" altLang="zh-TW" sz="2800" spc="300" dirty="0">
                <a:latin typeface="Times New Roman" pitchFamily="18" charset="0"/>
                <a:ea typeface="微軟正黑體" pitchFamily="34" charset="-120"/>
              </a:rPr>
              <a:t>sec(90°</a:t>
            </a:r>
            <a:r>
              <a:rPr lang="en-US" altLang="zh-TW" sz="2800" spc="300" dirty="0">
                <a:latin typeface="Symbol" panose="05050102010706020507" pitchFamily="18" charset="2"/>
                <a:ea typeface="微軟正黑體" pitchFamily="34" charset="-120"/>
              </a:rPr>
              <a:t>-</a:t>
            </a:r>
            <a:r>
              <a:rPr lang="el-GR" altLang="zh-TW" sz="2800" i="1" spc="300" dirty="0">
                <a:latin typeface="Times New Roman" pitchFamily="18" charset="0"/>
                <a:ea typeface="微軟正黑體" pitchFamily="34" charset="-120"/>
              </a:rPr>
              <a:t>θ</a:t>
            </a:r>
            <a:r>
              <a:rPr lang="el-GR" altLang="zh-TW" sz="2800" spc="300" dirty="0">
                <a:latin typeface="Times New Roman" pitchFamily="18" charset="0"/>
                <a:ea typeface="微軟正黑體" pitchFamily="34" charset="-120"/>
              </a:rPr>
              <a:t>) = </a:t>
            </a:r>
            <a:r>
              <a:rPr lang="en-US" altLang="zh-TW" sz="2800" spc="300" dirty="0" err="1">
                <a:latin typeface="Times New Roman" pitchFamily="18" charset="0"/>
                <a:ea typeface="微軟正黑體" pitchFamily="34" charset="-120"/>
              </a:rPr>
              <a:t>csc</a:t>
            </a:r>
            <a:r>
              <a:rPr lang="en-US" altLang="zh-TW" sz="2800" spc="300" dirty="0">
                <a:latin typeface="Times New Roman" pitchFamily="18" charset="0"/>
                <a:ea typeface="微軟正黑體" pitchFamily="34" charset="-120"/>
              </a:rPr>
              <a:t> </a:t>
            </a:r>
            <a:r>
              <a:rPr lang="el-GR" altLang="zh-TW" sz="2800" i="1" spc="300" dirty="0">
                <a:latin typeface="Times New Roman" pitchFamily="18" charset="0"/>
                <a:ea typeface="微軟正黑體" pitchFamily="34" charset="-120"/>
              </a:rPr>
              <a:t>θ</a:t>
            </a:r>
          </a:p>
          <a:p>
            <a:pPr>
              <a:lnSpc>
                <a:spcPct val="150000"/>
              </a:lnSpc>
            </a:pPr>
            <a:r>
              <a:rPr lang="el-GR" altLang="zh-TW" sz="2800" spc="300" dirty="0">
                <a:latin typeface="Times New Roman" pitchFamily="18" charset="0"/>
                <a:ea typeface="微軟正黑體" pitchFamily="34" charset="-120"/>
              </a:rPr>
              <a:t>(6) </a:t>
            </a:r>
            <a:r>
              <a:rPr lang="en-US" altLang="zh-TW" sz="2800" spc="300" dirty="0" err="1">
                <a:latin typeface="Times New Roman" pitchFamily="18" charset="0"/>
                <a:ea typeface="微軟正黑體" pitchFamily="34" charset="-120"/>
              </a:rPr>
              <a:t>csc</a:t>
            </a:r>
            <a:r>
              <a:rPr lang="en-US" altLang="zh-TW" sz="2800" spc="300" dirty="0">
                <a:latin typeface="Times New Roman" pitchFamily="18" charset="0"/>
                <a:ea typeface="微軟正黑體" pitchFamily="34" charset="-120"/>
              </a:rPr>
              <a:t>(90°</a:t>
            </a:r>
            <a:r>
              <a:rPr lang="en-US" altLang="zh-TW" sz="2800" spc="300" dirty="0">
                <a:latin typeface="Symbol" panose="05050102010706020507" pitchFamily="18" charset="2"/>
                <a:ea typeface="微軟正黑體" pitchFamily="34" charset="-120"/>
              </a:rPr>
              <a:t>-</a:t>
            </a:r>
            <a:r>
              <a:rPr lang="el-GR" altLang="zh-TW" sz="2800" i="1" spc="300" dirty="0">
                <a:latin typeface="Times New Roman" pitchFamily="18" charset="0"/>
                <a:ea typeface="微軟正黑體" pitchFamily="34" charset="-120"/>
              </a:rPr>
              <a:t>θ</a:t>
            </a:r>
            <a:r>
              <a:rPr lang="el-GR" altLang="zh-TW" sz="2800" spc="300" dirty="0">
                <a:latin typeface="Times New Roman" pitchFamily="18" charset="0"/>
                <a:ea typeface="微軟正黑體" pitchFamily="34" charset="-120"/>
              </a:rPr>
              <a:t>) = </a:t>
            </a:r>
            <a:r>
              <a:rPr lang="en-US" altLang="zh-TW" sz="2800" spc="300" dirty="0">
                <a:latin typeface="Times New Roman" pitchFamily="18" charset="0"/>
                <a:ea typeface="微軟正黑體" pitchFamily="34" charset="-120"/>
              </a:rPr>
              <a:t>sec </a:t>
            </a:r>
            <a:r>
              <a:rPr lang="el-GR" altLang="zh-TW" sz="2800" i="1" spc="300" dirty="0">
                <a:latin typeface="Times New Roman" pitchFamily="18" charset="0"/>
                <a:ea typeface="微軟正黑體" pitchFamily="34" charset="-120"/>
              </a:rPr>
              <a:t>θ</a:t>
            </a:r>
            <a:endParaRPr lang="zh-TW" altLang="en-US" sz="2800" i="1" spc="300" dirty="0">
              <a:latin typeface="Times New Roman" pitchFamily="18" charset="0"/>
              <a:ea typeface="微軟正黑體" pitchFamily="34" charset="-120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C9820FCB-BB54-4E17-9951-7EE8C31C7E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DEAEA"/>
              </a:clrFrom>
              <a:clrTo>
                <a:srgbClr val="FDEAE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8003" y="1969425"/>
            <a:ext cx="3804727" cy="31410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72279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TW" dirty="0"/>
              <a:t>118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160" y="1123333"/>
            <a:ext cx="1157669" cy="396043"/>
          </a:xfrm>
          <a:prstGeom prst="rect">
            <a:avLst/>
          </a:prstGeom>
        </p:spPr>
      </p:pic>
      <p:grpSp>
        <p:nvGrpSpPr>
          <p:cNvPr id="6" name="群組 5"/>
          <p:cNvGrpSpPr/>
          <p:nvPr/>
        </p:nvGrpSpPr>
        <p:grpSpPr>
          <a:xfrm>
            <a:off x="767408" y="1137594"/>
            <a:ext cx="10985264" cy="4791075"/>
            <a:chOff x="767408" y="1137594"/>
            <a:chExt cx="10985264" cy="4791075"/>
          </a:xfrm>
        </p:grpSpPr>
        <p:sp>
          <p:nvSpPr>
            <p:cNvPr id="9" name="文字方塊 8"/>
            <p:cNvSpPr txBox="1"/>
            <p:nvPr/>
          </p:nvSpPr>
          <p:spPr>
            <a:xfrm>
              <a:off x="767408" y="2060848"/>
              <a:ext cx="10985264" cy="35394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1. </a:t>
              </a:r>
              <a:r>
                <a:rPr lang="zh-TW" altLang="en-US" sz="2800" dirty="0">
                  <a:latin typeface="Times New Roman" pitchFamily="18" charset="0"/>
                  <a:ea typeface="微軟正黑體" pitchFamily="34" charset="-120"/>
                </a:rPr>
                <a:t>倒數關係：根據三角函數的定義可知。</a:t>
              </a:r>
            </a:p>
            <a:p>
              <a:pPr marL="355600" indent="-355600">
                <a:lnSpc>
                  <a:spcPct val="200000"/>
                </a:lnSpc>
              </a:pP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2. </a:t>
              </a:r>
              <a:r>
                <a:rPr lang="zh-TW" altLang="en-US" sz="2800" dirty="0">
                  <a:latin typeface="Times New Roman" pitchFamily="18" charset="0"/>
                  <a:ea typeface="微軟正黑體" pitchFamily="34" charset="-120"/>
                </a:rPr>
                <a:t>平方關係：根據三角函數的定義，</a:t>
              </a:r>
              <a:b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</a:br>
              <a:r>
                <a:rPr lang="zh-TW" altLang="en-US" sz="2800" dirty="0">
                  <a:latin typeface="Times New Roman" pitchFamily="18" charset="0"/>
                  <a:ea typeface="微軟正黑體" pitchFamily="34" charset="-120"/>
                </a:rPr>
                <a:t>在直角三角形中，若角</a:t>
              </a:r>
              <a:r>
                <a:rPr lang="en-US" altLang="zh-TW" sz="2800" i="1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dirty="0">
                  <a:latin typeface="Times New Roman" pitchFamily="18" charset="0"/>
                  <a:ea typeface="微軟正黑體" pitchFamily="34" charset="-120"/>
                </a:rPr>
                <a:t>的對邊為 </a:t>
              </a:r>
              <a:r>
                <a:rPr lang="en-US" altLang="zh-TW" sz="2800" i="1" dirty="0">
                  <a:latin typeface="Times New Roman" pitchFamily="18" charset="0"/>
                  <a:ea typeface="微軟正黑體" pitchFamily="34" charset="-120"/>
                </a:rPr>
                <a:t>y</a:t>
              </a:r>
              <a:r>
                <a:rPr lang="zh-TW" altLang="en-US" sz="2800" dirty="0">
                  <a:latin typeface="Times New Roman" pitchFamily="18" charset="0"/>
                  <a:ea typeface="微軟正黑體" pitchFamily="34" charset="-120"/>
                </a:rPr>
                <a:t>，</a:t>
              </a:r>
              <a:b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</a:br>
              <a:r>
                <a:rPr lang="zh-TW" altLang="en-US" sz="2800" dirty="0">
                  <a:latin typeface="Times New Roman" pitchFamily="18" charset="0"/>
                  <a:ea typeface="微軟正黑體" pitchFamily="34" charset="-120"/>
                </a:rPr>
                <a:t>鄰邊為</a:t>
              </a:r>
              <a:r>
                <a:rPr lang="en-US" altLang="zh-TW" sz="2800" i="1" dirty="0">
                  <a:latin typeface="Times New Roman" pitchFamily="18" charset="0"/>
                  <a:ea typeface="微軟正黑體" pitchFamily="34" charset="-120"/>
                </a:rPr>
                <a:t>x</a:t>
              </a:r>
              <a:r>
                <a:rPr lang="zh-TW" altLang="en-US" sz="2800" dirty="0">
                  <a:latin typeface="Times New Roman" pitchFamily="18" charset="0"/>
                  <a:ea typeface="微軟正黑體" pitchFamily="34" charset="-120"/>
                </a:rPr>
                <a:t>，斜邊為                      ，則</a:t>
              </a:r>
            </a:p>
          </p:txBody>
        </p:sp>
        <p:graphicFrame>
          <p:nvGraphicFramePr>
            <p:cNvPr id="2" name="物件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86569169"/>
                </p:ext>
              </p:extLst>
            </p:nvPr>
          </p:nvGraphicFramePr>
          <p:xfrm>
            <a:off x="3935760" y="4869160"/>
            <a:ext cx="1828800" cy="571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828800" imgH="571320" progId="Equation.DSMT4">
                    <p:embed/>
                  </p:oleObj>
                </mc:Choice>
                <mc:Fallback>
                  <p:oleObj name="Equation" r:id="rId3" imgW="1828800" imgH="5713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935760" y="4869160"/>
                          <a:ext cx="1828800" cy="571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184322" name="Picture 2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68208" y="1137594"/>
              <a:ext cx="3505200" cy="47910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189757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TW" dirty="0"/>
              <a:t>118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160" y="1123333"/>
            <a:ext cx="1157669" cy="396043"/>
          </a:xfrm>
          <a:prstGeom prst="rect">
            <a:avLst/>
          </a:prstGeom>
        </p:spPr>
      </p:pic>
      <p:grpSp>
        <p:nvGrpSpPr>
          <p:cNvPr id="7" name="群組 6"/>
          <p:cNvGrpSpPr/>
          <p:nvPr/>
        </p:nvGrpSpPr>
        <p:grpSpPr>
          <a:xfrm>
            <a:off x="767408" y="1321354"/>
            <a:ext cx="11191387" cy="4791075"/>
            <a:chOff x="767408" y="1321354"/>
            <a:chExt cx="11191387" cy="4791075"/>
          </a:xfrm>
        </p:grpSpPr>
        <p:grpSp>
          <p:nvGrpSpPr>
            <p:cNvPr id="6" name="群組 5"/>
            <p:cNvGrpSpPr/>
            <p:nvPr/>
          </p:nvGrpSpPr>
          <p:grpSpPr>
            <a:xfrm>
              <a:off x="767408" y="1321354"/>
              <a:ext cx="11191387" cy="4791075"/>
              <a:chOff x="767408" y="1321354"/>
              <a:chExt cx="11191387" cy="4791075"/>
            </a:xfrm>
          </p:grpSpPr>
          <p:pic>
            <p:nvPicPr>
              <p:cNvPr id="184322" name="Picture 2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453595" y="1321354"/>
                <a:ext cx="3505200" cy="47910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9" name="文字方塊 8"/>
              <p:cNvSpPr txBox="1"/>
              <p:nvPr/>
            </p:nvSpPr>
            <p:spPr>
              <a:xfrm>
                <a:off x="767408" y="2060848"/>
                <a:ext cx="10985264" cy="3539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altLang="zh-TW" sz="2800" dirty="0">
                    <a:latin typeface="Times New Roman" pitchFamily="18" charset="0"/>
                    <a:ea typeface="微軟正黑體" pitchFamily="34" charset="-120"/>
                  </a:rPr>
                  <a:t>(1)	 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zh-TW" sz="2800" dirty="0">
                    <a:latin typeface="Times New Roman" pitchFamily="18" charset="0"/>
                    <a:ea typeface="微軟正黑體" pitchFamily="34" charset="-120"/>
                  </a:rPr>
                  <a:t>(2)	 </a:t>
                </a:r>
              </a:p>
              <a:p>
                <a:pPr marL="534988" indent="-534988">
                  <a:lnSpc>
                    <a:spcPct val="200000"/>
                  </a:lnSpc>
                </a:pPr>
                <a:r>
                  <a:rPr lang="en-US" altLang="zh-TW" sz="2800" dirty="0">
                    <a:latin typeface="Times New Roman" pitchFamily="18" charset="0"/>
                    <a:ea typeface="微軟正黑體" pitchFamily="34" charset="-120"/>
                  </a:rPr>
                  <a:t>(3)</a:t>
                </a:r>
                <a:r>
                  <a:rPr lang="zh-TW" altLang="en-US" sz="2800" dirty="0">
                    <a:latin typeface="Times New Roman" pitchFamily="18" charset="0"/>
                    <a:ea typeface="微軟正黑體" pitchFamily="34" charset="-120"/>
                  </a:rPr>
                  <a:t> 有關                                的證明，</a:t>
                </a:r>
                <a:br>
                  <a:rPr lang="en-US" altLang="zh-TW" sz="2800" dirty="0">
                    <a:latin typeface="Times New Roman" pitchFamily="18" charset="0"/>
                    <a:ea typeface="微軟正黑體" pitchFamily="34" charset="-120"/>
                  </a:rPr>
                </a:br>
                <a:r>
                  <a:rPr lang="zh-TW" altLang="en-US" sz="2800" dirty="0">
                    <a:latin typeface="Times New Roman" pitchFamily="18" charset="0"/>
                    <a:ea typeface="微軟正黑體" pitchFamily="34" charset="-120"/>
                  </a:rPr>
                  <a:t>與上面的</a:t>
                </a:r>
                <a:r>
                  <a:rPr lang="en-US" altLang="zh-TW" sz="2800" dirty="0">
                    <a:latin typeface="Times New Roman" pitchFamily="18" charset="0"/>
                    <a:ea typeface="微軟正黑體" pitchFamily="34" charset="-120"/>
                  </a:rPr>
                  <a:t>(2)</a:t>
                </a:r>
                <a:r>
                  <a:rPr lang="zh-TW" altLang="en-US" sz="2800" dirty="0">
                    <a:latin typeface="Times New Roman" pitchFamily="18" charset="0"/>
                    <a:ea typeface="微軟正黑體" pitchFamily="34" charset="-120"/>
                  </a:rPr>
                  <a:t>類似，留作同學課後練習。</a:t>
                </a:r>
              </a:p>
            </p:txBody>
          </p:sp>
          <p:graphicFrame>
            <p:nvGraphicFramePr>
              <p:cNvPr id="2" name="物件 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40553189"/>
                  </p:ext>
                </p:extLst>
              </p:nvPr>
            </p:nvGraphicFramePr>
            <p:xfrm>
              <a:off x="1389608" y="2132856"/>
              <a:ext cx="6578600" cy="876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6578280" imgH="876240" progId="Equation.DSMT4">
                      <p:embed/>
                    </p:oleObj>
                  </mc:Choice>
                  <mc:Fallback>
                    <p:oleObj name="Equation" r:id="rId4" imgW="6578280" imgH="87624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5"/>
                          <a:stretch>
                            <a:fillRect/>
                          </a:stretch>
                        </p:blipFill>
                        <p:spPr>
                          <a:xfrm>
                            <a:off x="1389608" y="2132856"/>
                            <a:ext cx="6578600" cy="8763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" name="物件 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15319618"/>
                  </p:ext>
                </p:extLst>
              </p:nvPr>
            </p:nvGraphicFramePr>
            <p:xfrm>
              <a:off x="1388994" y="3068960"/>
              <a:ext cx="7073900" cy="889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" imgW="7073640" imgH="888840" progId="Equation.DSMT4">
                      <p:embed/>
                    </p:oleObj>
                  </mc:Choice>
                  <mc:Fallback>
                    <p:oleObj name="Equation" r:id="rId6" imgW="7073640" imgH="88884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1388994" y="3068960"/>
                            <a:ext cx="7073900" cy="8890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" name="物件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4400265"/>
                </p:ext>
              </p:extLst>
            </p:nvPr>
          </p:nvGraphicFramePr>
          <p:xfrm>
            <a:off x="2202408" y="4126048"/>
            <a:ext cx="24765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2476440" imgH="380880" progId="Equation.DSMT4">
                    <p:embed/>
                  </p:oleObj>
                </mc:Choice>
                <mc:Fallback>
                  <p:oleObj name="Equation" r:id="rId8" imgW="247644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2202408" y="4126048"/>
                          <a:ext cx="24765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440108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TW" dirty="0"/>
              <a:t>118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160" y="1123333"/>
            <a:ext cx="1157669" cy="396043"/>
          </a:xfrm>
          <a:prstGeom prst="rect">
            <a:avLst/>
          </a:prstGeom>
        </p:spPr>
      </p:pic>
      <p:grpSp>
        <p:nvGrpSpPr>
          <p:cNvPr id="7" name="群組 6"/>
          <p:cNvGrpSpPr/>
          <p:nvPr/>
        </p:nvGrpSpPr>
        <p:grpSpPr>
          <a:xfrm>
            <a:off x="767408" y="1620083"/>
            <a:ext cx="10985264" cy="3831665"/>
            <a:chOff x="767408" y="1620083"/>
            <a:chExt cx="10985264" cy="3831665"/>
          </a:xfrm>
        </p:grpSpPr>
        <p:grpSp>
          <p:nvGrpSpPr>
            <p:cNvPr id="6" name="群組 5"/>
            <p:cNvGrpSpPr/>
            <p:nvPr/>
          </p:nvGrpSpPr>
          <p:grpSpPr>
            <a:xfrm>
              <a:off x="767408" y="1620083"/>
              <a:ext cx="10985264" cy="3730958"/>
              <a:chOff x="767408" y="1620083"/>
              <a:chExt cx="10985264" cy="3730958"/>
            </a:xfrm>
          </p:grpSpPr>
          <p:sp>
            <p:nvSpPr>
              <p:cNvPr id="9" name="文字方塊 8"/>
              <p:cNvSpPr txBox="1"/>
              <p:nvPr/>
            </p:nvSpPr>
            <p:spPr>
              <a:xfrm>
                <a:off x="767408" y="1620083"/>
                <a:ext cx="10985264" cy="37309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300000"/>
                  </a:lnSpc>
                </a:pPr>
                <a:r>
                  <a:rPr lang="en-US" altLang="zh-TW" sz="2800" dirty="0">
                    <a:latin typeface="Times New Roman" pitchFamily="18" charset="0"/>
                    <a:ea typeface="微軟正黑體" pitchFamily="34" charset="-120"/>
                  </a:rPr>
                  <a:t>3. </a:t>
                </a:r>
                <a:r>
                  <a:rPr lang="zh-TW" altLang="en-US" sz="2800" dirty="0">
                    <a:latin typeface="Times New Roman" pitchFamily="18" charset="0"/>
                    <a:ea typeface="微軟正黑體" pitchFamily="34" charset="-120"/>
                  </a:rPr>
                  <a:t>商數關係：</a:t>
                </a:r>
                <a:endParaRPr lang="en-US" altLang="zh-TW" sz="2800" dirty="0">
                  <a:latin typeface="Times New Roman" pitchFamily="18" charset="0"/>
                  <a:ea typeface="微軟正黑體" pitchFamily="34" charset="-120"/>
                </a:endParaRPr>
              </a:p>
              <a:p>
                <a:pPr>
                  <a:lnSpc>
                    <a:spcPct val="300000"/>
                  </a:lnSpc>
                </a:pPr>
                <a:r>
                  <a:rPr lang="en-US" altLang="zh-TW" sz="2800" dirty="0">
                    <a:latin typeface="Times New Roman" pitchFamily="18" charset="0"/>
                    <a:ea typeface="微軟正黑體" pitchFamily="34" charset="-120"/>
                  </a:rPr>
                  <a:t>(1)	 </a:t>
                </a:r>
              </a:p>
              <a:p>
                <a:pPr>
                  <a:lnSpc>
                    <a:spcPct val="300000"/>
                  </a:lnSpc>
                </a:pPr>
                <a:r>
                  <a:rPr lang="en-US" altLang="zh-TW" sz="2800" dirty="0">
                    <a:latin typeface="Times New Roman" pitchFamily="18" charset="0"/>
                    <a:ea typeface="微軟正黑體" pitchFamily="34" charset="-120"/>
                  </a:rPr>
                  <a:t>(2)</a:t>
                </a:r>
                <a:r>
                  <a:rPr lang="zh-TW" altLang="en-US" sz="2800" dirty="0">
                    <a:latin typeface="Times New Roman" pitchFamily="18" charset="0"/>
                    <a:ea typeface="微軟正黑體" pitchFamily="34" charset="-120"/>
                  </a:rPr>
                  <a:t> </a:t>
                </a:r>
                <a:r>
                  <a:rPr lang="en-US" altLang="zh-TW" sz="2800" dirty="0">
                    <a:latin typeface="Times New Roman" pitchFamily="18" charset="0"/>
                    <a:ea typeface="微軟正黑體" pitchFamily="34" charset="-120"/>
                  </a:rPr>
                  <a:t>cot </a:t>
                </a:r>
                <a:r>
                  <a:rPr lang="el-GR" altLang="zh-TW" sz="2800" i="1" dirty="0">
                    <a:latin typeface="Times New Roman" pitchFamily="18" charset="0"/>
                    <a:ea typeface="微軟正黑體" pitchFamily="34" charset="-120"/>
                  </a:rPr>
                  <a:t>θ </a:t>
                </a:r>
                <a:r>
                  <a:rPr lang="zh-TW" altLang="en-US" sz="2800" dirty="0">
                    <a:latin typeface="Times New Roman" pitchFamily="18" charset="0"/>
                    <a:ea typeface="微軟正黑體" pitchFamily="34" charset="-120"/>
                  </a:rPr>
                  <a:t>為</a:t>
                </a:r>
                <a:r>
                  <a:rPr lang="en-US" altLang="zh-TW" sz="2800" dirty="0">
                    <a:latin typeface="Times New Roman" pitchFamily="18" charset="0"/>
                    <a:ea typeface="微軟正黑體" pitchFamily="34" charset="-120"/>
                  </a:rPr>
                  <a:t>tan </a:t>
                </a:r>
                <a:r>
                  <a:rPr lang="el-GR" altLang="zh-TW" sz="2800" i="1" dirty="0">
                    <a:latin typeface="Times New Roman" pitchFamily="18" charset="0"/>
                    <a:ea typeface="微軟正黑體" pitchFamily="34" charset="-120"/>
                  </a:rPr>
                  <a:t>θ</a:t>
                </a:r>
                <a:r>
                  <a:rPr lang="el-GR" altLang="zh-TW" sz="2800" dirty="0">
                    <a:latin typeface="Times New Roman" pitchFamily="18" charset="0"/>
                    <a:ea typeface="微軟正黑體" pitchFamily="34" charset="-120"/>
                  </a:rPr>
                  <a:t> </a:t>
                </a:r>
                <a:r>
                  <a:rPr lang="zh-TW" altLang="en-US" sz="2800" dirty="0">
                    <a:latin typeface="Times New Roman" pitchFamily="18" charset="0"/>
                    <a:ea typeface="微軟正黑體" pitchFamily="34" charset="-120"/>
                  </a:rPr>
                  <a:t>的倒數，由上述</a:t>
                </a:r>
                <a:r>
                  <a:rPr lang="en-US" altLang="zh-TW" sz="2800" dirty="0">
                    <a:latin typeface="Times New Roman" pitchFamily="18" charset="0"/>
                    <a:ea typeface="微軟正黑體" pitchFamily="34" charset="-120"/>
                  </a:rPr>
                  <a:t>(1) </a:t>
                </a:r>
                <a:r>
                  <a:rPr lang="zh-TW" altLang="en-US" sz="2800" dirty="0">
                    <a:latin typeface="Times New Roman" pitchFamily="18" charset="0"/>
                    <a:ea typeface="微軟正黑體" pitchFamily="34" charset="-120"/>
                  </a:rPr>
                  <a:t>可得</a:t>
                </a:r>
              </a:p>
            </p:txBody>
          </p:sp>
          <p:graphicFrame>
            <p:nvGraphicFramePr>
              <p:cNvPr id="8" name="物件 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9716868"/>
                  </p:ext>
                </p:extLst>
              </p:nvPr>
            </p:nvGraphicFramePr>
            <p:xfrm>
              <a:off x="1487488" y="2924944"/>
              <a:ext cx="3136900" cy="1651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" imgW="3136680" imgH="1650960" progId="Equation.DSMT4">
                      <p:embed/>
                    </p:oleObj>
                  </mc:Choice>
                  <mc:Fallback>
                    <p:oleObj name="Equation" r:id="rId3" imgW="3136680" imgH="165096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1487488" y="2924944"/>
                            <a:ext cx="3136900" cy="16510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" name="物件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13619301"/>
                </p:ext>
              </p:extLst>
            </p:nvPr>
          </p:nvGraphicFramePr>
          <p:xfrm>
            <a:off x="7032104" y="4613548"/>
            <a:ext cx="1828800" cy="838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828800" imgH="838080" progId="Equation.DSMT4">
                    <p:embed/>
                  </p:oleObj>
                </mc:Choice>
                <mc:Fallback>
                  <p:oleObj name="Equation" r:id="rId5" imgW="1828800" imgH="838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7032104" y="4613548"/>
                          <a:ext cx="1828800" cy="838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996332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TW" dirty="0"/>
              <a:t>118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160" y="1123333"/>
            <a:ext cx="1157669" cy="396043"/>
          </a:xfrm>
          <a:prstGeom prst="rect">
            <a:avLst/>
          </a:prstGeom>
        </p:spPr>
      </p:pic>
      <p:grpSp>
        <p:nvGrpSpPr>
          <p:cNvPr id="3" name="群組 2"/>
          <p:cNvGrpSpPr/>
          <p:nvPr/>
        </p:nvGrpSpPr>
        <p:grpSpPr>
          <a:xfrm>
            <a:off x="767408" y="1556792"/>
            <a:ext cx="10985264" cy="4499400"/>
            <a:chOff x="767408" y="1556792"/>
            <a:chExt cx="10985264" cy="4499400"/>
          </a:xfrm>
        </p:grpSpPr>
        <p:pic>
          <p:nvPicPr>
            <p:cNvPr id="186370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84032" y="2286262"/>
              <a:ext cx="5012696" cy="37699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6" name="群組 5"/>
            <p:cNvGrpSpPr/>
            <p:nvPr/>
          </p:nvGrpSpPr>
          <p:grpSpPr>
            <a:xfrm>
              <a:off x="767408" y="1556792"/>
              <a:ext cx="10985264" cy="4395068"/>
              <a:chOff x="767408" y="2060848"/>
              <a:chExt cx="10985264" cy="4395068"/>
            </a:xfrm>
          </p:grpSpPr>
          <p:sp>
            <p:nvSpPr>
              <p:cNvPr id="9" name="文字方塊 8"/>
              <p:cNvSpPr txBox="1"/>
              <p:nvPr/>
            </p:nvSpPr>
            <p:spPr>
              <a:xfrm>
                <a:off x="767408" y="2060848"/>
                <a:ext cx="10985264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TW" sz="2800" dirty="0">
                    <a:latin typeface="Times New Roman" pitchFamily="18" charset="0"/>
                    <a:ea typeface="微軟正黑體" pitchFamily="34" charset="-120"/>
                  </a:rPr>
                  <a:t>4. </a:t>
                </a:r>
                <a:r>
                  <a:rPr lang="zh-TW" altLang="en-US" sz="2800" dirty="0">
                    <a:latin typeface="Times New Roman" pitchFamily="18" charset="0"/>
                    <a:ea typeface="微軟正黑體" pitchFamily="34" charset="-120"/>
                  </a:rPr>
                  <a:t>餘角關係：在直角三角形</a:t>
                </a:r>
                <a:r>
                  <a:rPr lang="en-US" altLang="zh-TW" sz="2800" i="1" dirty="0">
                    <a:latin typeface="Times New Roman" pitchFamily="18" charset="0"/>
                    <a:ea typeface="微軟正黑體" pitchFamily="34" charset="-120"/>
                  </a:rPr>
                  <a:t>ABC</a:t>
                </a:r>
                <a:r>
                  <a:rPr lang="en-US" altLang="zh-TW" sz="2800" dirty="0">
                    <a:latin typeface="Times New Roman" pitchFamily="18" charset="0"/>
                    <a:ea typeface="微軟正黑體" pitchFamily="34" charset="-120"/>
                  </a:rPr>
                  <a:t> </a:t>
                </a:r>
                <a:r>
                  <a:rPr lang="zh-TW" altLang="en-US" sz="2800" dirty="0">
                    <a:latin typeface="Times New Roman" pitchFamily="18" charset="0"/>
                    <a:ea typeface="微軟正黑體" pitchFamily="34" charset="-120"/>
                  </a:rPr>
                  <a:t>中，邊長關係如下圖，則根據定義，</a:t>
                </a:r>
                <a:endParaRPr lang="en-US" altLang="zh-TW" sz="2800" dirty="0">
                  <a:latin typeface="Times New Roman" pitchFamily="18" charset="0"/>
                  <a:ea typeface="微軟正黑體" pitchFamily="34" charset="-12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TW" altLang="en-US" sz="2800" dirty="0">
                    <a:latin typeface="Times New Roman" pitchFamily="18" charset="0"/>
                    <a:ea typeface="微軟正黑體" pitchFamily="34" charset="-120"/>
                  </a:rPr>
                  <a:t>角</a:t>
                </a:r>
                <a:r>
                  <a:rPr lang="en-US" altLang="zh-TW" sz="2800" i="1" dirty="0">
                    <a:latin typeface="Times New Roman" pitchFamily="18" charset="0"/>
                    <a:ea typeface="微軟正黑體" pitchFamily="34" charset="-120"/>
                  </a:rPr>
                  <a:t>θ</a:t>
                </a:r>
                <a:r>
                  <a:rPr lang="en-US" altLang="zh-TW" sz="2800" dirty="0">
                    <a:latin typeface="Times New Roman" pitchFamily="18" charset="0"/>
                    <a:ea typeface="微軟正黑體" pitchFamily="34" charset="-120"/>
                  </a:rPr>
                  <a:t> </a:t>
                </a:r>
                <a:r>
                  <a:rPr lang="zh-TW" altLang="en-US" sz="2800" dirty="0">
                    <a:latin typeface="Times New Roman" pitchFamily="18" charset="0"/>
                    <a:ea typeface="微軟正黑體" pitchFamily="34" charset="-120"/>
                  </a:rPr>
                  <a:t>的六個三角函數如下：</a:t>
                </a:r>
              </a:p>
            </p:txBody>
          </p:sp>
          <p:graphicFrame>
            <p:nvGraphicFramePr>
              <p:cNvPr id="2" name="物件 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05462230"/>
                  </p:ext>
                </p:extLst>
              </p:nvPr>
            </p:nvGraphicFramePr>
            <p:xfrm>
              <a:off x="842182" y="3573016"/>
              <a:ext cx="3441700" cy="288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3441600" imgH="2882880" progId="Equation.DSMT4">
                      <p:embed/>
                    </p:oleObj>
                  </mc:Choice>
                  <mc:Fallback>
                    <p:oleObj name="Equation" r:id="rId4" imgW="3441600" imgH="28828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5"/>
                          <a:stretch>
                            <a:fillRect/>
                          </a:stretch>
                        </p:blipFill>
                        <p:spPr>
                          <a:xfrm>
                            <a:off x="842182" y="3573016"/>
                            <a:ext cx="3441700" cy="28829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  <p:extLst>
      <p:ext uri="{BB962C8B-B14F-4D97-AF65-F5344CB8AC3E}">
        <p14:creationId xmlns:p14="http://schemas.microsoft.com/office/powerpoint/2010/main" val="3265762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TW" dirty="0"/>
              <a:t>119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160" y="1123333"/>
            <a:ext cx="1157669" cy="396043"/>
          </a:xfrm>
          <a:prstGeom prst="rect">
            <a:avLst/>
          </a:prstGeom>
        </p:spPr>
      </p:pic>
      <p:grpSp>
        <p:nvGrpSpPr>
          <p:cNvPr id="3" name="群組 2"/>
          <p:cNvGrpSpPr/>
          <p:nvPr/>
        </p:nvGrpSpPr>
        <p:grpSpPr>
          <a:xfrm>
            <a:off x="767408" y="1842244"/>
            <a:ext cx="10985264" cy="4152790"/>
            <a:chOff x="767408" y="1842244"/>
            <a:chExt cx="10985264" cy="4152790"/>
          </a:xfrm>
        </p:grpSpPr>
        <p:grpSp>
          <p:nvGrpSpPr>
            <p:cNvPr id="6" name="群組 5"/>
            <p:cNvGrpSpPr/>
            <p:nvPr/>
          </p:nvGrpSpPr>
          <p:grpSpPr>
            <a:xfrm>
              <a:off x="767408" y="1842244"/>
              <a:ext cx="10985264" cy="3893592"/>
              <a:chOff x="767408" y="2060848"/>
              <a:chExt cx="10985264" cy="3893592"/>
            </a:xfrm>
          </p:grpSpPr>
          <p:sp>
            <p:nvSpPr>
              <p:cNvPr id="9" name="文字方塊 8"/>
              <p:cNvSpPr txBox="1"/>
              <p:nvPr/>
            </p:nvSpPr>
            <p:spPr>
              <a:xfrm>
                <a:off x="767408" y="2060848"/>
                <a:ext cx="10985264" cy="66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TW" altLang="en-US" sz="2800" dirty="0">
                    <a:latin typeface="Times New Roman" pitchFamily="18" charset="0"/>
                    <a:ea typeface="微軟正黑體" pitchFamily="34" charset="-120"/>
                  </a:rPr>
                  <a:t>重繪直角三角形</a:t>
                </a:r>
                <a:r>
                  <a:rPr lang="en-US" altLang="zh-TW" sz="2800" i="1" dirty="0">
                    <a:latin typeface="Times New Roman" pitchFamily="18" charset="0"/>
                    <a:ea typeface="微軟正黑體" pitchFamily="34" charset="-120"/>
                  </a:rPr>
                  <a:t>ABC</a:t>
                </a:r>
                <a:r>
                  <a:rPr lang="en-US" altLang="zh-TW" sz="2800" dirty="0">
                    <a:latin typeface="Times New Roman" pitchFamily="18" charset="0"/>
                    <a:ea typeface="微軟正黑體" pitchFamily="34" charset="-120"/>
                  </a:rPr>
                  <a:t> </a:t>
                </a:r>
                <a:r>
                  <a:rPr lang="zh-TW" altLang="en-US" sz="2800" dirty="0">
                    <a:latin typeface="Times New Roman" pitchFamily="18" charset="0"/>
                    <a:ea typeface="微軟正黑體" pitchFamily="34" charset="-120"/>
                  </a:rPr>
                  <a:t>圖形如右圖，則角</a:t>
                </a:r>
                <a:r>
                  <a:rPr lang="en-US" altLang="zh-TW" sz="2800" dirty="0">
                    <a:latin typeface="Times New Roman" pitchFamily="18" charset="0"/>
                    <a:ea typeface="微軟正黑體" pitchFamily="34" charset="-120"/>
                  </a:rPr>
                  <a:t>(90° - </a:t>
                </a:r>
                <a:r>
                  <a:rPr lang="en-US" altLang="zh-TW" sz="2800" i="1" dirty="0">
                    <a:latin typeface="Times New Roman" pitchFamily="18" charset="0"/>
                    <a:ea typeface="微軟正黑體" pitchFamily="34" charset="-120"/>
                  </a:rPr>
                  <a:t>θ</a:t>
                </a:r>
                <a:r>
                  <a:rPr lang="en-US" altLang="zh-TW" sz="2800" dirty="0">
                    <a:latin typeface="Times New Roman" pitchFamily="18" charset="0"/>
                    <a:ea typeface="微軟正黑體" pitchFamily="34" charset="-120"/>
                  </a:rPr>
                  <a:t>)</a:t>
                </a:r>
                <a:r>
                  <a:rPr lang="zh-TW" altLang="en-US" sz="2800" dirty="0">
                    <a:latin typeface="Times New Roman" pitchFamily="18" charset="0"/>
                    <a:ea typeface="微軟正黑體" pitchFamily="34" charset="-120"/>
                  </a:rPr>
                  <a:t>的六個三角函數如下：</a:t>
                </a:r>
              </a:p>
            </p:txBody>
          </p:sp>
          <p:graphicFrame>
            <p:nvGraphicFramePr>
              <p:cNvPr id="2" name="物件 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97502683"/>
                  </p:ext>
                </p:extLst>
              </p:nvPr>
            </p:nvGraphicFramePr>
            <p:xfrm>
              <a:off x="767408" y="3071540"/>
              <a:ext cx="7137401" cy="288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" imgW="7137360" imgH="2882880" progId="Equation.DSMT4">
                      <p:embed/>
                    </p:oleObj>
                  </mc:Choice>
                  <mc:Fallback>
                    <p:oleObj name="Equation" r:id="rId3" imgW="7137360" imgH="28828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767408" y="3071540"/>
                            <a:ext cx="7137401" cy="28829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pic>
          <p:nvPicPr>
            <p:cNvPr id="188419" name="Picture 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80376" y="2708919"/>
              <a:ext cx="1920281" cy="32861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296202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TW" dirty="0"/>
              <a:t>119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160" y="1123333"/>
            <a:ext cx="1157669" cy="396043"/>
          </a:xfrm>
          <a:prstGeom prst="rect">
            <a:avLst/>
          </a:prstGeom>
        </p:spPr>
      </p:pic>
      <p:sp>
        <p:nvSpPr>
          <p:cNvPr id="9" name="文字方塊 8"/>
          <p:cNvSpPr txBox="1"/>
          <p:nvPr/>
        </p:nvSpPr>
        <p:spPr>
          <a:xfrm>
            <a:off x="767408" y="2276872"/>
            <a:ext cx="1098526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我們稱這樣的關係為</a:t>
            </a:r>
            <a:r>
              <a:rPr lang="zh-TW" altLang="en-US" sz="2800" b="1" dirty="0">
                <a:solidFill>
                  <a:srgbClr val="0070C0"/>
                </a:solidFill>
                <a:latin typeface="Times New Roman" pitchFamily="18" charset="0"/>
                <a:ea typeface="微軟正黑體" pitchFamily="34" charset="-120"/>
              </a:rPr>
              <a:t>餘角關係</a:t>
            </a: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，相信已經有同學發現：</a:t>
            </a:r>
          </a:p>
          <a:p>
            <a:pPr>
              <a:lnSpc>
                <a:spcPct val="150000"/>
              </a:lnSpc>
            </a:pP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sin 30° = cos 60°</a:t>
            </a: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，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cos 30° = sin 60°</a:t>
            </a: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，</a:t>
            </a:r>
            <a:endParaRPr lang="en-US" altLang="zh-TW" sz="2800" dirty="0">
              <a:latin typeface="Times New Roman" pitchFamily="18" charset="0"/>
              <a:ea typeface="微軟正黑體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tan 30° = cot 60°</a:t>
            </a: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，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cot 30° = tan 60°</a:t>
            </a: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，</a:t>
            </a:r>
          </a:p>
          <a:p>
            <a:pPr>
              <a:lnSpc>
                <a:spcPct val="150000"/>
              </a:lnSpc>
            </a:pP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sec 30° = </a:t>
            </a:r>
            <a:r>
              <a:rPr lang="en-US" altLang="zh-TW" sz="2800" dirty="0" err="1">
                <a:latin typeface="Times New Roman" pitchFamily="18" charset="0"/>
                <a:ea typeface="微軟正黑體" pitchFamily="34" charset="-120"/>
              </a:rPr>
              <a:t>csc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 60°</a:t>
            </a: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，</a:t>
            </a:r>
            <a:r>
              <a:rPr lang="en-US" altLang="zh-TW" sz="2800" dirty="0" err="1">
                <a:latin typeface="Times New Roman" pitchFamily="18" charset="0"/>
                <a:ea typeface="微軟正黑體" pitchFamily="34" charset="-120"/>
              </a:rPr>
              <a:t>csc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 30° = sec 60°</a:t>
            </a: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090929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/>
          <p:cNvSpPr txBox="1"/>
          <p:nvPr/>
        </p:nvSpPr>
        <p:spPr>
          <a:xfrm>
            <a:off x="1517650" y="1029136"/>
            <a:ext cx="781871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000" b="1" dirty="0">
                <a:latin typeface="微軟正黑體" pitchFamily="34" charset="-120"/>
                <a:ea typeface="微軟正黑體" pitchFamily="34" charset="-120"/>
              </a:rPr>
              <a:t>2-2.3</a:t>
            </a:r>
            <a:r>
              <a:rPr lang="zh-TW" altLang="en-US" sz="3000" b="1" dirty="0">
                <a:latin typeface="微軟正黑體" pitchFamily="34" charset="-120"/>
                <a:ea typeface="微軟正黑體" pitchFamily="34" charset="-120"/>
              </a:rPr>
              <a:t>三角函數的恆等關係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>
          <a:xfrm>
            <a:off x="1127448" y="6455660"/>
            <a:ext cx="781049" cy="357716"/>
          </a:xfrm>
        </p:spPr>
        <p:txBody>
          <a:bodyPr/>
          <a:lstStyle/>
          <a:p>
            <a:r>
              <a:rPr lang="en-US" altLang="zh-TW" dirty="0"/>
              <a:t>119</a:t>
            </a:r>
            <a:endParaRPr lang="zh-TW" alt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789299" y="2492896"/>
            <a:ext cx="10985264" cy="16842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許多時候，當我們碰到不是特別角、無法得知三角函數的精確值時，我們可以利用上面的恆等關係解決一些三角函數相關問題。</a:t>
            </a:r>
          </a:p>
        </p:txBody>
      </p:sp>
    </p:spTree>
    <p:extLst>
      <p:ext uri="{BB962C8B-B14F-4D97-AF65-F5344CB8AC3E}">
        <p14:creationId xmlns:p14="http://schemas.microsoft.com/office/powerpoint/2010/main" val="3576622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/>
          <p:cNvSpPr>
            <a:spLocks noGrp="1"/>
          </p:cNvSpPr>
          <p:nvPr>
            <p:ph type="body" sz="quarter" idx="10"/>
          </p:nvPr>
        </p:nvSpPr>
        <p:spPr>
          <a:xfrm>
            <a:off x="407368" y="452669"/>
            <a:ext cx="1056117" cy="960107"/>
          </a:xfrm>
        </p:spPr>
        <p:txBody>
          <a:bodyPr/>
          <a:lstStyle/>
          <a:p>
            <a:r>
              <a:rPr lang="en-US" altLang="zh-TW"/>
              <a:t>06</a:t>
            </a:r>
            <a:endParaRPr lang="zh-TW" altLang="en-US" dirty="0"/>
          </a:p>
        </p:txBody>
      </p:sp>
      <p:sp>
        <p:nvSpPr>
          <p:cNvPr id="12" name="內容版面配置區 11"/>
          <p:cNvSpPr>
            <a:spLocks noGrp="1"/>
          </p:cNvSpPr>
          <p:nvPr>
            <p:ph sz="quarter" idx="11"/>
          </p:nvPr>
        </p:nvSpPr>
        <p:spPr>
          <a:xfrm>
            <a:off x="1127448" y="6455660"/>
            <a:ext cx="781049" cy="357716"/>
          </a:xfrm>
        </p:spPr>
        <p:txBody>
          <a:bodyPr/>
          <a:lstStyle/>
          <a:p>
            <a:r>
              <a:rPr lang="en-US" altLang="zh-TW" dirty="0"/>
              <a:t>119</a:t>
            </a:r>
            <a:endParaRPr lang="zh-TW" altLang="en-US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1631504" y="398835"/>
            <a:ext cx="9814736" cy="25998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試求下列各式之值：</a:t>
            </a:r>
          </a:p>
          <a:p>
            <a:pPr>
              <a:lnSpc>
                <a:spcPct val="150000"/>
              </a:lnSpc>
            </a:pP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(1) sin 50° × </a:t>
            </a:r>
            <a:r>
              <a:rPr lang="en-US" altLang="zh-TW" sz="2800" dirty="0" err="1">
                <a:latin typeface="Times New Roman" pitchFamily="18" charset="0"/>
                <a:ea typeface="微軟正黑體" pitchFamily="34" charset="-120"/>
              </a:rPr>
              <a:t>csc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 50°</a:t>
            </a: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　</a:t>
            </a:r>
          </a:p>
          <a:p>
            <a:pPr>
              <a:lnSpc>
                <a:spcPct val="150000"/>
              </a:lnSpc>
            </a:pP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(2) sin</a:t>
            </a:r>
            <a:r>
              <a:rPr lang="en-US" altLang="zh-TW" sz="2800" baseline="30000" dirty="0">
                <a:latin typeface="Times New Roman" pitchFamily="18" charset="0"/>
                <a:ea typeface="微軟正黑體" pitchFamily="34" charset="-120"/>
              </a:rPr>
              <a:t>2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 40° + cos</a:t>
            </a:r>
            <a:r>
              <a:rPr lang="en-US" altLang="zh-TW" sz="2800" baseline="30000" dirty="0">
                <a:latin typeface="Times New Roman" pitchFamily="18" charset="0"/>
                <a:ea typeface="微軟正黑體" pitchFamily="34" charset="-120"/>
              </a:rPr>
              <a:t>2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 40°</a:t>
            </a: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　</a:t>
            </a:r>
          </a:p>
          <a:p>
            <a:pPr>
              <a:lnSpc>
                <a:spcPct val="150000"/>
              </a:lnSpc>
            </a:pP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(3) sec</a:t>
            </a:r>
            <a:r>
              <a:rPr lang="en-US" altLang="zh-TW" sz="2800" baseline="30000" dirty="0">
                <a:latin typeface="Times New Roman" pitchFamily="18" charset="0"/>
                <a:ea typeface="微軟正黑體" pitchFamily="34" charset="-120"/>
              </a:rPr>
              <a:t>2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 70° - tan </a:t>
            </a:r>
            <a:r>
              <a:rPr lang="en-US" altLang="zh-TW" sz="2800" baseline="30000" dirty="0">
                <a:latin typeface="Times New Roman" pitchFamily="18" charset="0"/>
                <a:ea typeface="微軟正黑體" pitchFamily="34" charset="-120"/>
              </a:rPr>
              <a:t>2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 70°</a:t>
            </a:r>
            <a:endParaRPr lang="zh-TW" altLang="en-US" sz="2800" dirty="0">
              <a:latin typeface="Times New Roman" pitchFamily="18" charset="0"/>
              <a:ea typeface="微軟正黑體" pitchFamily="34" charset="-12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217920" y="3931920"/>
            <a:ext cx="5303520" cy="2468880"/>
          </a:xfrm>
          <a:prstGeom prst="roundRect">
            <a:avLst/>
          </a:prstGeom>
          <a:solidFill>
            <a:srgbClr val="FEFCE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4041648"/>
            <a:ext cx="4974336" cy="22494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B91C1C"/>
                </a:solidFill>
                <a:latin typeface="微軟正黑體"/>
              </a:rPr>
              <a:t>🎯 例題 6 課堂思考方向（倒數與商數關係化簡）：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① 統一變數原則：遇到切割函數（tan, cot, sec, csc），全化為 sin 與 cos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② 商數關係代換：tan θ ＝ sin θ / cos θ，cot θ ＝ cos θ / sin θ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③ 通分合併式子：觀察分子分母是否能因式分解或公因式約分</a:t>
            </a:r>
          </a:p>
        </p:txBody>
      </p:sp>
    </p:spTree>
    <p:extLst>
      <p:ext uri="{BB962C8B-B14F-4D97-AF65-F5344CB8AC3E}">
        <p14:creationId xmlns:p14="http://schemas.microsoft.com/office/powerpoint/2010/main" val="3771999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10"/>
          <p:cNvSpPr>
            <a:spLocks noGrp="1"/>
          </p:cNvSpPr>
          <p:nvPr>
            <p:ph sz="quarter" idx="11"/>
          </p:nvPr>
        </p:nvSpPr>
        <p:spPr>
          <a:xfrm>
            <a:off x="1127448" y="6455660"/>
            <a:ext cx="781049" cy="357716"/>
          </a:xfrm>
        </p:spPr>
        <p:txBody>
          <a:bodyPr/>
          <a:lstStyle/>
          <a:p>
            <a:r>
              <a:rPr lang="en-US" altLang="zh-TW" dirty="0"/>
              <a:t>120</a:t>
            </a:r>
            <a:endParaRPr lang="zh-TW" altLang="en-US" dirty="0"/>
          </a:p>
        </p:txBody>
      </p:sp>
      <p:sp>
        <p:nvSpPr>
          <p:cNvPr id="2" name="文字版面配置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/>
              <a:t>06</a:t>
            </a:r>
            <a:endParaRPr lang="zh-TW" altLang="en-US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1753872" y="537107"/>
            <a:ext cx="952670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試求下列各式之值：</a:t>
            </a:r>
          </a:p>
          <a:p>
            <a:pPr marL="514350" indent="-514350">
              <a:lnSpc>
                <a:spcPct val="150000"/>
              </a:lnSpc>
              <a:buAutoNum type="arabicParenBoth"/>
            </a:pP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cos 35° × sec 35°</a:t>
            </a: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　</a:t>
            </a:r>
            <a:endParaRPr lang="en-US" altLang="zh-TW" sz="2800" dirty="0">
              <a:latin typeface="Times New Roman" pitchFamily="18" charset="0"/>
              <a:ea typeface="微軟正黑體" pitchFamily="34" charset="-120"/>
            </a:endParaRPr>
          </a:p>
          <a:p>
            <a:pPr marL="514350" indent="-514350">
              <a:lnSpc>
                <a:spcPct val="150000"/>
              </a:lnSpc>
              <a:buAutoNum type="arabicParenBoth"/>
            </a:pPr>
            <a:r>
              <a:rPr lang="en-US" altLang="zh-TW" sz="2800" dirty="0" err="1">
                <a:latin typeface="Times New Roman" pitchFamily="18" charset="0"/>
                <a:ea typeface="微軟正黑體" pitchFamily="34" charset="-120"/>
              </a:rPr>
              <a:t>sin</a:t>
            </a:r>
            <a:r>
              <a:rPr lang="en-US" altLang="zh-TW" sz="2800" baseline="30000" dirty="0" err="1">
                <a:latin typeface="Times New Roman" pitchFamily="18" charset="0"/>
                <a:ea typeface="微軟正黑體" pitchFamily="34" charset="-120"/>
              </a:rPr>
              <a:t>2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 80° + </a:t>
            </a:r>
            <a:r>
              <a:rPr lang="en-US" altLang="zh-TW" sz="2800" dirty="0" err="1">
                <a:latin typeface="Times New Roman" pitchFamily="18" charset="0"/>
                <a:ea typeface="微軟正黑體" pitchFamily="34" charset="-120"/>
              </a:rPr>
              <a:t>cos</a:t>
            </a:r>
            <a:r>
              <a:rPr lang="en-US" altLang="zh-TW" sz="2800" baseline="30000" dirty="0" err="1">
                <a:latin typeface="Times New Roman" pitchFamily="18" charset="0"/>
                <a:ea typeface="微軟正黑體" pitchFamily="34" charset="-120"/>
              </a:rPr>
              <a:t>2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 80°</a:t>
            </a: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　</a:t>
            </a:r>
            <a:endParaRPr lang="en-US" altLang="zh-TW" sz="2800" dirty="0">
              <a:latin typeface="Times New Roman" pitchFamily="18" charset="0"/>
              <a:ea typeface="微軟正黑體" pitchFamily="34" charset="-120"/>
            </a:endParaRPr>
          </a:p>
          <a:p>
            <a:pPr marL="514350" indent="-514350">
              <a:lnSpc>
                <a:spcPct val="150000"/>
              </a:lnSpc>
              <a:buAutoNum type="arabicParenBoth"/>
            </a:pPr>
            <a:r>
              <a:rPr lang="en-US" altLang="zh-TW" sz="2800" dirty="0" err="1">
                <a:latin typeface="Times New Roman" pitchFamily="18" charset="0"/>
                <a:ea typeface="微軟正黑體" pitchFamily="34" charset="-120"/>
              </a:rPr>
              <a:t>cot</a:t>
            </a:r>
            <a:r>
              <a:rPr lang="en-US" altLang="zh-TW" sz="2800" baseline="30000" dirty="0" err="1">
                <a:latin typeface="Times New Roman" pitchFamily="18" charset="0"/>
                <a:ea typeface="微軟正黑體" pitchFamily="34" charset="-120"/>
              </a:rPr>
              <a:t>2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 12° - </a:t>
            </a:r>
            <a:r>
              <a:rPr lang="en-US" altLang="zh-TW" sz="2800" dirty="0" err="1">
                <a:latin typeface="Times New Roman" pitchFamily="18" charset="0"/>
                <a:ea typeface="微軟正黑體" pitchFamily="34" charset="-120"/>
              </a:rPr>
              <a:t>csc</a:t>
            </a:r>
            <a:r>
              <a:rPr lang="en-US" altLang="zh-TW" sz="2800" baseline="30000" dirty="0" err="1">
                <a:latin typeface="Times New Roman" pitchFamily="18" charset="0"/>
                <a:ea typeface="微軟正黑體" pitchFamily="34" charset="-120"/>
              </a:rPr>
              <a:t>2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 12°</a:t>
            </a:r>
            <a:endParaRPr lang="zh-TW" altLang="en-US" sz="2800" dirty="0">
              <a:latin typeface="Times New Roman" pitchFamily="18" charset="0"/>
              <a:ea typeface="微軟正黑體" pitchFamily="34" charset="-12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217920" y="3931920"/>
            <a:ext cx="5303520" cy="2468880"/>
          </a:xfrm>
          <a:prstGeom prst="roundRect">
            <a:avLst/>
          </a:prstGeom>
          <a:solidFill>
            <a:srgbClr val="FEFCE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4041648"/>
            <a:ext cx="4974336" cy="22494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B91C1C"/>
                </a:solidFill>
                <a:latin typeface="微軟正黑體"/>
              </a:rPr>
              <a:t>🎯 隨堂練習 6 課堂思考方向：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① 倒數關係：cos 35° × sec 35° ＝ 1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② 平方關係：sin² 80° + cos² 80° ＝ 1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③ 平方關係：cot² 12° - csc² 12° ＝ -1</a:t>
            </a:r>
          </a:p>
        </p:txBody>
      </p:sp>
    </p:spTree>
    <p:extLst>
      <p:ext uri="{BB962C8B-B14F-4D97-AF65-F5344CB8AC3E}">
        <p14:creationId xmlns:p14="http://schemas.microsoft.com/office/powerpoint/2010/main" val="2365198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/>
          <p:cNvSpPr>
            <a:spLocks noGrp="1"/>
          </p:cNvSpPr>
          <p:nvPr>
            <p:ph type="body" sz="quarter" idx="10"/>
          </p:nvPr>
        </p:nvSpPr>
        <p:spPr>
          <a:xfrm>
            <a:off x="407368" y="452669"/>
            <a:ext cx="1056117" cy="960107"/>
          </a:xfrm>
        </p:spPr>
        <p:txBody>
          <a:bodyPr/>
          <a:lstStyle/>
          <a:p>
            <a:r>
              <a:rPr lang="en-US" altLang="zh-TW"/>
              <a:t>07</a:t>
            </a:r>
            <a:endParaRPr lang="zh-TW" altLang="en-US" dirty="0"/>
          </a:p>
        </p:txBody>
      </p:sp>
      <p:sp>
        <p:nvSpPr>
          <p:cNvPr id="12" name="內容版面配置區 11"/>
          <p:cNvSpPr>
            <a:spLocks noGrp="1"/>
          </p:cNvSpPr>
          <p:nvPr>
            <p:ph sz="quarter" idx="11"/>
          </p:nvPr>
        </p:nvSpPr>
        <p:spPr>
          <a:xfrm>
            <a:off x="1127448" y="6455660"/>
            <a:ext cx="781049" cy="357716"/>
          </a:xfrm>
        </p:spPr>
        <p:txBody>
          <a:bodyPr/>
          <a:lstStyle/>
          <a:p>
            <a:r>
              <a:rPr lang="en-US" altLang="zh-TW" dirty="0"/>
              <a:t>120</a:t>
            </a:r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2C6722E-EF0D-4659-82EA-12C808390DD4}"/>
              </a:ext>
            </a:extLst>
          </p:cNvPr>
          <p:cNvSpPr txBox="1"/>
          <p:nvPr/>
        </p:nvSpPr>
        <p:spPr>
          <a:xfrm>
            <a:off x="1559496" y="249575"/>
            <a:ext cx="10297144" cy="66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800" spc="300" dirty="0">
                <a:latin typeface="Times New Roman" pitchFamily="18" charset="0"/>
                <a:ea typeface="微軟正黑體" pitchFamily="34" charset="-120"/>
              </a:rPr>
              <a:t>試求</a:t>
            </a:r>
            <a:r>
              <a:rPr lang="en-US" altLang="zh-TW" sz="2800" spc="300" dirty="0">
                <a:latin typeface="Times New Roman" pitchFamily="18" charset="0"/>
                <a:ea typeface="微軟正黑體" pitchFamily="34" charset="-120"/>
              </a:rPr>
              <a:t>tan 40° tan 50° + tan</a:t>
            </a:r>
            <a:r>
              <a:rPr lang="en-US" altLang="zh-TW" sz="2800" spc="300" baseline="30000" dirty="0">
                <a:latin typeface="Times New Roman" pitchFamily="18" charset="0"/>
                <a:ea typeface="微軟正黑體" pitchFamily="34" charset="-120"/>
              </a:rPr>
              <a:t>2</a:t>
            </a:r>
            <a:r>
              <a:rPr lang="en-US" altLang="zh-TW" sz="2800" spc="300" dirty="0">
                <a:latin typeface="Times New Roman" pitchFamily="18" charset="0"/>
                <a:ea typeface="微軟正黑體" pitchFamily="34" charset="-120"/>
              </a:rPr>
              <a:t> 72° - csc</a:t>
            </a:r>
            <a:r>
              <a:rPr lang="en-US" altLang="zh-TW" sz="2800" spc="300" baseline="30000" dirty="0">
                <a:latin typeface="Times New Roman" pitchFamily="18" charset="0"/>
                <a:ea typeface="微軟正黑體" pitchFamily="34" charset="-120"/>
              </a:rPr>
              <a:t>2</a:t>
            </a:r>
            <a:r>
              <a:rPr lang="en-US" altLang="zh-TW" sz="2800" spc="300" dirty="0">
                <a:latin typeface="Times New Roman" pitchFamily="18" charset="0"/>
                <a:ea typeface="微軟正黑體" pitchFamily="34" charset="-120"/>
              </a:rPr>
              <a:t> 18° </a:t>
            </a:r>
            <a:r>
              <a:rPr lang="zh-TW" altLang="en-US" sz="2800" spc="300" dirty="0">
                <a:latin typeface="Times New Roman" pitchFamily="18" charset="0"/>
                <a:ea typeface="微軟正黑體" pitchFamily="34" charset="-120"/>
              </a:rPr>
              <a:t>之值。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31920"/>
            <a:ext cx="5303520" cy="2468880"/>
          </a:xfrm>
          <a:prstGeom prst="roundRect">
            <a:avLst/>
          </a:prstGeom>
          <a:solidFill>
            <a:srgbClr val="FEFCE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4041648"/>
            <a:ext cx="4974336" cy="22494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B91C1C"/>
                </a:solidFill>
                <a:latin typeface="微軟正黑體"/>
              </a:rPr>
              <a:t>🎯 例題 7 課堂思考方向（餘角與平方關係化簡）：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① 觀察角度互餘：40°+50°＝90°、72°+18°＝90°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② 餘角代換：tan 50° ＝ cot 40°，得 tan 40° cot 40° ＝ 1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③ 餘角代換：csc 18° ＝ sec 72°，得 tan² 72° - sec² 72° ＝ -1</a:t>
            </a:r>
          </a:p>
        </p:txBody>
      </p:sp>
    </p:spTree>
    <p:extLst>
      <p:ext uri="{BB962C8B-B14F-4D97-AF65-F5344CB8AC3E}">
        <p14:creationId xmlns:p14="http://schemas.microsoft.com/office/powerpoint/2010/main" val="1157737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10"/>
          <p:cNvSpPr>
            <a:spLocks noGrp="1"/>
          </p:cNvSpPr>
          <p:nvPr>
            <p:ph sz="quarter" idx="11"/>
          </p:nvPr>
        </p:nvSpPr>
        <p:spPr>
          <a:xfrm>
            <a:off x="1127448" y="6455660"/>
            <a:ext cx="781049" cy="357716"/>
          </a:xfrm>
        </p:spPr>
        <p:txBody>
          <a:bodyPr/>
          <a:lstStyle/>
          <a:p>
            <a:r>
              <a:rPr lang="en-US" altLang="zh-TW" dirty="0"/>
              <a:t>120</a:t>
            </a:r>
            <a:endParaRPr lang="zh-TW" altLang="en-US" dirty="0"/>
          </a:p>
        </p:txBody>
      </p:sp>
      <p:sp>
        <p:nvSpPr>
          <p:cNvPr id="2" name="文字版面配置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/>
              <a:t>07</a:t>
            </a:r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79D495B-5DE7-45E0-B31E-84C4D6CDA844}"/>
              </a:ext>
            </a:extLst>
          </p:cNvPr>
          <p:cNvSpPr txBox="1"/>
          <p:nvPr/>
        </p:nvSpPr>
        <p:spPr>
          <a:xfrm>
            <a:off x="1559496" y="249575"/>
            <a:ext cx="10297144" cy="66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800" spc="300" dirty="0">
                <a:latin typeface="Times New Roman" pitchFamily="18" charset="0"/>
                <a:ea typeface="微軟正黑體" pitchFamily="34" charset="-120"/>
              </a:rPr>
              <a:t>試求</a:t>
            </a:r>
            <a:r>
              <a:rPr lang="en-US" altLang="zh-TW" sz="2800" spc="300" dirty="0">
                <a:latin typeface="Times New Roman" pitchFamily="18" charset="0"/>
                <a:ea typeface="微軟正黑體" pitchFamily="34" charset="-120"/>
              </a:rPr>
              <a:t>cos</a:t>
            </a:r>
            <a:r>
              <a:rPr lang="en-US" altLang="zh-TW" sz="2800" spc="300" baseline="30000" dirty="0">
                <a:latin typeface="Times New Roman" pitchFamily="18" charset="0"/>
                <a:ea typeface="微軟正黑體" pitchFamily="34" charset="-120"/>
              </a:rPr>
              <a:t>2</a:t>
            </a:r>
            <a:r>
              <a:rPr lang="en-US" altLang="zh-TW" sz="2800" spc="300" dirty="0">
                <a:latin typeface="Times New Roman" pitchFamily="18" charset="0"/>
                <a:ea typeface="微軟正黑體" pitchFamily="34" charset="-120"/>
              </a:rPr>
              <a:t> 35° + cos</a:t>
            </a:r>
            <a:r>
              <a:rPr lang="en-US" altLang="zh-TW" sz="2800" spc="300" baseline="30000" dirty="0">
                <a:latin typeface="Times New Roman" pitchFamily="18" charset="0"/>
                <a:ea typeface="微軟正黑體" pitchFamily="34" charset="-120"/>
              </a:rPr>
              <a:t>2</a:t>
            </a:r>
            <a:r>
              <a:rPr lang="en-US" altLang="zh-TW" sz="2800" spc="300" dirty="0">
                <a:latin typeface="Times New Roman" pitchFamily="18" charset="0"/>
                <a:ea typeface="微軟正黑體" pitchFamily="34" charset="-120"/>
              </a:rPr>
              <a:t> 55° + csc</a:t>
            </a:r>
            <a:r>
              <a:rPr lang="en-US" altLang="zh-TW" sz="2800" spc="300" baseline="30000" dirty="0">
                <a:latin typeface="Times New Roman" pitchFamily="18" charset="0"/>
                <a:ea typeface="微軟正黑體" pitchFamily="34" charset="-120"/>
              </a:rPr>
              <a:t>2</a:t>
            </a:r>
            <a:r>
              <a:rPr lang="en-US" altLang="zh-TW" sz="2800" spc="300" dirty="0">
                <a:latin typeface="Times New Roman" pitchFamily="18" charset="0"/>
                <a:ea typeface="微軟正黑體" pitchFamily="34" charset="-120"/>
              </a:rPr>
              <a:t> 47° - tan</a:t>
            </a:r>
            <a:r>
              <a:rPr lang="en-US" altLang="zh-TW" sz="2800" spc="300" baseline="30000" dirty="0">
                <a:latin typeface="Times New Roman" pitchFamily="18" charset="0"/>
                <a:ea typeface="微軟正黑體" pitchFamily="34" charset="-120"/>
              </a:rPr>
              <a:t>2</a:t>
            </a:r>
            <a:r>
              <a:rPr lang="en-US" altLang="zh-TW" sz="2800" spc="300" dirty="0">
                <a:latin typeface="Times New Roman" pitchFamily="18" charset="0"/>
                <a:ea typeface="微軟正黑體" pitchFamily="34" charset="-120"/>
              </a:rPr>
              <a:t> 43° </a:t>
            </a:r>
            <a:r>
              <a:rPr lang="zh-TW" altLang="en-US" sz="2800" spc="300" dirty="0">
                <a:latin typeface="Times New Roman" pitchFamily="18" charset="0"/>
                <a:ea typeface="微軟正黑體" pitchFamily="34" charset="-120"/>
              </a:rPr>
              <a:t>之值。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303520" cy="2468880"/>
          </a:xfrm>
          <a:prstGeom prst="roundRect">
            <a:avLst/>
          </a:prstGeom>
          <a:solidFill>
            <a:srgbClr val="FEFCE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4041648"/>
            <a:ext cx="4974336" cy="22494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B91C1C"/>
                </a:solidFill>
                <a:latin typeface="微軟正黑體"/>
              </a:rPr>
              <a:t>🎯 隨堂練習 7 課堂思考方向：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① 互餘配對：35°+55°＝90°，cos 55° ＝ sin 35°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② 平方合一：cos² 35° + sin² 35° ＝ 1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③ 互餘配對：47°+43°＝90°，tan 43° ＝ cot 47°，再套平方關係</a:t>
            </a:r>
          </a:p>
        </p:txBody>
      </p:sp>
    </p:spTree>
    <p:extLst>
      <p:ext uri="{BB962C8B-B14F-4D97-AF65-F5344CB8AC3E}">
        <p14:creationId xmlns:p14="http://schemas.microsoft.com/office/powerpoint/2010/main" val="3425920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/>
          <p:cNvSpPr>
            <a:spLocks noGrp="1"/>
          </p:cNvSpPr>
          <p:nvPr>
            <p:ph type="body" sz="quarter" idx="10"/>
          </p:nvPr>
        </p:nvSpPr>
        <p:spPr>
          <a:xfrm>
            <a:off x="407368" y="452669"/>
            <a:ext cx="1056117" cy="960107"/>
          </a:xfrm>
        </p:spPr>
        <p:txBody>
          <a:bodyPr/>
          <a:lstStyle/>
          <a:p>
            <a:r>
              <a:rPr lang="en-US" altLang="zh-TW"/>
              <a:t>08</a:t>
            </a:r>
            <a:endParaRPr lang="zh-TW" altLang="en-US" dirty="0"/>
          </a:p>
        </p:txBody>
      </p:sp>
      <p:sp>
        <p:nvSpPr>
          <p:cNvPr id="12" name="內容版面配置區 11"/>
          <p:cNvSpPr>
            <a:spLocks noGrp="1"/>
          </p:cNvSpPr>
          <p:nvPr>
            <p:ph sz="quarter" idx="11"/>
          </p:nvPr>
        </p:nvSpPr>
        <p:spPr>
          <a:xfrm>
            <a:off x="1127448" y="6455660"/>
            <a:ext cx="781049" cy="357716"/>
          </a:xfrm>
        </p:spPr>
        <p:txBody>
          <a:bodyPr/>
          <a:lstStyle/>
          <a:p>
            <a:r>
              <a:rPr lang="en-US" altLang="zh-TW" dirty="0"/>
              <a:t>121</a:t>
            </a:r>
            <a:endParaRPr lang="zh-TW" altLang="en-US" dirty="0"/>
          </a:p>
        </p:txBody>
      </p:sp>
      <p:grpSp>
        <p:nvGrpSpPr>
          <p:cNvPr id="5" name="群組 4"/>
          <p:cNvGrpSpPr/>
          <p:nvPr/>
        </p:nvGrpSpPr>
        <p:grpSpPr>
          <a:xfrm>
            <a:off x="1559496" y="411290"/>
            <a:ext cx="10009112" cy="857470"/>
            <a:chOff x="1559496" y="249575"/>
            <a:chExt cx="10009112" cy="857470"/>
          </a:xfrm>
        </p:grpSpPr>
        <p:sp>
          <p:nvSpPr>
            <p:cNvPr id="11" name="文字方塊 10"/>
            <p:cNvSpPr txBox="1"/>
            <p:nvPr/>
          </p:nvSpPr>
          <p:spPr>
            <a:xfrm>
              <a:off x="1559496" y="249575"/>
              <a:ext cx="10009112" cy="66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已知</a:t>
              </a:r>
              <a:r>
                <a:rPr lang="en-US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為銳角，且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tan </a:t>
              </a:r>
              <a:r>
                <a:rPr lang="en-US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 = 2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，試求                   之值。</a:t>
              </a:r>
            </a:p>
          </p:txBody>
        </p:sp>
        <p:graphicFrame>
          <p:nvGraphicFramePr>
            <p:cNvPr id="4" name="物件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70758913"/>
                </p:ext>
              </p:extLst>
            </p:nvPr>
          </p:nvGraphicFramePr>
          <p:xfrm>
            <a:off x="7680176" y="268845"/>
            <a:ext cx="1993900" cy="838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993680" imgH="838080" progId="Equation.DSMT4">
                    <p:embed/>
                  </p:oleObj>
                </mc:Choice>
                <mc:Fallback>
                  <p:oleObj name="Equation" r:id="rId2" imgW="1993680" imgH="838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7680176" y="268845"/>
                          <a:ext cx="1993900" cy="838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" name="Rounded Rectangle 12"/>
          <p:cNvSpPr/>
          <p:nvPr/>
        </p:nvSpPr>
        <p:spPr>
          <a:xfrm>
            <a:off x="6217920" y="3931920"/>
            <a:ext cx="5303520" cy="2468880"/>
          </a:xfrm>
          <a:prstGeom prst="roundRect">
            <a:avLst/>
          </a:prstGeom>
          <a:solidFill>
            <a:srgbClr val="FEFCE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4041648"/>
            <a:ext cx="4974336" cy="22494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B91C1C"/>
                </a:solidFill>
                <a:latin typeface="微軟正黑體"/>
              </a:rPr>
              <a:t>🎯 例題 8 課堂思考方向（齊次式同除以 cosθ 技巧）：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① 題目特徵：已知 tan θ 之值，求 sin、cos 的一次齊次式比值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② 秒殺神技：分子分母同除以 cos θ！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③ 全式轉化：所有 sin θ / cos θ 轉化為 tan θ，直接代入已知數值求解</a:t>
            </a:r>
          </a:p>
        </p:txBody>
      </p:sp>
    </p:spTree>
    <p:extLst>
      <p:ext uri="{BB962C8B-B14F-4D97-AF65-F5344CB8AC3E}">
        <p14:creationId xmlns:p14="http://schemas.microsoft.com/office/powerpoint/2010/main" val="1157737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10"/>
          <p:cNvSpPr>
            <a:spLocks noGrp="1"/>
          </p:cNvSpPr>
          <p:nvPr>
            <p:ph sz="quarter" idx="11"/>
          </p:nvPr>
        </p:nvSpPr>
        <p:spPr>
          <a:xfrm>
            <a:off x="1127448" y="6455660"/>
            <a:ext cx="781049" cy="357716"/>
          </a:xfrm>
        </p:spPr>
        <p:txBody>
          <a:bodyPr/>
          <a:lstStyle/>
          <a:p>
            <a:r>
              <a:rPr lang="en-US" altLang="zh-TW" dirty="0"/>
              <a:t>121</a:t>
            </a:r>
            <a:endParaRPr lang="zh-TW" altLang="en-US" dirty="0"/>
          </a:p>
        </p:txBody>
      </p:sp>
      <p:sp>
        <p:nvSpPr>
          <p:cNvPr id="2" name="文字版面配置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/>
              <a:t>08</a:t>
            </a:r>
            <a:endParaRPr lang="zh-TW" altLang="en-US" dirty="0"/>
          </a:p>
        </p:txBody>
      </p:sp>
      <p:grpSp>
        <p:nvGrpSpPr>
          <p:cNvPr id="4" name="群組 3"/>
          <p:cNvGrpSpPr/>
          <p:nvPr/>
        </p:nvGrpSpPr>
        <p:grpSpPr>
          <a:xfrm>
            <a:off x="1559496" y="393591"/>
            <a:ext cx="10297144" cy="875169"/>
            <a:chOff x="1559496" y="249575"/>
            <a:chExt cx="10297144" cy="875169"/>
          </a:xfrm>
        </p:grpSpPr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D6D0C0D4-ED9C-41CC-9E53-590619850C64}"/>
                </a:ext>
              </a:extLst>
            </p:cNvPr>
            <p:cNvSpPr txBox="1"/>
            <p:nvPr/>
          </p:nvSpPr>
          <p:spPr>
            <a:xfrm>
              <a:off x="1559496" y="249575"/>
              <a:ext cx="10297144" cy="66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已知</a:t>
              </a:r>
              <a:r>
                <a:rPr lang="en-US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為銳角，且            ，試求                   之值</a:t>
              </a:r>
            </a:p>
          </p:txBody>
        </p:sp>
        <p:graphicFrame>
          <p:nvGraphicFramePr>
            <p:cNvPr id="3" name="物件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9391752"/>
                </p:ext>
              </p:extLst>
            </p:nvPr>
          </p:nvGraphicFramePr>
          <p:xfrm>
            <a:off x="4871864" y="258983"/>
            <a:ext cx="1308100" cy="838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307880" imgH="838080" progId="Equation.DSMT4">
                    <p:embed/>
                  </p:oleObj>
                </mc:Choice>
                <mc:Fallback>
                  <p:oleObj name="Equation" r:id="rId2" imgW="1307880" imgH="838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4871864" y="258983"/>
                          <a:ext cx="1308100" cy="838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物件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93880643"/>
                </p:ext>
              </p:extLst>
            </p:nvPr>
          </p:nvGraphicFramePr>
          <p:xfrm>
            <a:off x="7536160" y="286544"/>
            <a:ext cx="2184400" cy="838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184120" imgH="838080" progId="Equation.DSMT4">
                    <p:embed/>
                  </p:oleObj>
                </mc:Choice>
                <mc:Fallback>
                  <p:oleObj name="Equation" r:id="rId4" imgW="2184120" imgH="838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7536160" y="286544"/>
                          <a:ext cx="2184400" cy="838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Rounded Rectangle 11"/>
          <p:cNvSpPr/>
          <p:nvPr/>
        </p:nvSpPr>
        <p:spPr>
          <a:xfrm>
            <a:off x="6217920" y="3931920"/>
            <a:ext cx="5303520" cy="2468880"/>
          </a:xfrm>
          <a:prstGeom prst="roundRect">
            <a:avLst/>
          </a:prstGeom>
          <a:solidFill>
            <a:srgbClr val="FEFCE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4041648"/>
            <a:ext cx="4974336" cy="22494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B91C1C"/>
                </a:solidFill>
                <a:latin typeface="微軟正黑體"/>
              </a:rPr>
              <a:t>🎯 隨堂練習 8 課堂思考方向：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① 觀察為齊次式結構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② 分子分母同除以 cos θ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③ 代入已知條件化簡求值</a:t>
            </a:r>
          </a:p>
        </p:txBody>
      </p:sp>
    </p:spTree>
    <p:extLst>
      <p:ext uri="{BB962C8B-B14F-4D97-AF65-F5344CB8AC3E}">
        <p14:creationId xmlns:p14="http://schemas.microsoft.com/office/powerpoint/2010/main" val="3425920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3"/>
          <p:cNvSpPr>
            <a:spLocks noGrp="1"/>
          </p:cNvSpPr>
          <p:nvPr>
            <p:ph type="body" sz="quarter" idx="11"/>
          </p:nvPr>
        </p:nvSpPr>
        <p:spPr>
          <a:xfrm>
            <a:off x="1559496" y="3813047"/>
            <a:ext cx="6696744" cy="697839"/>
          </a:xfrm>
        </p:spPr>
        <p:txBody>
          <a:bodyPr/>
          <a:lstStyle/>
          <a:p>
            <a:r>
              <a:rPr lang="en-US" altLang="zh-TW" dirty="0"/>
              <a:t>2</a:t>
            </a:r>
            <a:r>
              <a:rPr lang="en-US" altLang="zh-TW" spc="300" dirty="0"/>
              <a:t>-2.4</a:t>
            </a:r>
            <a:r>
              <a:rPr lang="zh-TW" altLang="en-US" dirty="0"/>
              <a:t>三角恆等式</a:t>
            </a:r>
            <a:endParaRPr lang="zh-TW" altLang="en-US" spc="300" dirty="0"/>
          </a:p>
        </p:txBody>
      </p:sp>
    </p:spTree>
    <p:extLst>
      <p:ext uri="{BB962C8B-B14F-4D97-AF65-F5344CB8AC3E}">
        <p14:creationId xmlns:p14="http://schemas.microsoft.com/office/powerpoint/2010/main" val="56522308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TW" dirty="0"/>
              <a:t>121</a:t>
            </a:r>
            <a:endParaRPr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1517650" y="1029136"/>
            <a:ext cx="781871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000" b="1" dirty="0">
                <a:latin typeface="微軟正黑體" pitchFamily="34" charset="-120"/>
                <a:ea typeface="微軟正黑體" pitchFamily="34" charset="-120"/>
              </a:rPr>
              <a:t>2-2.4</a:t>
            </a:r>
            <a:r>
              <a:rPr lang="zh-TW" altLang="en-US" sz="3000" b="1" dirty="0">
                <a:latin typeface="微軟正黑體" pitchFamily="34" charset="-120"/>
                <a:ea typeface="微軟正黑體" pitchFamily="34" charset="-120"/>
              </a:rPr>
              <a:t>三角恆等式</a:t>
            </a:r>
          </a:p>
        </p:txBody>
      </p:sp>
      <p:sp>
        <p:nvSpPr>
          <p:cNvPr id="7" name="文字方塊 6"/>
          <p:cNvSpPr txBox="1"/>
          <p:nvPr/>
        </p:nvSpPr>
        <p:spPr>
          <a:xfrm>
            <a:off x="816053" y="2780928"/>
            <a:ext cx="10985264" cy="8224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除了三角函數的四個恆等關係，底下介紹幾個常用的三角恆等式。</a:t>
            </a:r>
          </a:p>
        </p:txBody>
      </p:sp>
    </p:spTree>
    <p:extLst>
      <p:ext uri="{BB962C8B-B14F-4D97-AF65-F5344CB8AC3E}">
        <p14:creationId xmlns:p14="http://schemas.microsoft.com/office/powerpoint/2010/main" val="3286502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TW" altLang="en-US" dirty="0"/>
              <a:t>三角恆等式</a:t>
            </a:r>
          </a:p>
        </p:txBody>
      </p:sp>
      <p:sp>
        <p:nvSpPr>
          <p:cNvPr id="10" name="內容版面配置區 9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zh-TW" dirty="0"/>
              <a:t>121</a:t>
            </a:r>
            <a:endParaRPr lang="zh-TW" altLang="en-US" dirty="0"/>
          </a:p>
        </p:txBody>
      </p:sp>
      <p:grpSp>
        <p:nvGrpSpPr>
          <p:cNvPr id="4" name="群組 3"/>
          <p:cNvGrpSpPr/>
          <p:nvPr/>
        </p:nvGrpSpPr>
        <p:grpSpPr>
          <a:xfrm>
            <a:off x="839417" y="1988840"/>
            <a:ext cx="8928992" cy="2710408"/>
            <a:chOff x="839417" y="2276872"/>
            <a:chExt cx="8928992" cy="2710408"/>
          </a:xfrm>
        </p:grpSpPr>
        <p:sp>
          <p:nvSpPr>
            <p:cNvPr id="6" name="文字方塊 5"/>
            <p:cNvSpPr txBox="1"/>
            <p:nvPr/>
          </p:nvSpPr>
          <p:spPr>
            <a:xfrm>
              <a:off x="839417" y="2276872"/>
              <a:ext cx="8928992" cy="25463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(1) (sin </a:t>
              </a:r>
              <a:r>
                <a:rPr lang="el-GR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spc="300" dirty="0">
                  <a:latin typeface="Times New Roman" pitchFamily="18" charset="0"/>
                  <a:ea typeface="微軟正黑體" pitchFamily="34" charset="-120"/>
                </a:rPr>
                <a:t> + 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cos </a:t>
              </a:r>
              <a:r>
                <a:rPr lang="el-GR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spc="300" dirty="0">
                  <a:latin typeface="Times New Roman" pitchFamily="18" charset="0"/>
                  <a:ea typeface="微軟正黑體" pitchFamily="34" charset="-120"/>
                </a:rPr>
                <a:t>)</a:t>
              </a:r>
              <a:r>
                <a:rPr lang="el-GR" altLang="zh-TW" sz="2800" spc="300" baseline="30000" dirty="0">
                  <a:latin typeface="Times New Roman" pitchFamily="18" charset="0"/>
                  <a:ea typeface="微軟正黑體" pitchFamily="34" charset="-120"/>
                </a:rPr>
                <a:t>2</a:t>
              </a:r>
              <a:r>
                <a:rPr lang="el-GR" altLang="zh-TW" sz="2800" spc="300" dirty="0">
                  <a:latin typeface="Times New Roman" pitchFamily="18" charset="0"/>
                  <a:ea typeface="微軟正黑體" pitchFamily="34" charset="-120"/>
                </a:rPr>
                <a:t> = 1 + 2 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sin </a:t>
              </a:r>
              <a:r>
                <a:rPr lang="el-GR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spc="3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cos </a:t>
              </a:r>
              <a:r>
                <a:rPr lang="el-GR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</a:p>
            <a:p>
              <a:pPr>
                <a:lnSpc>
                  <a:spcPct val="200000"/>
                </a:lnSpc>
              </a:pPr>
              <a:r>
                <a:rPr lang="el-GR" altLang="zh-TW" sz="2800" spc="300" dirty="0">
                  <a:latin typeface="Times New Roman" pitchFamily="18" charset="0"/>
                  <a:ea typeface="微軟正黑體" pitchFamily="34" charset="-120"/>
                </a:rPr>
                <a:t>(2) (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sin </a:t>
              </a:r>
              <a:r>
                <a:rPr lang="el-GR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spc="300" dirty="0">
                  <a:latin typeface="Times New Roman" pitchFamily="18" charset="0"/>
                  <a:ea typeface="微軟正黑體" pitchFamily="34" charset="-120"/>
                </a:rPr>
                <a:t> - 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cos </a:t>
              </a:r>
              <a:r>
                <a:rPr lang="el-GR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zh-TW" altLang="en-US" sz="2800" i="1" spc="3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el-GR" altLang="zh-TW" sz="2800" spc="300" dirty="0">
                  <a:latin typeface="Times New Roman" pitchFamily="18" charset="0"/>
                  <a:ea typeface="微軟正黑體" pitchFamily="34" charset="-120"/>
                </a:rPr>
                <a:t>)</a:t>
              </a:r>
              <a:r>
                <a:rPr lang="el-GR" altLang="zh-TW" sz="2800" spc="300" baseline="30000" dirty="0">
                  <a:latin typeface="Times New Roman" pitchFamily="18" charset="0"/>
                  <a:ea typeface="微軟正黑體" pitchFamily="34" charset="-120"/>
                </a:rPr>
                <a:t>2</a:t>
              </a:r>
              <a:r>
                <a:rPr lang="el-GR" altLang="zh-TW" sz="2800" spc="300" dirty="0">
                  <a:latin typeface="Times New Roman" pitchFamily="18" charset="0"/>
                  <a:ea typeface="微軟正黑體" pitchFamily="34" charset="-120"/>
                </a:rPr>
                <a:t> = 1 - 2 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sin </a:t>
              </a:r>
              <a:r>
                <a:rPr lang="el-GR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spc="3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cos </a:t>
              </a:r>
              <a:r>
                <a:rPr lang="el-GR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</a:p>
            <a:p>
              <a:pPr>
                <a:lnSpc>
                  <a:spcPct val="200000"/>
                </a:lnSpc>
              </a:pPr>
              <a:r>
                <a:rPr lang="el-GR" altLang="zh-TW" sz="2800" spc="300" dirty="0">
                  <a:latin typeface="Times New Roman" pitchFamily="18" charset="0"/>
                  <a:ea typeface="微軟正黑體" pitchFamily="34" charset="-120"/>
                </a:rPr>
                <a:t>(3)</a:t>
              </a:r>
              <a:endParaRPr lang="zh-TW" altLang="en-US" sz="2800" i="1" spc="300" dirty="0">
                <a:latin typeface="Times New Roman" pitchFamily="18" charset="0"/>
                <a:ea typeface="微軟正黑體" pitchFamily="34" charset="-120"/>
              </a:endParaRPr>
            </a:p>
          </p:txBody>
        </p:sp>
        <p:graphicFrame>
          <p:nvGraphicFramePr>
            <p:cNvPr id="3" name="物件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15983896"/>
                </p:ext>
              </p:extLst>
            </p:nvPr>
          </p:nvGraphicFramePr>
          <p:xfrm>
            <a:off x="1631504" y="4149080"/>
            <a:ext cx="3543300" cy="838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3543120" imgH="838080" progId="Equation.DSMT4">
                    <p:embed/>
                  </p:oleObj>
                </mc:Choice>
                <mc:Fallback>
                  <p:oleObj name="Equation" r:id="rId2" imgW="3543120" imgH="838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1631504" y="4149080"/>
                          <a:ext cx="3543300" cy="838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498243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TW" dirty="0"/>
              <a:t>122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160" y="1123333"/>
            <a:ext cx="1157669" cy="396043"/>
          </a:xfrm>
          <a:prstGeom prst="rect">
            <a:avLst/>
          </a:prstGeom>
        </p:spPr>
      </p:pic>
      <p:grpSp>
        <p:nvGrpSpPr>
          <p:cNvPr id="3" name="群組 2"/>
          <p:cNvGrpSpPr/>
          <p:nvPr/>
        </p:nvGrpSpPr>
        <p:grpSpPr>
          <a:xfrm>
            <a:off x="810160" y="1859596"/>
            <a:ext cx="10985264" cy="3322500"/>
            <a:chOff x="767408" y="2276872"/>
            <a:chExt cx="10985264" cy="3322500"/>
          </a:xfrm>
        </p:grpSpPr>
        <p:sp>
          <p:nvSpPr>
            <p:cNvPr id="9" name="文字方塊 8"/>
            <p:cNvSpPr txBox="1"/>
            <p:nvPr/>
          </p:nvSpPr>
          <p:spPr>
            <a:xfrm>
              <a:off x="767408" y="2276872"/>
              <a:ext cx="10985264" cy="31388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250000"/>
                </a:lnSpc>
              </a:pP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(1) (sin </a:t>
              </a:r>
              <a:r>
                <a:rPr lang="el-GR" altLang="zh-TW" sz="2800" i="1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dirty="0">
                  <a:latin typeface="Times New Roman" pitchFamily="18" charset="0"/>
                  <a:ea typeface="微軟正黑體" pitchFamily="34" charset="-120"/>
                </a:rPr>
                <a:t> + 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cos </a:t>
              </a:r>
              <a:r>
                <a:rPr lang="el-GR" altLang="zh-TW" sz="2800" i="1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dirty="0">
                  <a:latin typeface="Times New Roman" pitchFamily="18" charset="0"/>
                  <a:ea typeface="微軟正黑體" pitchFamily="34" charset="-120"/>
                </a:rPr>
                <a:t>)</a:t>
              </a:r>
              <a:r>
                <a:rPr lang="el-GR" altLang="zh-TW" sz="2800" baseline="30000" dirty="0">
                  <a:latin typeface="Times New Roman" pitchFamily="18" charset="0"/>
                  <a:ea typeface="微軟正黑體" pitchFamily="34" charset="-120"/>
                </a:rPr>
                <a:t>2</a:t>
              </a:r>
              <a:r>
                <a:rPr lang="el-GR" altLang="zh-TW" sz="2800" dirty="0">
                  <a:latin typeface="Times New Roman" pitchFamily="18" charset="0"/>
                  <a:ea typeface="微軟正黑體" pitchFamily="34" charset="-120"/>
                </a:rPr>
                <a:t> = 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sin</a:t>
              </a:r>
              <a:r>
                <a:rPr lang="en-US" altLang="zh-TW" sz="2800" baseline="30000" dirty="0">
                  <a:latin typeface="Times New Roman" pitchFamily="18" charset="0"/>
                  <a:ea typeface="微軟正黑體" pitchFamily="34" charset="-120"/>
                </a:rPr>
                <a:t>2 </a:t>
              </a:r>
              <a:r>
                <a:rPr lang="el-GR" altLang="zh-TW" sz="2800" dirty="0">
                  <a:latin typeface="Times New Roman" pitchFamily="18" charset="0"/>
                  <a:ea typeface="微軟正黑體" pitchFamily="34" charset="-120"/>
                </a:rPr>
                <a:t>θ + 2 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sin </a:t>
              </a:r>
              <a:r>
                <a:rPr lang="el-GR" altLang="zh-TW" sz="2800" i="1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cos </a:t>
              </a:r>
              <a:r>
                <a:rPr lang="el-GR" altLang="zh-TW" sz="2800" i="1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dirty="0">
                  <a:latin typeface="Times New Roman" pitchFamily="18" charset="0"/>
                  <a:ea typeface="微軟正黑體" pitchFamily="34" charset="-120"/>
                </a:rPr>
                <a:t> + 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cos</a:t>
              </a:r>
              <a:r>
                <a:rPr lang="en-US" altLang="zh-TW" sz="2800" baseline="30000" dirty="0">
                  <a:latin typeface="Times New Roman" pitchFamily="18" charset="0"/>
                  <a:ea typeface="微軟正黑體" pitchFamily="34" charset="-120"/>
                </a:rPr>
                <a:t>2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el-GR" altLang="zh-TW" sz="2800" i="1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dirty="0">
                  <a:latin typeface="Times New Roman" pitchFamily="18" charset="0"/>
                  <a:ea typeface="微軟正黑體" pitchFamily="34" charset="-120"/>
                </a:rPr>
                <a:t> = 1 + 2 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sin </a:t>
              </a:r>
              <a:r>
                <a:rPr lang="el-GR" altLang="zh-TW" sz="2800" i="1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cos </a:t>
              </a:r>
              <a:r>
                <a:rPr lang="el-GR" altLang="zh-TW" sz="2800" i="1" dirty="0">
                  <a:latin typeface="Times New Roman" pitchFamily="18" charset="0"/>
                  <a:ea typeface="微軟正黑體" pitchFamily="34" charset="-120"/>
                </a:rPr>
                <a:t>θ</a:t>
              </a:r>
            </a:p>
            <a:p>
              <a:pPr>
                <a:lnSpc>
                  <a:spcPct val="250000"/>
                </a:lnSpc>
              </a:pPr>
              <a:r>
                <a:rPr lang="el-GR" altLang="zh-TW" sz="2800" dirty="0">
                  <a:latin typeface="Times New Roman" pitchFamily="18" charset="0"/>
                  <a:ea typeface="微軟正黑體" pitchFamily="34" charset="-120"/>
                </a:rPr>
                <a:t>(2) (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sin </a:t>
              </a:r>
              <a:r>
                <a:rPr lang="el-GR" altLang="zh-TW" sz="2800" i="1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dirty="0">
                  <a:latin typeface="Times New Roman" pitchFamily="18" charset="0"/>
                  <a:ea typeface="微軟正黑體" pitchFamily="34" charset="-120"/>
                </a:rPr>
                <a:t> - 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cos </a:t>
              </a:r>
              <a:r>
                <a:rPr lang="el-GR" altLang="zh-TW" sz="2800" i="1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dirty="0">
                  <a:latin typeface="Times New Roman" pitchFamily="18" charset="0"/>
                  <a:ea typeface="微軟正黑體" pitchFamily="34" charset="-120"/>
                </a:rPr>
                <a:t>)</a:t>
              </a:r>
              <a:r>
                <a:rPr lang="el-GR" altLang="zh-TW" sz="2800" baseline="30000" dirty="0">
                  <a:latin typeface="Times New Roman" pitchFamily="18" charset="0"/>
                  <a:ea typeface="微軟正黑體" pitchFamily="34" charset="-120"/>
                </a:rPr>
                <a:t>2</a:t>
              </a:r>
              <a:r>
                <a:rPr lang="zh-TW" altLang="en-US" sz="2800" baseline="300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el-GR" altLang="zh-TW" sz="2800" dirty="0">
                  <a:latin typeface="Times New Roman" pitchFamily="18" charset="0"/>
                  <a:ea typeface="微軟正黑體" pitchFamily="34" charset="-120"/>
                </a:rPr>
                <a:t> = 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sin</a:t>
              </a:r>
              <a:r>
                <a:rPr lang="en-US" altLang="zh-TW" sz="2800" baseline="30000" dirty="0">
                  <a:latin typeface="Times New Roman" pitchFamily="18" charset="0"/>
                  <a:ea typeface="微軟正黑體" pitchFamily="34" charset="-120"/>
                </a:rPr>
                <a:t>2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el-GR" altLang="zh-TW" sz="2800" dirty="0">
                  <a:latin typeface="Times New Roman" pitchFamily="18" charset="0"/>
                  <a:ea typeface="微軟正黑體" pitchFamily="34" charset="-120"/>
                </a:rPr>
                <a:t>θ - 2 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sin </a:t>
              </a:r>
              <a:r>
                <a:rPr lang="el-GR" altLang="zh-TW" sz="2800" i="1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cos </a:t>
              </a:r>
              <a:r>
                <a:rPr lang="el-GR" altLang="zh-TW" sz="2800" i="1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el-GR" altLang="zh-TW" sz="2800" dirty="0">
                  <a:latin typeface="Times New Roman" pitchFamily="18" charset="0"/>
                  <a:ea typeface="微軟正黑體" pitchFamily="34" charset="-120"/>
                </a:rPr>
                <a:t>+ 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cos</a:t>
              </a:r>
              <a:r>
                <a:rPr lang="en-US" altLang="zh-TW" sz="2800" baseline="30000" dirty="0">
                  <a:latin typeface="Times New Roman" pitchFamily="18" charset="0"/>
                  <a:ea typeface="微軟正黑體" pitchFamily="34" charset="-120"/>
                </a:rPr>
                <a:t>2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el-GR" altLang="zh-TW" sz="2800" i="1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dirty="0">
                  <a:latin typeface="Times New Roman" pitchFamily="18" charset="0"/>
                  <a:ea typeface="微軟正黑體" pitchFamily="34" charset="-120"/>
                </a:rPr>
                <a:t> = 1 - 2 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sin </a:t>
              </a:r>
              <a:r>
                <a:rPr lang="el-GR" altLang="zh-TW" sz="2800" i="1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cos </a:t>
              </a:r>
              <a:r>
                <a:rPr lang="el-GR" altLang="zh-TW" sz="2800" i="1" dirty="0">
                  <a:latin typeface="Times New Roman" pitchFamily="18" charset="0"/>
                  <a:ea typeface="微軟正黑體" pitchFamily="34" charset="-120"/>
                </a:rPr>
                <a:t>θ</a:t>
              </a:r>
            </a:p>
            <a:p>
              <a:pPr>
                <a:lnSpc>
                  <a:spcPct val="250000"/>
                </a:lnSpc>
              </a:pPr>
              <a:r>
                <a:rPr lang="el-GR" altLang="zh-TW" sz="2800" dirty="0">
                  <a:latin typeface="Times New Roman" pitchFamily="18" charset="0"/>
                  <a:ea typeface="微軟正黑體" pitchFamily="34" charset="-120"/>
                </a:rPr>
                <a:t>(3)</a:t>
              </a:r>
              <a:endParaRPr lang="zh-TW" altLang="en-US" sz="2800" dirty="0">
                <a:latin typeface="Times New Roman" pitchFamily="18" charset="0"/>
                <a:ea typeface="微軟正黑體" pitchFamily="34" charset="-120"/>
              </a:endParaRPr>
            </a:p>
          </p:txBody>
        </p:sp>
        <p:graphicFrame>
          <p:nvGraphicFramePr>
            <p:cNvPr id="2" name="物件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61017183"/>
                </p:ext>
              </p:extLst>
            </p:nvPr>
          </p:nvGraphicFramePr>
          <p:xfrm>
            <a:off x="1475220" y="4710372"/>
            <a:ext cx="8140701" cy="889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8140680" imgH="888840" progId="Equation.DSMT4">
                    <p:embed/>
                  </p:oleObj>
                </mc:Choice>
                <mc:Fallback>
                  <p:oleObj name="Equation" r:id="rId3" imgW="8140680" imgH="8888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475220" y="4710372"/>
                          <a:ext cx="8140701" cy="889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375008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/>
          <p:cNvSpPr>
            <a:spLocks noGrp="1"/>
          </p:cNvSpPr>
          <p:nvPr>
            <p:ph type="body" sz="quarter" idx="10"/>
          </p:nvPr>
        </p:nvSpPr>
        <p:spPr>
          <a:xfrm>
            <a:off x="407368" y="452669"/>
            <a:ext cx="1056117" cy="960107"/>
          </a:xfrm>
        </p:spPr>
        <p:txBody>
          <a:bodyPr/>
          <a:lstStyle/>
          <a:p>
            <a:r>
              <a:rPr lang="en-US" altLang="zh-TW" dirty="0"/>
              <a:t>09</a:t>
            </a:r>
            <a:endParaRPr lang="zh-TW" altLang="en-US" dirty="0"/>
          </a:p>
        </p:txBody>
      </p:sp>
      <p:sp>
        <p:nvSpPr>
          <p:cNvPr id="12" name="內容版面配置區 11"/>
          <p:cNvSpPr>
            <a:spLocks noGrp="1"/>
          </p:cNvSpPr>
          <p:nvPr>
            <p:ph sz="quarter" idx="11"/>
          </p:nvPr>
        </p:nvSpPr>
        <p:spPr>
          <a:xfrm>
            <a:off x="1127448" y="6455660"/>
            <a:ext cx="781049" cy="357716"/>
          </a:xfrm>
        </p:spPr>
        <p:txBody>
          <a:bodyPr/>
          <a:lstStyle/>
          <a:p>
            <a:r>
              <a:rPr lang="en-US" altLang="zh-TW" dirty="0"/>
              <a:t>122</a:t>
            </a:r>
            <a:endParaRPr lang="zh-TW" altLang="en-US" dirty="0"/>
          </a:p>
        </p:txBody>
      </p:sp>
      <p:grpSp>
        <p:nvGrpSpPr>
          <p:cNvPr id="4" name="群組 3"/>
          <p:cNvGrpSpPr/>
          <p:nvPr/>
        </p:nvGrpSpPr>
        <p:grpSpPr>
          <a:xfrm>
            <a:off x="1515390" y="333375"/>
            <a:ext cx="10153128" cy="1367433"/>
            <a:chOff x="1515390" y="333375"/>
            <a:chExt cx="10153128" cy="1367433"/>
          </a:xfrm>
        </p:grpSpPr>
        <p:sp>
          <p:nvSpPr>
            <p:cNvPr id="11" name="文字方塊 10"/>
            <p:cNvSpPr txBox="1"/>
            <p:nvPr/>
          </p:nvSpPr>
          <p:spPr>
            <a:xfrm>
              <a:off x="1515390" y="393591"/>
              <a:ext cx="10153128" cy="1307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已知</a:t>
              </a:r>
              <a:r>
                <a:rPr lang="el-GR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spc="3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為銳角，若</a:t>
              </a:r>
              <a:endParaRPr lang="en-US" altLang="zh-TW" sz="2800" spc="300" dirty="0">
                <a:latin typeface="Times New Roman" pitchFamily="18" charset="0"/>
                <a:ea typeface="微軟正黑體" pitchFamily="34" charset="-120"/>
              </a:endParaRPr>
            </a:p>
            <a:p>
              <a:pPr>
                <a:lnSpc>
                  <a:spcPct val="150000"/>
                </a:lnSpc>
              </a:pP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試求 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(1) sin </a:t>
              </a:r>
              <a:r>
                <a:rPr lang="el-GR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spc="3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cos </a:t>
              </a:r>
              <a:r>
                <a:rPr lang="el-GR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zh-TW" altLang="el-GR" sz="2800" spc="300" dirty="0">
                  <a:latin typeface="Times New Roman" pitchFamily="18" charset="0"/>
                  <a:ea typeface="微軟正黑體" pitchFamily="34" charset="-120"/>
                </a:rPr>
                <a:t>　</a:t>
              </a:r>
              <a:r>
                <a:rPr lang="el-GR" altLang="zh-TW" sz="2800" spc="300" dirty="0">
                  <a:latin typeface="Times New Roman" pitchFamily="18" charset="0"/>
                  <a:ea typeface="微軟正黑體" pitchFamily="34" charset="-120"/>
                </a:rPr>
                <a:t>(2) 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tan </a:t>
              </a:r>
              <a:r>
                <a:rPr lang="el-GR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spc="300" dirty="0">
                  <a:latin typeface="Times New Roman" pitchFamily="18" charset="0"/>
                  <a:ea typeface="微軟正黑體" pitchFamily="34" charset="-120"/>
                </a:rPr>
                <a:t> + 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cot </a:t>
              </a:r>
              <a:r>
                <a:rPr lang="el-GR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spc="3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之值。</a:t>
              </a:r>
            </a:p>
          </p:txBody>
        </p:sp>
        <p:graphicFrame>
          <p:nvGraphicFramePr>
            <p:cNvPr id="3" name="物件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07977204"/>
                </p:ext>
              </p:extLst>
            </p:nvPr>
          </p:nvGraphicFramePr>
          <p:xfrm>
            <a:off x="4800374" y="333375"/>
            <a:ext cx="2311400" cy="838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311200" imgH="838080" progId="Equation.DSMT4">
                    <p:embed/>
                  </p:oleObj>
                </mc:Choice>
                <mc:Fallback>
                  <p:oleObj name="Equation" r:id="rId2" imgW="2311200" imgH="838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4800374" y="333375"/>
                          <a:ext cx="2311400" cy="838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" name="Rounded Rectangle 12"/>
          <p:cNvSpPr/>
          <p:nvPr/>
        </p:nvSpPr>
        <p:spPr>
          <a:xfrm>
            <a:off x="6217920" y="3931920"/>
            <a:ext cx="5303520" cy="2468880"/>
          </a:xfrm>
          <a:prstGeom prst="roundRect">
            <a:avLst/>
          </a:prstGeom>
          <a:solidFill>
            <a:srgbClr val="FEFCE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4041648"/>
            <a:ext cx="4974336" cy="22494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B91C1C"/>
                </a:solidFill>
                <a:latin typeface="微軟正黑體"/>
              </a:rPr>
              <a:t>🎯 例題 9 課堂思考方向（平方關係與和差乘積轉換）：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① 題目特徵：已知 sin θ + cos θ，求乘積或對稱式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② 必殺技巧：將已知式『兩邊同時平方』！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③ 展開公式：(sin θ + cos θ)² ＝ 1 + 2sin θ cos θ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④ 平方關係代換：解出 sin θ cos θ 後進一步代入求解</a:t>
            </a:r>
          </a:p>
        </p:txBody>
      </p:sp>
    </p:spTree>
    <p:extLst>
      <p:ext uri="{BB962C8B-B14F-4D97-AF65-F5344CB8AC3E}">
        <p14:creationId xmlns:p14="http://schemas.microsoft.com/office/powerpoint/2010/main" val="2795918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10"/>
          <p:cNvSpPr>
            <a:spLocks noGrp="1"/>
          </p:cNvSpPr>
          <p:nvPr>
            <p:ph sz="quarter" idx="11"/>
          </p:nvPr>
        </p:nvSpPr>
        <p:spPr>
          <a:xfrm>
            <a:off x="1127448" y="6455660"/>
            <a:ext cx="781049" cy="357716"/>
          </a:xfrm>
        </p:spPr>
        <p:txBody>
          <a:bodyPr/>
          <a:lstStyle/>
          <a:p>
            <a:r>
              <a:rPr lang="en-US" altLang="zh-TW" dirty="0"/>
              <a:t>122</a:t>
            </a:r>
            <a:endParaRPr lang="zh-TW" altLang="en-US" dirty="0"/>
          </a:p>
        </p:txBody>
      </p:sp>
      <p:sp>
        <p:nvSpPr>
          <p:cNvPr id="2" name="文字版面配置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09</a:t>
            </a:r>
            <a:endParaRPr lang="zh-TW" altLang="en-US" dirty="0"/>
          </a:p>
        </p:txBody>
      </p:sp>
      <p:grpSp>
        <p:nvGrpSpPr>
          <p:cNvPr id="4" name="群組 3"/>
          <p:cNvGrpSpPr/>
          <p:nvPr/>
        </p:nvGrpSpPr>
        <p:grpSpPr>
          <a:xfrm>
            <a:off x="1734112" y="290337"/>
            <a:ext cx="9618472" cy="1332693"/>
            <a:chOff x="1734112" y="214536"/>
            <a:chExt cx="9618472" cy="1332693"/>
          </a:xfrm>
        </p:grpSpPr>
        <p:sp>
          <p:nvSpPr>
            <p:cNvPr id="19" name="文字方塊 18"/>
            <p:cNvSpPr txBox="1"/>
            <p:nvPr/>
          </p:nvSpPr>
          <p:spPr>
            <a:xfrm>
              <a:off x="1734112" y="240012"/>
              <a:ext cx="9618472" cy="1307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TW" altLang="en-US" sz="2800" dirty="0">
                  <a:latin typeface="Times New Roman" pitchFamily="18" charset="0"/>
                  <a:ea typeface="微軟正黑體" pitchFamily="34" charset="-120"/>
                </a:rPr>
                <a:t>已知 </a:t>
              </a:r>
              <a:r>
                <a:rPr lang="el-GR" altLang="zh-TW" sz="2800" i="1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dirty="0">
                  <a:latin typeface="Times New Roman" pitchFamily="18" charset="0"/>
                  <a:ea typeface="微軟正黑體" pitchFamily="34" charset="-120"/>
                </a:rPr>
                <a:t>為銳角，若</a:t>
              </a:r>
              <a:endParaRPr lang="en-US" altLang="zh-TW" sz="2800" dirty="0">
                <a:latin typeface="Times New Roman" pitchFamily="18" charset="0"/>
                <a:ea typeface="微軟正黑體" pitchFamily="34" charset="-120"/>
              </a:endParaRPr>
            </a:p>
            <a:p>
              <a:pPr>
                <a:lnSpc>
                  <a:spcPct val="150000"/>
                </a:lnSpc>
              </a:pPr>
              <a:r>
                <a:rPr lang="zh-TW" altLang="en-US" sz="2800" dirty="0">
                  <a:latin typeface="Times New Roman" pitchFamily="18" charset="0"/>
                  <a:ea typeface="微軟正黑體" pitchFamily="34" charset="-120"/>
                </a:rPr>
                <a:t>試求 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(1) sin </a:t>
              </a:r>
              <a:r>
                <a:rPr lang="el-GR" altLang="zh-TW" sz="2800" i="1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cos </a:t>
              </a:r>
              <a:r>
                <a:rPr lang="el-GR" altLang="zh-TW" sz="2800" i="1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zh-TW" altLang="el-GR" sz="2800" dirty="0">
                  <a:latin typeface="Times New Roman" pitchFamily="18" charset="0"/>
                  <a:ea typeface="微軟正黑體" pitchFamily="34" charset="-120"/>
                </a:rPr>
                <a:t>　</a:t>
              </a:r>
              <a:r>
                <a:rPr lang="el-GR" altLang="zh-TW" sz="2800" dirty="0">
                  <a:latin typeface="Times New Roman" pitchFamily="18" charset="0"/>
                  <a:ea typeface="微軟正黑體" pitchFamily="34" charset="-120"/>
                </a:rPr>
                <a:t>(2) 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tan </a:t>
              </a:r>
              <a:r>
                <a:rPr lang="el-GR" altLang="zh-TW" sz="2800" i="1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dirty="0">
                  <a:latin typeface="Times New Roman" pitchFamily="18" charset="0"/>
                  <a:ea typeface="微軟正黑體" pitchFamily="34" charset="-120"/>
                </a:rPr>
                <a:t> + 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cot </a:t>
              </a:r>
              <a:r>
                <a:rPr lang="el-GR" altLang="zh-TW" sz="2800" i="1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dirty="0">
                  <a:latin typeface="Times New Roman" pitchFamily="18" charset="0"/>
                  <a:ea typeface="微軟正黑體" pitchFamily="34" charset="-120"/>
                </a:rPr>
                <a:t>之值。</a:t>
              </a:r>
            </a:p>
          </p:txBody>
        </p:sp>
        <p:graphicFrame>
          <p:nvGraphicFramePr>
            <p:cNvPr id="3" name="物件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13223125"/>
                </p:ext>
              </p:extLst>
            </p:nvPr>
          </p:nvGraphicFramePr>
          <p:xfrm>
            <a:off x="4746104" y="214536"/>
            <a:ext cx="2286000" cy="838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286000" imgH="838080" progId="Equation.DSMT4">
                    <p:embed/>
                  </p:oleObj>
                </mc:Choice>
                <mc:Fallback>
                  <p:oleObj name="Equation" r:id="rId2" imgW="2286000" imgH="838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4746104" y="214536"/>
                          <a:ext cx="2286000" cy="838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" name="Rounded Rectangle 19"/>
          <p:cNvSpPr/>
          <p:nvPr/>
        </p:nvSpPr>
        <p:spPr>
          <a:xfrm>
            <a:off x="6217920" y="3931920"/>
            <a:ext cx="5303520" cy="2468880"/>
          </a:xfrm>
          <a:prstGeom prst="roundRect">
            <a:avLst/>
          </a:prstGeom>
          <a:solidFill>
            <a:srgbClr val="FEFCE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4041648"/>
            <a:ext cx="4974336" cy="22494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B91C1C"/>
                </a:solidFill>
                <a:latin typeface="微軟正黑體"/>
              </a:rPr>
              <a:t>🎯 隨堂練習 9 課堂思考方向：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① 將已知條件兩邊平方求出 sin θ cos θ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② tan θ + cot θ ＝ (sin/cos) + (cos/sin) ＝ 1 / (sin θ cos θ)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③ 帶入乘積倒數求得答案</a:t>
            </a:r>
          </a:p>
        </p:txBody>
      </p:sp>
    </p:spTree>
    <p:extLst>
      <p:ext uri="{BB962C8B-B14F-4D97-AF65-F5344CB8AC3E}">
        <p14:creationId xmlns:p14="http://schemas.microsoft.com/office/powerpoint/2010/main" val="2380305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3"/>
          <p:cNvSpPr>
            <a:spLocks noGrp="1"/>
          </p:cNvSpPr>
          <p:nvPr>
            <p:ph type="body" sz="quarter" idx="11"/>
          </p:nvPr>
        </p:nvSpPr>
        <p:spPr>
          <a:xfrm>
            <a:off x="3647728" y="3813047"/>
            <a:ext cx="2510988" cy="697839"/>
          </a:xfrm>
        </p:spPr>
        <p:txBody>
          <a:bodyPr/>
          <a:lstStyle/>
          <a:p>
            <a:r>
              <a:rPr lang="en-US" altLang="zh-TW" dirty="0"/>
              <a:t>2</a:t>
            </a:r>
            <a:r>
              <a:rPr lang="en-US" altLang="zh-TW" spc="300" dirty="0"/>
              <a:t>-2 </a:t>
            </a:r>
            <a:r>
              <a:rPr lang="zh-TW" altLang="en-US" spc="300" dirty="0"/>
              <a:t>習 題</a:t>
            </a:r>
          </a:p>
        </p:txBody>
      </p:sp>
    </p:spTree>
    <p:extLst>
      <p:ext uri="{BB962C8B-B14F-4D97-AF65-F5344CB8AC3E}">
        <p14:creationId xmlns:p14="http://schemas.microsoft.com/office/powerpoint/2010/main" val="419287749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E9D8467F-FFE1-4B9C-B5DF-638D9AC81001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zh-TW" dirty="0"/>
              <a:t>123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D0AAB59-6B21-4B0B-9F1F-CDBB47B3E7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01</a:t>
            </a:r>
            <a:endParaRPr lang="zh-TW" altLang="en-US" dirty="0"/>
          </a:p>
        </p:txBody>
      </p:sp>
      <p:grpSp>
        <p:nvGrpSpPr>
          <p:cNvPr id="7" name="群組 6"/>
          <p:cNvGrpSpPr/>
          <p:nvPr/>
        </p:nvGrpSpPr>
        <p:grpSpPr>
          <a:xfrm>
            <a:off x="1271464" y="186308"/>
            <a:ext cx="10537171" cy="5909310"/>
            <a:chOff x="1271464" y="186308"/>
            <a:chExt cx="10537171" cy="5909310"/>
          </a:xfrm>
        </p:grpSpPr>
        <p:sp>
          <p:nvSpPr>
            <p:cNvPr id="4" name="文字方塊 3">
              <a:extLst>
                <a:ext uri="{FF2B5EF4-FFF2-40B4-BE49-F238E27FC236}">
                  <a16:creationId xmlns:a16="http://schemas.microsoft.com/office/drawing/2014/main" id="{1EBF755F-3AC1-450F-87EF-DB81351EDE66}"/>
                </a:ext>
              </a:extLst>
            </p:cNvPr>
            <p:cNvSpPr txBox="1"/>
            <p:nvPr/>
          </p:nvSpPr>
          <p:spPr>
            <a:xfrm>
              <a:off x="1271464" y="186308"/>
              <a:ext cx="10537171" cy="590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試判斷下列各題的對錯，正確的畫「○」，錯誤的畫「╳」：</a:t>
              </a:r>
            </a:p>
            <a:p>
              <a:pPr>
                <a:lnSpc>
                  <a:spcPct val="200000"/>
                </a:lnSpc>
              </a:pP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(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   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)(1)</a:t>
              </a:r>
              <a:r>
                <a:rPr lang="zh-TW" altLang="en-US" sz="2800" dirty="0"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已知 為銳角，若已知 ，則可求出剩餘的五個三角函數值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(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   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)(2)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直角三角形</a:t>
              </a:r>
              <a:r>
                <a:rPr lang="en-US" altLang="zh-TW" sz="2800" i="1" spc="300" dirty="0">
                  <a:latin typeface="Times New Roman" pitchFamily="18" charset="0"/>
                  <a:ea typeface="微軟正黑體" pitchFamily="34" charset="-120"/>
                </a:rPr>
                <a:t>ABC 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中， ∠ </a:t>
              </a:r>
              <a:r>
                <a:rPr lang="en-US" altLang="zh-TW" sz="2800" i="1" spc="300" dirty="0">
                  <a:latin typeface="Times New Roman" pitchFamily="18" charset="0"/>
                  <a:ea typeface="微軟正黑體" pitchFamily="34" charset="-120"/>
                </a:rPr>
                <a:t>C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 = 90°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，若</a:t>
              </a:r>
              <a:endParaRPr lang="en-US" altLang="zh-TW" sz="2800" spc="300" dirty="0">
                <a:latin typeface="Times New Roman" pitchFamily="18" charset="0"/>
                <a:ea typeface="微軟正黑體" pitchFamily="34" charset="-120"/>
              </a:endParaRPr>
            </a:p>
            <a:p>
              <a:pPr>
                <a:lnSpc>
                  <a:spcPct val="200000"/>
                </a:lnSpc>
              </a:pP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	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則可求出                         的長度</a:t>
              </a:r>
              <a:endParaRPr lang="en-US" altLang="zh-TW" sz="2800" spc="300" dirty="0">
                <a:latin typeface="Times New Roman" pitchFamily="18" charset="0"/>
                <a:ea typeface="微軟正黑體" pitchFamily="34" charset="-120"/>
              </a:endParaRPr>
            </a:p>
            <a:p>
              <a:pPr>
                <a:lnSpc>
                  <a:spcPct val="200000"/>
                </a:lnSpc>
              </a:pP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(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   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)(3)</a:t>
              </a:r>
              <a:r>
                <a:rPr lang="zh-TW" altLang="en-US" sz="2800" dirty="0"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若</a:t>
              </a:r>
              <a:r>
                <a:rPr lang="en-US" altLang="zh-TW" sz="2800" i="1" dirty="0"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α</a:t>
              </a:r>
              <a:r>
                <a:rPr lang="zh-TW" altLang="en-US" sz="2800" i="1" dirty="0"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、</a:t>
              </a:r>
              <a:r>
                <a:rPr lang="en-US" altLang="zh-TW" sz="2800" i="1" dirty="0"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β </a:t>
              </a:r>
              <a:r>
                <a:rPr lang="zh-TW" altLang="en-US" sz="2800" dirty="0"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為銳角，由平方關係可得</a:t>
              </a:r>
              <a:r>
                <a:rPr lang="en-US" altLang="zh-TW" sz="2800" dirty="0"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sin</a:t>
              </a:r>
              <a:r>
                <a:rPr lang="en-US" altLang="zh-TW" sz="2800" baseline="30000" dirty="0"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2</a:t>
              </a:r>
              <a:r>
                <a:rPr lang="en-US" altLang="zh-TW" sz="2800" dirty="0"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 </a:t>
              </a:r>
              <a:r>
                <a:rPr lang="en-US" altLang="zh-TW" sz="2800" i="1" dirty="0"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α</a:t>
              </a:r>
              <a:r>
                <a:rPr lang="en-US" altLang="zh-TW" sz="2800" dirty="0"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 + cos</a:t>
              </a:r>
              <a:r>
                <a:rPr lang="en-US" altLang="zh-TW" sz="2800" baseline="30000" dirty="0"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2</a:t>
              </a:r>
              <a:r>
                <a:rPr lang="en-US" altLang="zh-TW" sz="2800" dirty="0"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 </a:t>
              </a:r>
              <a:r>
                <a:rPr lang="en-US" altLang="zh-TW" sz="2800" i="1" dirty="0"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β</a:t>
              </a:r>
              <a:r>
                <a:rPr lang="en-US" altLang="zh-TW" sz="2800" dirty="0"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 = 1</a:t>
              </a:r>
            </a:p>
            <a:p>
              <a:pPr>
                <a:lnSpc>
                  <a:spcPct val="200000"/>
                </a:lnSpc>
              </a:pP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(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   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)(4)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若</a:t>
              </a:r>
              <a:r>
                <a:rPr lang="en-US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為銳角，則</a:t>
              </a:r>
              <a:r>
                <a:rPr lang="en-US" altLang="zh-TW" sz="2800" spc="300" dirty="0" err="1">
                  <a:latin typeface="Times New Roman" pitchFamily="18" charset="0"/>
                  <a:ea typeface="微軟正黑體" pitchFamily="34" charset="-120"/>
                </a:rPr>
                <a:t>sin</a:t>
              </a:r>
              <a:r>
                <a:rPr lang="en-US" altLang="zh-TW" sz="2800" i="1" spc="300" dirty="0" err="1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 × </a:t>
              </a:r>
              <a:r>
                <a:rPr lang="en-US" altLang="zh-TW" sz="2800" spc="300" dirty="0" err="1">
                  <a:latin typeface="Times New Roman" pitchFamily="18" charset="0"/>
                  <a:ea typeface="微軟正黑體" pitchFamily="34" charset="-120"/>
                </a:rPr>
                <a:t>cos</a:t>
              </a:r>
              <a:r>
                <a:rPr lang="en-US" altLang="zh-TW" sz="2800" i="1" spc="300" dirty="0" err="1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 = 1</a:t>
              </a:r>
            </a:p>
            <a:p>
              <a:pPr>
                <a:lnSpc>
                  <a:spcPct val="200000"/>
                </a:lnSpc>
              </a:pP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(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   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)(5)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若</a:t>
              </a:r>
              <a:r>
                <a:rPr lang="el-GR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spc="3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為銳角，則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(sin</a:t>
              </a:r>
              <a:r>
                <a:rPr lang="el-GR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spc="300" dirty="0">
                  <a:latin typeface="Times New Roman" pitchFamily="18" charset="0"/>
                  <a:ea typeface="微軟正黑體" pitchFamily="34" charset="-120"/>
                </a:rPr>
                <a:t> + 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cos</a:t>
              </a:r>
              <a:r>
                <a:rPr lang="el-GR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spc="300" dirty="0">
                  <a:latin typeface="Times New Roman" pitchFamily="18" charset="0"/>
                  <a:ea typeface="微軟正黑體" pitchFamily="34" charset="-120"/>
                </a:rPr>
                <a:t>)</a:t>
              </a:r>
              <a:r>
                <a:rPr lang="el-GR" altLang="zh-TW" sz="2800" spc="300" baseline="30000" dirty="0">
                  <a:latin typeface="Times New Roman" pitchFamily="18" charset="0"/>
                  <a:ea typeface="微軟正黑體" pitchFamily="34" charset="-120"/>
                </a:rPr>
                <a:t>2</a:t>
              </a:r>
              <a:r>
                <a:rPr lang="el-GR" altLang="zh-TW" sz="2800" spc="300" dirty="0">
                  <a:latin typeface="Times New Roman" pitchFamily="18" charset="0"/>
                  <a:ea typeface="微軟正黑體" pitchFamily="34" charset="-120"/>
                </a:rPr>
                <a:t> = 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sin</a:t>
              </a:r>
              <a:r>
                <a:rPr lang="en-US" altLang="zh-TW" sz="2800" spc="300" baseline="30000" dirty="0">
                  <a:latin typeface="Times New Roman" pitchFamily="18" charset="0"/>
                  <a:ea typeface="微軟正黑體" pitchFamily="34" charset="-120"/>
                </a:rPr>
                <a:t>2</a:t>
              </a:r>
              <a:r>
                <a:rPr lang="el-GR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spc="300" dirty="0">
                  <a:latin typeface="Times New Roman" pitchFamily="18" charset="0"/>
                  <a:ea typeface="微軟正黑體" pitchFamily="34" charset="-120"/>
                </a:rPr>
                <a:t> + 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cos</a:t>
              </a:r>
              <a:r>
                <a:rPr lang="en-US" altLang="zh-TW" sz="2800" spc="300" baseline="30000" dirty="0">
                  <a:latin typeface="Times New Roman" pitchFamily="18" charset="0"/>
                  <a:ea typeface="微軟正黑體" pitchFamily="34" charset="-120"/>
                </a:rPr>
                <a:t>2</a:t>
              </a:r>
              <a:r>
                <a:rPr lang="el-GR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spc="300" dirty="0">
                  <a:latin typeface="Times New Roman" pitchFamily="18" charset="0"/>
                  <a:ea typeface="微軟正黑體" pitchFamily="34" charset="-120"/>
                </a:rPr>
                <a:t> = 1</a:t>
              </a:r>
              <a:endParaRPr lang="zh-TW" altLang="en-US" sz="2800" spc="300" dirty="0">
                <a:latin typeface="Times New Roman" pitchFamily="18" charset="0"/>
                <a:ea typeface="微軟正黑體" pitchFamily="34" charset="-120"/>
              </a:endParaRPr>
            </a:p>
          </p:txBody>
        </p:sp>
        <p:graphicFrame>
          <p:nvGraphicFramePr>
            <p:cNvPr id="5" name="物件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6985141"/>
                </p:ext>
              </p:extLst>
            </p:nvPr>
          </p:nvGraphicFramePr>
          <p:xfrm>
            <a:off x="9192344" y="1722479"/>
            <a:ext cx="1419255" cy="9361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596880" imgH="393480" progId="Equation.DSMT4">
                    <p:embed/>
                  </p:oleObj>
                </mc:Choice>
                <mc:Fallback>
                  <p:oleObj name="Equation" r:id="rId3" imgW="596880" imgH="393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9192344" y="1722479"/>
                          <a:ext cx="1419255" cy="93610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物件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00273470"/>
                </p:ext>
              </p:extLst>
            </p:nvPr>
          </p:nvGraphicFramePr>
          <p:xfrm>
            <a:off x="4151784" y="2780928"/>
            <a:ext cx="3528392" cy="5355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422360" imgH="215640" progId="Equation.DSMT4">
                    <p:embed/>
                  </p:oleObj>
                </mc:Choice>
                <mc:Fallback>
                  <p:oleObj name="Equation" r:id="rId5" imgW="1422360" imgH="2156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151784" y="2780928"/>
                          <a:ext cx="3528392" cy="53555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Rounded Rectangle 7"/>
          <p:cNvSpPr/>
          <p:nvPr/>
        </p:nvSpPr>
        <p:spPr>
          <a:xfrm>
            <a:off x="6583680" y="4114800"/>
            <a:ext cx="5029200" cy="2286000"/>
          </a:xfrm>
          <a:prstGeom prst="roundRect">
            <a:avLst/>
          </a:prstGeom>
          <a:solidFill>
            <a:srgbClr val="FEFCE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48272" y="4224528"/>
            <a:ext cx="4700016" cy="20665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B91C1C"/>
                </a:solidFill>
                <a:latin typeface="微軟正黑體"/>
              </a:rPr>
              <a:t>💡 習題 1 觀念是非題核心點評：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• (1) ○：一角知六角，畫直角三角形依畢氏定理可定其餘五者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• (2) ○：直角三角形給定兩邊長，銳角三角比完全唯一確定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• (3) ╳：特別角 30° 邊長比 1:√3:2，sin 30° ＝ 1/2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• (4) ○：平方關係 sin²θ + cos²θ ＝ 1 對所有銳角恆成立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• (5) ○：商數關係 tan θ ＝ sin θ / cos θ 為恆等式</a:t>
            </a:r>
          </a:p>
        </p:txBody>
      </p:sp>
    </p:spTree>
    <p:extLst>
      <p:ext uri="{BB962C8B-B14F-4D97-AF65-F5344CB8AC3E}">
        <p14:creationId xmlns:p14="http://schemas.microsoft.com/office/powerpoint/2010/main" val="4182004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11"/>
          <p:cNvSpPr>
            <a:spLocks noGrp="1"/>
          </p:cNvSpPr>
          <p:nvPr>
            <p:ph sz="quarter" idx="11"/>
          </p:nvPr>
        </p:nvSpPr>
        <p:spPr>
          <a:xfrm>
            <a:off x="1127448" y="6455660"/>
            <a:ext cx="781049" cy="357716"/>
          </a:xfrm>
        </p:spPr>
        <p:txBody>
          <a:bodyPr/>
          <a:lstStyle/>
          <a:p>
            <a:r>
              <a:rPr lang="en-US" altLang="zh-TW" dirty="0"/>
              <a:t>123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02</a:t>
            </a:r>
            <a:endParaRPr lang="zh-TW" altLang="en-US" dirty="0"/>
          </a:p>
        </p:txBody>
      </p:sp>
      <p:grpSp>
        <p:nvGrpSpPr>
          <p:cNvPr id="4" name="群組 3"/>
          <p:cNvGrpSpPr/>
          <p:nvPr/>
        </p:nvGrpSpPr>
        <p:grpSpPr>
          <a:xfrm>
            <a:off x="1703512" y="242960"/>
            <a:ext cx="9433048" cy="1379523"/>
            <a:chOff x="1415481" y="260350"/>
            <a:chExt cx="9433048" cy="1379523"/>
          </a:xfrm>
        </p:grpSpPr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1EBF755F-3AC1-450F-87EF-DB81351EDE66}"/>
                </a:ext>
              </a:extLst>
            </p:cNvPr>
            <p:cNvSpPr txBox="1"/>
            <p:nvPr/>
          </p:nvSpPr>
          <p:spPr>
            <a:xfrm>
              <a:off x="1415481" y="332656"/>
              <a:ext cx="9433048" cy="1307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已知直角三角形</a:t>
              </a:r>
              <a:r>
                <a:rPr lang="en-US" altLang="zh-TW" sz="2800" i="1" spc="300" dirty="0">
                  <a:latin typeface="Times New Roman" pitchFamily="18" charset="0"/>
                  <a:ea typeface="微軟正黑體" pitchFamily="34" charset="-120"/>
                </a:rPr>
                <a:t>ABC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中，∠</a:t>
              </a:r>
              <a:r>
                <a:rPr lang="en-US" altLang="zh-TW" sz="2800" i="1" spc="300" dirty="0">
                  <a:latin typeface="Times New Roman" pitchFamily="18" charset="0"/>
                  <a:ea typeface="微軟正黑體" pitchFamily="34" charset="-120"/>
                </a:rPr>
                <a:t>C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為直角，</a:t>
              </a:r>
              <a:endParaRPr lang="en-US" altLang="zh-TW" sz="2800" spc="300" dirty="0">
                <a:latin typeface="Times New Roman" pitchFamily="18" charset="0"/>
                <a:ea typeface="微軟正黑體" pitchFamily="34" charset="-120"/>
              </a:endParaRPr>
            </a:p>
            <a:p>
              <a:pPr>
                <a:lnSpc>
                  <a:spcPct val="150000"/>
                </a:lnSpc>
              </a:pP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試求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tan </a:t>
              </a:r>
              <a:r>
                <a:rPr lang="en-US" altLang="zh-TW" sz="2800" i="1" spc="300" dirty="0">
                  <a:latin typeface="Times New Roman" pitchFamily="18" charset="0"/>
                  <a:ea typeface="微軟正黑體" pitchFamily="34" charset="-120"/>
                </a:rPr>
                <a:t>A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 + sec </a:t>
              </a:r>
              <a:r>
                <a:rPr lang="en-US" altLang="zh-TW" sz="2800" i="1" spc="300" dirty="0">
                  <a:latin typeface="Times New Roman" pitchFamily="18" charset="0"/>
                  <a:ea typeface="微軟正黑體" pitchFamily="34" charset="-120"/>
                </a:rPr>
                <a:t>A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之值。</a:t>
              </a:r>
            </a:p>
          </p:txBody>
        </p:sp>
        <p:graphicFrame>
          <p:nvGraphicFramePr>
            <p:cNvPr id="2" name="物件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36423171"/>
                </p:ext>
              </p:extLst>
            </p:nvPr>
          </p:nvGraphicFramePr>
          <p:xfrm>
            <a:off x="8328248" y="260350"/>
            <a:ext cx="1420813" cy="933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420491" imgH="932769" progId="Equation.DSMT4">
                    <p:embed/>
                  </p:oleObj>
                </mc:Choice>
                <mc:Fallback>
                  <p:oleObj name="Equation" r:id="rId2" imgW="1420491" imgH="932769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8328248" y="260350"/>
                          <a:ext cx="1420813" cy="9334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6" name="Picture 356">
            <a:extLst>
              <a:ext uri="{FF2B5EF4-FFF2-40B4-BE49-F238E27FC236}">
                <a16:creationId xmlns:a16="http://schemas.microsoft.com/office/drawing/2014/main" id="{92B1F2B3-B080-3FAD-AE10-8462C9B822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9298" y="2200752"/>
            <a:ext cx="2987570" cy="25313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Rounded Rectangle 12"/>
          <p:cNvSpPr/>
          <p:nvPr/>
        </p:nvSpPr>
        <p:spPr>
          <a:xfrm>
            <a:off x="6583680" y="4114800"/>
            <a:ext cx="5029200" cy="2286000"/>
          </a:xfrm>
          <a:prstGeom prst="roundRect">
            <a:avLst/>
          </a:prstGeom>
          <a:solidFill>
            <a:srgbClr val="FEFCE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48272" y="4224528"/>
            <a:ext cx="4700016" cy="20665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B91C1C"/>
                </a:solidFill>
                <a:latin typeface="微軟正黑體"/>
              </a:rPr>
              <a:t>💡 習題 2 破題關鍵提示：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• 利用畢氏定理求出第三邊長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• 依定義寫出 tan A ＝ 對邊/鄰邊，sec A ＝ 斜邊/鄰邊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• 兩者分母皆為鄰邊，直接分子相加約分求解</a:t>
            </a:r>
          </a:p>
        </p:txBody>
      </p:sp>
    </p:spTree>
    <p:extLst>
      <p:ext uri="{BB962C8B-B14F-4D97-AF65-F5344CB8AC3E}">
        <p14:creationId xmlns:p14="http://schemas.microsoft.com/office/powerpoint/2010/main" val="4169723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B77826DC-5E4C-419D-A24C-FA1114F9007D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zh-TW" dirty="0"/>
              <a:t>123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AE114D6-48B8-464F-B3C1-0A71E38B22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03</a:t>
            </a:r>
            <a:endParaRPr lang="zh-TW" altLang="en-US" dirty="0"/>
          </a:p>
        </p:txBody>
      </p:sp>
      <p:grpSp>
        <p:nvGrpSpPr>
          <p:cNvPr id="9" name="群組 8"/>
          <p:cNvGrpSpPr/>
          <p:nvPr/>
        </p:nvGrpSpPr>
        <p:grpSpPr>
          <a:xfrm>
            <a:off x="1415480" y="260648"/>
            <a:ext cx="10537171" cy="1379225"/>
            <a:chOff x="1415480" y="260648"/>
            <a:chExt cx="10537171" cy="1379225"/>
          </a:xfrm>
        </p:grpSpPr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1EBF755F-3AC1-450F-87EF-DB81351EDE66}"/>
                </a:ext>
              </a:extLst>
            </p:cNvPr>
            <p:cNvSpPr txBox="1"/>
            <p:nvPr/>
          </p:nvSpPr>
          <p:spPr>
            <a:xfrm>
              <a:off x="1415480" y="332656"/>
              <a:ext cx="10537171" cy="1307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直角三角形</a:t>
              </a:r>
              <a:r>
                <a:rPr lang="en-US" altLang="zh-TW" sz="2800" i="1" spc="300" dirty="0">
                  <a:latin typeface="Times New Roman" pitchFamily="18" charset="0"/>
                  <a:ea typeface="微軟正黑體" pitchFamily="34" charset="-120"/>
                </a:rPr>
                <a:t>ABC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中，∠</a:t>
              </a:r>
              <a:r>
                <a:rPr lang="en-US" altLang="zh-TW" sz="2800" i="1" spc="300" dirty="0">
                  <a:latin typeface="Times New Roman" pitchFamily="18" charset="0"/>
                  <a:ea typeface="微軟正黑體" pitchFamily="34" charset="-120"/>
                </a:rPr>
                <a:t>C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為直角，且            ，若</a:t>
              </a:r>
              <a:endParaRPr lang="en-US" altLang="zh-TW" sz="2800" spc="300" dirty="0">
                <a:latin typeface="Times New Roman" pitchFamily="18" charset="0"/>
                <a:ea typeface="微軟正黑體" pitchFamily="34" charset="-120"/>
              </a:endParaRPr>
            </a:p>
            <a:p>
              <a:pPr>
                <a:lnSpc>
                  <a:spcPct val="150000"/>
                </a:lnSpc>
              </a:pP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求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(1) sin </a:t>
              </a:r>
              <a:r>
                <a:rPr lang="en-US" altLang="zh-TW" sz="2800" i="1" spc="300" dirty="0">
                  <a:latin typeface="Times New Roman" pitchFamily="18" charset="0"/>
                  <a:ea typeface="微軟正黑體" pitchFamily="34" charset="-120"/>
                </a:rPr>
                <a:t>A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　　 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(2)</a:t>
              </a:r>
              <a:endParaRPr lang="zh-TW" altLang="en-US" sz="2800" spc="300" dirty="0">
                <a:latin typeface="Times New Roman" pitchFamily="18" charset="0"/>
                <a:ea typeface="微軟正黑體" pitchFamily="34" charset="-120"/>
              </a:endParaRPr>
            </a:p>
          </p:txBody>
        </p:sp>
        <p:graphicFrame>
          <p:nvGraphicFramePr>
            <p:cNvPr id="6" name="物件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81460045"/>
                </p:ext>
              </p:extLst>
            </p:nvPr>
          </p:nvGraphicFramePr>
          <p:xfrm>
            <a:off x="7752184" y="260648"/>
            <a:ext cx="1584176" cy="9265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672840" imgH="393480" progId="Equation.DSMT4">
                    <p:embed/>
                  </p:oleObj>
                </mc:Choice>
                <mc:Fallback>
                  <p:oleObj name="Equation" r:id="rId2" imgW="672840" imgH="393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7752184" y="260648"/>
                          <a:ext cx="1584176" cy="92659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物件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73739610"/>
                </p:ext>
              </p:extLst>
            </p:nvPr>
          </p:nvGraphicFramePr>
          <p:xfrm>
            <a:off x="10128448" y="424722"/>
            <a:ext cx="1314450" cy="508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558720" imgH="215640" progId="Equation.DSMT4">
                    <p:embed/>
                  </p:oleObj>
                </mc:Choice>
                <mc:Fallback>
                  <p:oleObj name="Equation" r:id="rId4" imgW="558720" imgH="2156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0128448" y="424722"/>
                          <a:ext cx="1314450" cy="508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物件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97775666"/>
                </p:ext>
              </p:extLst>
            </p:nvPr>
          </p:nvGraphicFramePr>
          <p:xfrm>
            <a:off x="4943872" y="1124744"/>
            <a:ext cx="628650" cy="508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66400" imgH="215640" progId="Equation.DSMT4">
                    <p:embed/>
                  </p:oleObj>
                </mc:Choice>
                <mc:Fallback>
                  <p:oleObj name="Equation" r:id="rId6" imgW="266400" imgH="2156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4943872" y="1124744"/>
                          <a:ext cx="628650" cy="508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4" name="Picture 1191">
            <a:extLst>
              <a:ext uri="{FF2B5EF4-FFF2-40B4-BE49-F238E27FC236}">
                <a16:creationId xmlns:a16="http://schemas.microsoft.com/office/drawing/2014/main" id="{9EF8DC72-8F34-973D-1DCA-66B59B756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1524" y="1674290"/>
            <a:ext cx="2970965" cy="4024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Rounded Rectangle 12"/>
          <p:cNvSpPr/>
          <p:nvPr/>
        </p:nvSpPr>
        <p:spPr>
          <a:xfrm>
            <a:off x="6583680" y="4114800"/>
            <a:ext cx="5029200" cy="2286000"/>
          </a:xfrm>
          <a:prstGeom prst="roundRect">
            <a:avLst/>
          </a:prstGeom>
          <a:solidFill>
            <a:srgbClr val="FEFCE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48272" y="4224528"/>
            <a:ext cx="4700016" cy="20665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B91C1C"/>
                </a:solidFill>
                <a:latin typeface="微軟正黑體"/>
              </a:rPr>
              <a:t>💡 習題 3 破題關鍵提示：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• 設邊長比例參數 k，利用畢氏定理求斜邊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• 依定義寫出 sin A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• 利用餘角關係或互餘三角比求其餘數值</a:t>
            </a:r>
          </a:p>
        </p:txBody>
      </p:sp>
    </p:spTree>
    <p:extLst>
      <p:ext uri="{BB962C8B-B14F-4D97-AF65-F5344CB8AC3E}">
        <p14:creationId xmlns:p14="http://schemas.microsoft.com/office/powerpoint/2010/main" val="181624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71CEBD01-632E-4DB7-914B-0D0CDC7EC62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zh-TW" dirty="0"/>
              <a:t>123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508C30F-A753-46DF-95B8-9284201348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04</a:t>
            </a:r>
            <a:endParaRPr lang="zh-TW" altLang="en-US" dirty="0"/>
          </a:p>
        </p:txBody>
      </p:sp>
      <p:grpSp>
        <p:nvGrpSpPr>
          <p:cNvPr id="7" name="群組 6"/>
          <p:cNvGrpSpPr/>
          <p:nvPr/>
        </p:nvGrpSpPr>
        <p:grpSpPr>
          <a:xfrm>
            <a:off x="1415480" y="332656"/>
            <a:ext cx="10537171" cy="2124614"/>
            <a:chOff x="1415480" y="332656"/>
            <a:chExt cx="10537171" cy="2124614"/>
          </a:xfrm>
        </p:grpSpPr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1EBF755F-3AC1-450F-87EF-DB81351EDE66}"/>
                </a:ext>
              </a:extLst>
            </p:cNvPr>
            <p:cNvSpPr txBox="1"/>
            <p:nvPr/>
          </p:nvSpPr>
          <p:spPr>
            <a:xfrm>
              <a:off x="1415480" y="332656"/>
              <a:ext cx="10537171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試求</a:t>
              </a:r>
              <a:b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</a:b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(1) 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4 sin</a:t>
              </a:r>
              <a:r>
                <a:rPr lang="en-US" altLang="zh-TW" sz="2800" baseline="30000" dirty="0">
                  <a:latin typeface="Times New Roman" pitchFamily="18" charset="0"/>
                  <a:ea typeface="微軟正黑體" pitchFamily="34" charset="-120"/>
                </a:rPr>
                <a:t>2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 30° + 2 tan 45° + 1/</a:t>
              </a:r>
              <a:r>
                <a:rPr lang="en-US" altLang="zh-TW" sz="2800" dirty="0" err="1">
                  <a:latin typeface="Times New Roman" pitchFamily="18" charset="0"/>
                  <a:ea typeface="微軟正黑體" pitchFamily="34" charset="-120"/>
                </a:rPr>
                <a:t>3cot</a:t>
              </a:r>
              <a:r>
                <a:rPr lang="en-US" altLang="zh-TW" sz="2800" baseline="30000" dirty="0" err="1">
                  <a:latin typeface="Times New Roman" pitchFamily="18" charset="0"/>
                  <a:ea typeface="微軟正黑體" pitchFamily="34" charset="-120"/>
                </a:rPr>
                <a:t>2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 30° × sec</a:t>
              </a:r>
              <a:r>
                <a:rPr lang="en-US" altLang="zh-TW" sz="2800" baseline="30000" dirty="0">
                  <a:latin typeface="Times New Roman" pitchFamily="18" charset="0"/>
                  <a:ea typeface="微軟正黑體" pitchFamily="34" charset="-120"/>
                </a:rPr>
                <a:t>2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 60°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之值</a:t>
              </a:r>
            </a:p>
            <a:p>
              <a:pPr>
                <a:lnSpc>
                  <a:spcPct val="150000"/>
                </a:lnSpc>
              </a:pP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(2)                                          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之值</a:t>
              </a:r>
            </a:p>
          </p:txBody>
        </p:sp>
        <p:graphicFrame>
          <p:nvGraphicFramePr>
            <p:cNvPr id="6" name="物件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20569348"/>
                </p:ext>
              </p:extLst>
            </p:nvPr>
          </p:nvGraphicFramePr>
          <p:xfrm>
            <a:off x="2080890" y="1602446"/>
            <a:ext cx="5239246" cy="8548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412720" imgH="393480" progId="Equation.DSMT4">
                    <p:embed/>
                  </p:oleObj>
                </mc:Choice>
                <mc:Fallback>
                  <p:oleObj name="Equation" r:id="rId2" imgW="2412720" imgH="393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2080890" y="1602446"/>
                          <a:ext cx="5239246" cy="85482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Rounded Rectangle 7"/>
          <p:cNvSpPr/>
          <p:nvPr/>
        </p:nvSpPr>
        <p:spPr>
          <a:xfrm>
            <a:off x="6583680" y="4114800"/>
            <a:ext cx="5029200" cy="2286000"/>
          </a:xfrm>
          <a:prstGeom prst="roundRect">
            <a:avLst/>
          </a:prstGeom>
          <a:solidFill>
            <a:srgbClr val="FEFCE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48272" y="4224528"/>
            <a:ext cx="4700016" cy="20665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B91C1C"/>
                </a:solidFill>
                <a:latin typeface="微軟正黑體"/>
              </a:rPr>
              <a:t>💡 習題 4 破題關鍵提示：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• 精確帶入 30°、45°、60° 特別角函數值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• 優先計算平方：sin² 30° ＝ 1/4、cot² 30° ＝ 3、sec² 60° ＝ 4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• 依序通分與乘除化簡</a:t>
            </a:r>
          </a:p>
        </p:txBody>
      </p:sp>
    </p:spTree>
    <p:extLst>
      <p:ext uri="{BB962C8B-B14F-4D97-AF65-F5344CB8AC3E}">
        <p14:creationId xmlns:p14="http://schemas.microsoft.com/office/powerpoint/2010/main" val="2882397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11"/>
          <p:cNvSpPr>
            <a:spLocks noGrp="1"/>
          </p:cNvSpPr>
          <p:nvPr>
            <p:ph sz="quarter" idx="11"/>
          </p:nvPr>
        </p:nvSpPr>
        <p:spPr>
          <a:xfrm>
            <a:off x="1127448" y="6455660"/>
            <a:ext cx="781049" cy="357716"/>
          </a:xfrm>
        </p:spPr>
        <p:txBody>
          <a:bodyPr/>
          <a:lstStyle/>
          <a:p>
            <a:r>
              <a:rPr lang="en-US" altLang="zh-TW" dirty="0"/>
              <a:t>124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05</a:t>
            </a:r>
            <a:endParaRPr lang="zh-TW" altLang="en-US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1739167" y="452669"/>
            <a:ext cx="7741209" cy="66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試求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cos</a:t>
            </a:r>
            <a:r>
              <a:rPr lang="en-US" altLang="zh-TW" sz="2800" baseline="30000" dirty="0">
                <a:latin typeface="Times New Roman" pitchFamily="18" charset="0"/>
                <a:ea typeface="微軟正黑體" pitchFamily="34" charset="-120"/>
              </a:rPr>
              <a:t>2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 20° + cos</a:t>
            </a:r>
            <a:r>
              <a:rPr lang="en-US" altLang="zh-TW" sz="2800" baseline="30000" dirty="0">
                <a:latin typeface="Times New Roman" pitchFamily="18" charset="0"/>
                <a:ea typeface="微軟正黑體" pitchFamily="34" charset="-120"/>
              </a:rPr>
              <a:t>2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 70° + tan</a:t>
            </a:r>
            <a:r>
              <a:rPr lang="en-US" altLang="zh-TW" sz="2800" baseline="30000" dirty="0">
                <a:latin typeface="Times New Roman" pitchFamily="18" charset="0"/>
                <a:ea typeface="微軟正黑體" pitchFamily="34" charset="-120"/>
              </a:rPr>
              <a:t>2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 20° - csc</a:t>
            </a:r>
            <a:r>
              <a:rPr lang="en-US" altLang="zh-TW" sz="2800" baseline="30000" dirty="0">
                <a:latin typeface="Times New Roman" pitchFamily="18" charset="0"/>
                <a:ea typeface="微軟正黑體" pitchFamily="34" charset="-120"/>
              </a:rPr>
              <a:t>2</a:t>
            </a:r>
            <a:r>
              <a:rPr lang="en-US" altLang="zh-TW" sz="2800" dirty="0">
                <a:latin typeface="Times New Roman" pitchFamily="18" charset="0"/>
                <a:ea typeface="微軟正黑體" pitchFamily="34" charset="-120"/>
              </a:rPr>
              <a:t> 70° </a:t>
            </a:r>
            <a:r>
              <a:rPr lang="zh-TW" altLang="en-US" sz="2800" dirty="0">
                <a:latin typeface="Times New Roman" pitchFamily="18" charset="0"/>
                <a:ea typeface="微軟正黑體" pitchFamily="34" charset="-120"/>
              </a:rPr>
              <a:t>之值。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4114800"/>
            <a:ext cx="5029200" cy="2286000"/>
          </a:xfrm>
          <a:prstGeom prst="roundRect">
            <a:avLst/>
          </a:prstGeom>
          <a:solidFill>
            <a:srgbClr val="FEFCE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48272" y="4224528"/>
            <a:ext cx="4700016" cy="20665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B91C1C"/>
                </a:solidFill>
                <a:latin typeface="微軟正黑體"/>
              </a:rPr>
              <a:t>💡 習題 5 破題關鍵提示：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• 互餘角轉換：20°+70°＝90°，cos 70° ＝ sin 20°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• 平方合一：cos² 20° + sin² 20° ＝ 1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• 互餘轉換：csc 70° ＝ sec 20°，再套平方關係 tan² 20° - sec² 20° ＝ -1</a:t>
            </a:r>
          </a:p>
        </p:txBody>
      </p:sp>
    </p:spTree>
    <p:extLst>
      <p:ext uri="{BB962C8B-B14F-4D97-AF65-F5344CB8AC3E}">
        <p14:creationId xmlns:p14="http://schemas.microsoft.com/office/powerpoint/2010/main" val="2348588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11"/>
          <p:cNvSpPr>
            <a:spLocks noGrp="1"/>
          </p:cNvSpPr>
          <p:nvPr>
            <p:ph sz="quarter" idx="11"/>
          </p:nvPr>
        </p:nvSpPr>
        <p:spPr>
          <a:xfrm>
            <a:off x="1127448" y="6455660"/>
            <a:ext cx="781049" cy="357716"/>
          </a:xfrm>
        </p:spPr>
        <p:txBody>
          <a:bodyPr/>
          <a:lstStyle/>
          <a:p>
            <a:r>
              <a:rPr lang="en-US" altLang="zh-TW" dirty="0"/>
              <a:t>124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06</a:t>
            </a:r>
            <a:endParaRPr lang="zh-TW" altLang="en-US" dirty="0"/>
          </a:p>
        </p:txBody>
      </p:sp>
      <p:grpSp>
        <p:nvGrpSpPr>
          <p:cNvPr id="5" name="群組 4"/>
          <p:cNvGrpSpPr/>
          <p:nvPr/>
        </p:nvGrpSpPr>
        <p:grpSpPr>
          <a:xfrm>
            <a:off x="1739167" y="332656"/>
            <a:ext cx="10045465" cy="838200"/>
            <a:chOff x="1739167" y="332656"/>
            <a:chExt cx="10045465" cy="838200"/>
          </a:xfrm>
        </p:grpSpPr>
        <p:sp>
          <p:nvSpPr>
            <p:cNvPr id="11" name="文字方塊 10"/>
            <p:cNvSpPr txBox="1"/>
            <p:nvPr/>
          </p:nvSpPr>
          <p:spPr>
            <a:xfrm>
              <a:off x="1739167" y="332656"/>
              <a:ext cx="10045465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試求                                         之值。</a:t>
              </a:r>
            </a:p>
          </p:txBody>
        </p:sp>
        <p:graphicFrame>
          <p:nvGraphicFramePr>
            <p:cNvPr id="4" name="物件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55162902"/>
                </p:ext>
              </p:extLst>
            </p:nvPr>
          </p:nvGraphicFramePr>
          <p:xfrm>
            <a:off x="2783632" y="332656"/>
            <a:ext cx="4813300" cy="838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4813200" imgH="838080" progId="Equation.DSMT4">
                    <p:embed/>
                  </p:oleObj>
                </mc:Choice>
                <mc:Fallback>
                  <p:oleObj name="Equation" r:id="rId2" imgW="4813200" imgH="838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2783632" y="332656"/>
                          <a:ext cx="4813300" cy="838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" name="Rounded Rectangle 12"/>
          <p:cNvSpPr/>
          <p:nvPr/>
        </p:nvSpPr>
        <p:spPr>
          <a:xfrm>
            <a:off x="6583680" y="4114800"/>
            <a:ext cx="5029200" cy="2286000"/>
          </a:xfrm>
          <a:prstGeom prst="roundRect">
            <a:avLst/>
          </a:prstGeom>
          <a:solidFill>
            <a:srgbClr val="FEFCE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48272" y="4224528"/>
            <a:ext cx="4700016" cy="20665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B91C1C"/>
                </a:solidFill>
                <a:latin typeface="微軟正黑體"/>
              </a:rPr>
              <a:t>💡 習題 6 破題關鍵提示：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• 分式通分合一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• 展開分子利用平方關係 sin²θ + cos²θ ＝ 1 化簡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• 約去公因式得出極簡數值</a:t>
            </a:r>
          </a:p>
        </p:txBody>
      </p:sp>
    </p:spTree>
    <p:extLst>
      <p:ext uri="{BB962C8B-B14F-4D97-AF65-F5344CB8AC3E}">
        <p14:creationId xmlns:p14="http://schemas.microsoft.com/office/powerpoint/2010/main" val="2348588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11"/>
          <p:cNvSpPr>
            <a:spLocks noGrp="1"/>
          </p:cNvSpPr>
          <p:nvPr>
            <p:ph sz="quarter" idx="11"/>
          </p:nvPr>
        </p:nvSpPr>
        <p:spPr>
          <a:xfrm>
            <a:off x="1127448" y="6455660"/>
            <a:ext cx="781049" cy="357716"/>
          </a:xfrm>
        </p:spPr>
        <p:txBody>
          <a:bodyPr/>
          <a:lstStyle/>
          <a:p>
            <a:r>
              <a:rPr lang="en-US" altLang="zh-TW" dirty="0"/>
              <a:t>124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07</a:t>
            </a:r>
            <a:endParaRPr lang="zh-TW" altLang="en-US" dirty="0"/>
          </a:p>
        </p:txBody>
      </p:sp>
      <p:grpSp>
        <p:nvGrpSpPr>
          <p:cNvPr id="2" name="群組 1"/>
          <p:cNvGrpSpPr/>
          <p:nvPr/>
        </p:nvGrpSpPr>
        <p:grpSpPr>
          <a:xfrm>
            <a:off x="1669892" y="404664"/>
            <a:ext cx="9682692" cy="838200"/>
            <a:chOff x="1164506" y="340742"/>
            <a:chExt cx="9682691" cy="838199"/>
          </a:xfrm>
        </p:grpSpPr>
        <p:sp>
          <p:nvSpPr>
            <p:cNvPr id="13" name="文字方塊 12"/>
            <p:cNvSpPr txBox="1"/>
            <p:nvPr/>
          </p:nvSpPr>
          <p:spPr>
            <a:xfrm>
              <a:off x="1164506" y="340742"/>
              <a:ext cx="9682691" cy="660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若</a:t>
              </a:r>
              <a:r>
                <a:rPr lang="el-GR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 為銳角，且              ，則                     之值。</a:t>
              </a:r>
            </a:p>
          </p:txBody>
        </p:sp>
        <p:graphicFrame>
          <p:nvGraphicFramePr>
            <p:cNvPr id="9" name="物件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77589312"/>
                </p:ext>
              </p:extLst>
            </p:nvPr>
          </p:nvGraphicFramePr>
          <p:xfrm>
            <a:off x="4150454" y="340742"/>
            <a:ext cx="1493837" cy="8254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447560" imgH="825480" progId="Equation.DSMT4">
                    <p:embed/>
                  </p:oleObj>
                </mc:Choice>
                <mc:Fallback>
                  <p:oleObj name="Equation" r:id="rId2" imgW="1447560" imgH="825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50454" y="340742"/>
                          <a:ext cx="1493837" cy="8254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物件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45470799"/>
                </p:ext>
              </p:extLst>
            </p:nvPr>
          </p:nvGraphicFramePr>
          <p:xfrm>
            <a:off x="6742741" y="340742"/>
            <a:ext cx="2254250" cy="838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184120" imgH="838080" progId="Equation.DSMT4">
                    <p:embed/>
                  </p:oleObj>
                </mc:Choice>
                <mc:Fallback>
                  <p:oleObj name="Equation" r:id="rId4" imgW="2184120" imgH="8380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42741" y="340742"/>
                          <a:ext cx="2254250" cy="838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" name="Rounded Rectangle 13"/>
          <p:cNvSpPr/>
          <p:nvPr/>
        </p:nvSpPr>
        <p:spPr>
          <a:xfrm>
            <a:off x="6583680" y="4114800"/>
            <a:ext cx="5029200" cy="2286000"/>
          </a:xfrm>
          <a:prstGeom prst="roundRect">
            <a:avLst/>
          </a:prstGeom>
          <a:solidFill>
            <a:srgbClr val="FEFCE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48272" y="4224528"/>
            <a:ext cx="4700016" cy="20665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B91C1C"/>
                </a:solidFill>
                <a:latin typeface="微軟正黑體"/>
              </a:rPr>
              <a:t>💡 習題 7 破題關鍵提示：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• 觀察式子為齊次式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• 分子分母同除以 cos θ 轉化為 tan θ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• 代入已知條件秒出答案</a:t>
            </a:r>
          </a:p>
        </p:txBody>
      </p:sp>
    </p:spTree>
    <p:extLst>
      <p:ext uri="{BB962C8B-B14F-4D97-AF65-F5344CB8AC3E}">
        <p14:creationId xmlns:p14="http://schemas.microsoft.com/office/powerpoint/2010/main" val="3819871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11"/>
          <p:cNvSpPr>
            <a:spLocks noGrp="1"/>
          </p:cNvSpPr>
          <p:nvPr>
            <p:ph sz="quarter" idx="11"/>
          </p:nvPr>
        </p:nvSpPr>
        <p:spPr>
          <a:xfrm>
            <a:off x="1127448" y="6455660"/>
            <a:ext cx="781049" cy="357716"/>
          </a:xfrm>
        </p:spPr>
        <p:txBody>
          <a:bodyPr/>
          <a:lstStyle/>
          <a:p>
            <a:r>
              <a:rPr lang="en-US" altLang="zh-TW" dirty="0"/>
              <a:t>124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08</a:t>
            </a:r>
            <a:endParaRPr lang="zh-TW" altLang="en-US" dirty="0"/>
          </a:p>
        </p:txBody>
      </p:sp>
      <p:grpSp>
        <p:nvGrpSpPr>
          <p:cNvPr id="2" name="群組 1"/>
          <p:cNvGrpSpPr/>
          <p:nvPr/>
        </p:nvGrpSpPr>
        <p:grpSpPr>
          <a:xfrm>
            <a:off x="1766443" y="465792"/>
            <a:ext cx="9874173" cy="1379032"/>
            <a:chOff x="1164506" y="268734"/>
            <a:chExt cx="9874172" cy="1379032"/>
          </a:xfrm>
        </p:grpSpPr>
        <p:sp>
          <p:nvSpPr>
            <p:cNvPr id="13" name="文字方塊 12"/>
            <p:cNvSpPr txBox="1"/>
            <p:nvPr/>
          </p:nvSpPr>
          <p:spPr>
            <a:xfrm>
              <a:off x="1164506" y="340742"/>
              <a:ext cx="9874172" cy="13070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已知</a:t>
              </a:r>
              <a:endParaRPr lang="en-US" altLang="zh-TW" sz="2800" spc="300" dirty="0">
                <a:latin typeface="Times New Roman" pitchFamily="18" charset="0"/>
                <a:ea typeface="微軟正黑體" pitchFamily="34" charset="-120"/>
              </a:endParaRPr>
            </a:p>
            <a:p>
              <a:pPr>
                <a:lnSpc>
                  <a:spcPct val="150000"/>
                </a:lnSpc>
              </a:pP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試求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(1) sin </a:t>
              </a:r>
              <a:r>
                <a:rPr lang="el-GR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spc="300" dirty="0">
                  <a:latin typeface="Times New Roman" pitchFamily="18" charset="0"/>
                  <a:ea typeface="微軟正黑體" pitchFamily="34" charset="-120"/>
                </a:rPr>
                <a:t> ⋅ 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cos </a:t>
              </a:r>
              <a:r>
                <a:rPr lang="el-GR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zh-TW" altLang="el-GR" sz="2800" spc="300" dirty="0">
                  <a:latin typeface="Times New Roman" pitchFamily="18" charset="0"/>
                  <a:ea typeface="微軟正黑體" pitchFamily="34" charset="-120"/>
                </a:rPr>
                <a:t>　　 </a:t>
              </a:r>
              <a:r>
                <a:rPr lang="el-GR" altLang="zh-TW" sz="2800" spc="300" dirty="0">
                  <a:latin typeface="Times New Roman" pitchFamily="18" charset="0"/>
                  <a:ea typeface="微軟正黑體" pitchFamily="34" charset="-120"/>
                </a:rPr>
                <a:t>(2) 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tan </a:t>
              </a:r>
              <a:r>
                <a:rPr lang="el-GR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spc="300" dirty="0">
                  <a:latin typeface="Times New Roman" pitchFamily="18" charset="0"/>
                  <a:ea typeface="微軟正黑體" pitchFamily="34" charset="-120"/>
                </a:rPr>
                <a:t> + </a:t>
              </a:r>
              <a:r>
                <a:rPr lang="en-US" altLang="zh-TW" sz="2800" spc="300" dirty="0">
                  <a:latin typeface="Times New Roman" pitchFamily="18" charset="0"/>
                  <a:ea typeface="微軟正黑體" pitchFamily="34" charset="-120"/>
                </a:rPr>
                <a:t>cot </a:t>
              </a:r>
              <a:r>
                <a:rPr lang="el-GR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el-GR" altLang="zh-TW" sz="2800" spc="3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之值。</a:t>
              </a:r>
            </a:p>
          </p:txBody>
        </p:sp>
        <p:graphicFrame>
          <p:nvGraphicFramePr>
            <p:cNvPr id="9" name="物件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31843011"/>
                </p:ext>
              </p:extLst>
            </p:nvPr>
          </p:nvGraphicFramePr>
          <p:xfrm>
            <a:off x="2253703" y="268734"/>
            <a:ext cx="2392363" cy="825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311200" imgH="825480" progId="Equation.DSMT4">
                    <p:embed/>
                  </p:oleObj>
                </mc:Choice>
                <mc:Fallback>
                  <p:oleObj name="Equation" r:id="rId2" imgW="2311200" imgH="825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53703" y="268734"/>
                          <a:ext cx="2392363" cy="825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" name="Rounded Rectangle 13"/>
          <p:cNvSpPr/>
          <p:nvPr/>
        </p:nvSpPr>
        <p:spPr>
          <a:xfrm>
            <a:off x="6583680" y="4114800"/>
            <a:ext cx="5029200" cy="2286000"/>
          </a:xfrm>
          <a:prstGeom prst="roundRect">
            <a:avLst/>
          </a:prstGeom>
          <a:solidFill>
            <a:srgbClr val="FEFCE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48272" y="4224528"/>
            <a:ext cx="4700016" cy="20665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B91C1C"/>
                </a:solidFill>
                <a:latin typeface="微軟正黑體"/>
              </a:rPr>
              <a:t>💡 習題 8 破題關鍵提示：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• 兩邊平方求出 sin θ cos θ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• tan θ + cot θ 轉化為 1 / (sin θ cos θ)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• 取乘積倒數求得結果</a:t>
            </a:r>
          </a:p>
        </p:txBody>
      </p:sp>
    </p:spTree>
    <p:extLst>
      <p:ext uri="{BB962C8B-B14F-4D97-AF65-F5344CB8AC3E}">
        <p14:creationId xmlns:p14="http://schemas.microsoft.com/office/powerpoint/2010/main" val="2348588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11"/>
          <p:cNvSpPr>
            <a:spLocks noGrp="1"/>
          </p:cNvSpPr>
          <p:nvPr>
            <p:ph sz="quarter" idx="11"/>
          </p:nvPr>
        </p:nvSpPr>
        <p:spPr>
          <a:xfrm>
            <a:off x="1127448" y="6455660"/>
            <a:ext cx="781049" cy="357716"/>
          </a:xfrm>
        </p:spPr>
        <p:txBody>
          <a:bodyPr/>
          <a:lstStyle/>
          <a:p>
            <a:r>
              <a:rPr lang="en-US" altLang="zh-TW" dirty="0"/>
              <a:t>124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09</a:t>
            </a:r>
            <a:endParaRPr lang="zh-TW" altLang="en-US" dirty="0"/>
          </a:p>
        </p:txBody>
      </p:sp>
      <p:grpSp>
        <p:nvGrpSpPr>
          <p:cNvPr id="4" name="群組 3"/>
          <p:cNvGrpSpPr/>
          <p:nvPr/>
        </p:nvGrpSpPr>
        <p:grpSpPr>
          <a:xfrm>
            <a:off x="1766443" y="438264"/>
            <a:ext cx="9874173" cy="887968"/>
            <a:chOff x="1766443" y="438264"/>
            <a:chExt cx="9874173" cy="887968"/>
          </a:xfrm>
        </p:grpSpPr>
        <p:sp>
          <p:nvSpPr>
            <p:cNvPr id="5" name="文字方塊 4"/>
            <p:cNvSpPr txBox="1"/>
            <p:nvPr/>
          </p:nvSpPr>
          <p:spPr>
            <a:xfrm>
              <a:off x="1766443" y="537800"/>
              <a:ext cx="987417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已知</a:t>
              </a:r>
              <a:r>
                <a:rPr lang="el-GR" altLang="zh-TW" sz="2800" i="1" spc="300" dirty="0">
                  <a:latin typeface="Times New Roman" pitchFamily="18" charset="0"/>
                  <a:ea typeface="微軟正黑體" pitchFamily="34" charset="-120"/>
                </a:rPr>
                <a:t>θ</a:t>
              </a:r>
              <a:r>
                <a:rPr lang="zh-TW" altLang="en-US" sz="2800" spc="300" dirty="0">
                  <a:latin typeface="Times New Roman" pitchFamily="18" charset="0"/>
                  <a:ea typeface="微軟正黑體" pitchFamily="34" charset="-120"/>
                </a:rPr>
                <a:t>為銳角，且            ，試求                        之值。</a:t>
              </a:r>
            </a:p>
          </p:txBody>
        </p:sp>
        <p:graphicFrame>
          <p:nvGraphicFramePr>
            <p:cNvPr id="2" name="物件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8011666"/>
                </p:ext>
              </p:extLst>
            </p:nvPr>
          </p:nvGraphicFramePr>
          <p:xfrm>
            <a:off x="4871864" y="488032"/>
            <a:ext cx="1320800" cy="838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320480" imgH="838080" progId="Equation.DSMT4">
                    <p:embed/>
                  </p:oleObj>
                </mc:Choice>
                <mc:Fallback>
                  <p:oleObj name="Equation" r:id="rId2" imgW="1320480" imgH="838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4871864" y="488032"/>
                          <a:ext cx="1320800" cy="838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物件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96157357"/>
                </p:ext>
              </p:extLst>
            </p:nvPr>
          </p:nvGraphicFramePr>
          <p:xfrm>
            <a:off x="7680176" y="438264"/>
            <a:ext cx="2641600" cy="838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641320" imgH="838080" progId="Equation.DSMT4">
                    <p:embed/>
                  </p:oleObj>
                </mc:Choice>
                <mc:Fallback>
                  <p:oleObj name="Equation" r:id="rId4" imgW="2641320" imgH="838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7680176" y="438264"/>
                          <a:ext cx="2641600" cy="838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" name="Rounded Rectangle 12"/>
          <p:cNvSpPr/>
          <p:nvPr/>
        </p:nvSpPr>
        <p:spPr>
          <a:xfrm>
            <a:off x="6583680" y="4114800"/>
            <a:ext cx="5029200" cy="2286000"/>
          </a:xfrm>
          <a:prstGeom prst="roundRect">
            <a:avLst/>
          </a:prstGeom>
          <a:solidFill>
            <a:srgbClr val="FEFCE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48272" y="4224528"/>
            <a:ext cx="4700016" cy="20665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B91C1C"/>
                </a:solidFill>
                <a:latin typeface="微軟正黑體"/>
              </a:rPr>
              <a:t>💡 習題 9 破題關鍵提示：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• 進階齊次式化簡技巧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• 分子分母同除以 cos² θ 或因式分解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• 轉化為 tan θ 之二次代數式求值</a:t>
            </a:r>
          </a:p>
        </p:txBody>
      </p:sp>
    </p:spTree>
    <p:extLst>
      <p:ext uri="{BB962C8B-B14F-4D97-AF65-F5344CB8AC3E}">
        <p14:creationId xmlns:p14="http://schemas.microsoft.com/office/powerpoint/2010/main" val="3502796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11"/>
          <p:cNvSpPr>
            <a:spLocks noGrp="1"/>
          </p:cNvSpPr>
          <p:nvPr>
            <p:ph sz="quarter" idx="11"/>
          </p:nvPr>
        </p:nvSpPr>
        <p:spPr>
          <a:xfrm>
            <a:off x="1127448" y="6455660"/>
            <a:ext cx="781049" cy="357716"/>
          </a:xfrm>
        </p:spPr>
        <p:txBody>
          <a:bodyPr/>
          <a:lstStyle/>
          <a:p>
            <a:r>
              <a:rPr lang="en-US" altLang="zh-TW" dirty="0"/>
              <a:t>124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10</a:t>
            </a:r>
            <a:endParaRPr lang="zh-TW" altLang="en-US" dirty="0"/>
          </a:p>
        </p:txBody>
      </p:sp>
      <p:grpSp>
        <p:nvGrpSpPr>
          <p:cNvPr id="7" name="群組 6"/>
          <p:cNvGrpSpPr/>
          <p:nvPr/>
        </p:nvGrpSpPr>
        <p:grpSpPr>
          <a:xfrm>
            <a:off x="1487488" y="260648"/>
            <a:ext cx="10153128" cy="2031325"/>
            <a:chOff x="1487488" y="260648"/>
            <a:chExt cx="10153128" cy="2031325"/>
          </a:xfrm>
        </p:grpSpPr>
        <p:sp>
          <p:nvSpPr>
            <p:cNvPr id="5" name="文字方塊 4"/>
            <p:cNvSpPr txBox="1"/>
            <p:nvPr/>
          </p:nvSpPr>
          <p:spPr>
            <a:xfrm>
              <a:off x="1487488" y="260648"/>
              <a:ext cx="10153128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TW" altLang="en-US" sz="2800" dirty="0">
                  <a:latin typeface="Times New Roman" pitchFamily="18" charset="0"/>
                  <a:ea typeface="微軟正黑體" pitchFamily="34" charset="-120"/>
                </a:rPr>
                <a:t>已知 </a:t>
              </a:r>
              <a:r>
                <a:rPr lang="en-US" altLang="zh-TW" sz="2800" i="1" dirty="0">
                  <a:latin typeface="Times New Roman" pitchFamily="18" charset="0"/>
                  <a:ea typeface="微軟正黑體" pitchFamily="34" charset="-120"/>
                </a:rPr>
                <a:t>x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dirty="0">
                  <a:latin typeface="Times New Roman" pitchFamily="18" charset="0"/>
                  <a:ea typeface="微軟正黑體" pitchFamily="34" charset="-120"/>
                </a:rPr>
                <a:t>為銳角，                            ，試求</a:t>
              </a:r>
            </a:p>
            <a:p>
              <a:pPr>
                <a:lnSpc>
                  <a:spcPct val="150000"/>
                </a:lnSpc>
              </a:pP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(1) sin </a:t>
              </a:r>
              <a:r>
                <a:rPr lang="en-US" altLang="zh-TW" sz="2800" i="1" dirty="0">
                  <a:latin typeface="Times New Roman" pitchFamily="18" charset="0"/>
                  <a:ea typeface="微軟正黑體" pitchFamily="34" charset="-120"/>
                </a:rPr>
                <a:t>x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 ⋅ cos </a:t>
              </a:r>
              <a:r>
                <a:rPr lang="en-US" altLang="zh-TW" sz="2800" i="1" dirty="0">
                  <a:latin typeface="Times New Roman" pitchFamily="18" charset="0"/>
                  <a:ea typeface="微軟正黑體" pitchFamily="34" charset="-120"/>
                </a:rPr>
                <a:t>x</a:t>
              </a:r>
              <a:r>
                <a:rPr lang="zh-TW" altLang="en-US" sz="2800" i="1" dirty="0">
                  <a:latin typeface="Times New Roman" pitchFamily="18" charset="0"/>
                  <a:ea typeface="微軟正黑體" pitchFamily="34" charset="-120"/>
                </a:rPr>
                <a:t>    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(2) sin </a:t>
              </a:r>
              <a:r>
                <a:rPr lang="en-US" altLang="zh-TW" sz="2800" i="1" dirty="0">
                  <a:latin typeface="Times New Roman" pitchFamily="18" charset="0"/>
                  <a:ea typeface="微軟正黑體" pitchFamily="34" charset="-120"/>
                </a:rPr>
                <a:t>x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 + cos </a:t>
              </a:r>
              <a:r>
                <a:rPr lang="en-US" altLang="zh-TW" sz="2800" i="1" dirty="0">
                  <a:latin typeface="Times New Roman" pitchFamily="18" charset="0"/>
                  <a:ea typeface="微軟正黑體" pitchFamily="34" charset="-120"/>
                </a:rPr>
                <a:t>x</a:t>
              </a:r>
              <a:r>
                <a:rPr lang="zh-TW" altLang="en-US" sz="2800" dirty="0">
                  <a:latin typeface="Times New Roman" pitchFamily="18" charset="0"/>
                  <a:ea typeface="微軟正黑體" pitchFamily="34" charset="-120"/>
                </a:rPr>
                <a:t>     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(3) sin</a:t>
              </a:r>
              <a:r>
                <a:rPr lang="en-US" altLang="zh-TW" sz="2800" baseline="30000" dirty="0">
                  <a:latin typeface="Times New Roman" pitchFamily="18" charset="0"/>
                  <a:ea typeface="微軟正黑體" pitchFamily="34" charset="-120"/>
                </a:rPr>
                <a:t>3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en-US" altLang="zh-TW" sz="2800" i="1" dirty="0">
                  <a:latin typeface="Times New Roman" pitchFamily="18" charset="0"/>
                  <a:ea typeface="微軟正黑體" pitchFamily="34" charset="-120"/>
                </a:rPr>
                <a:t>x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 + cos</a:t>
              </a:r>
              <a:r>
                <a:rPr lang="en-US" altLang="zh-TW" sz="2800" baseline="30000" dirty="0">
                  <a:latin typeface="Times New Roman" pitchFamily="18" charset="0"/>
                  <a:ea typeface="微軟正黑體" pitchFamily="34" charset="-120"/>
                </a:rPr>
                <a:t>3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en-US" altLang="zh-TW" sz="2800" i="1" dirty="0">
                  <a:latin typeface="Times New Roman" pitchFamily="18" charset="0"/>
                  <a:ea typeface="微軟正黑體" pitchFamily="34" charset="-120"/>
                </a:rPr>
                <a:t>x</a:t>
              </a:r>
              <a:r>
                <a:rPr lang="en-US" altLang="zh-TW" sz="2800" dirty="0">
                  <a:latin typeface="Times New Roman" pitchFamily="18" charset="0"/>
                  <a:ea typeface="微軟正黑體" pitchFamily="34" charset="-120"/>
                </a:rPr>
                <a:t> </a:t>
              </a:r>
              <a:r>
                <a:rPr lang="zh-TW" altLang="en-US" sz="2800" dirty="0">
                  <a:latin typeface="Times New Roman" pitchFamily="18" charset="0"/>
                  <a:ea typeface="微軟正黑體" pitchFamily="34" charset="-120"/>
                </a:rPr>
                <a:t>之值。</a:t>
              </a:r>
              <a:endParaRPr lang="en-US" altLang="zh-TW" sz="2800" dirty="0">
                <a:latin typeface="Times New Roman" pitchFamily="18" charset="0"/>
                <a:ea typeface="微軟正黑體" pitchFamily="34" charset="-120"/>
              </a:endParaRPr>
            </a:p>
            <a:p>
              <a:pPr>
                <a:lnSpc>
                  <a:spcPct val="150000"/>
                </a:lnSpc>
              </a:pPr>
              <a:r>
                <a:rPr lang="zh-TW" altLang="en-US" sz="2800" dirty="0">
                  <a:latin typeface="Times New Roman" pitchFamily="18" charset="0"/>
                  <a:ea typeface="微軟正黑體" pitchFamily="34" charset="-120"/>
                </a:rPr>
                <a:t>提示：</a:t>
              </a:r>
            </a:p>
          </p:txBody>
        </p:sp>
        <p:graphicFrame>
          <p:nvGraphicFramePr>
            <p:cNvPr id="4" name="物件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77946658"/>
                </p:ext>
              </p:extLst>
            </p:nvPr>
          </p:nvGraphicFramePr>
          <p:xfrm>
            <a:off x="4007768" y="260648"/>
            <a:ext cx="2451100" cy="825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450880" imgH="825480" progId="Equation.DSMT4">
                    <p:embed/>
                  </p:oleObj>
                </mc:Choice>
                <mc:Fallback>
                  <p:oleObj name="Equation" r:id="rId2" imgW="2450880" imgH="825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4007768" y="260648"/>
                          <a:ext cx="2451100" cy="825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物件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24145423"/>
                </p:ext>
              </p:extLst>
            </p:nvPr>
          </p:nvGraphicFramePr>
          <p:xfrm>
            <a:off x="2783632" y="1700808"/>
            <a:ext cx="4178300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4178160" imgH="457200" progId="Equation.DSMT4">
                    <p:embed/>
                  </p:oleObj>
                </mc:Choice>
                <mc:Fallback>
                  <p:oleObj name="Equation" r:id="rId4" imgW="4178160" imgH="457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2783632" y="1700808"/>
                          <a:ext cx="4178300" cy="457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" name="Rounded Rectangle 12"/>
          <p:cNvSpPr/>
          <p:nvPr/>
        </p:nvSpPr>
        <p:spPr>
          <a:xfrm>
            <a:off x="6583680" y="4114800"/>
            <a:ext cx="5029200" cy="2286000"/>
          </a:xfrm>
          <a:prstGeom prst="roundRect">
            <a:avLst/>
          </a:prstGeom>
          <a:solidFill>
            <a:srgbClr val="FEFCE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48272" y="4224528"/>
            <a:ext cx="4700016" cy="20665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B91C1C"/>
                </a:solidFill>
                <a:latin typeface="微軟正黑體"/>
              </a:rPr>
              <a:t>💡 習題 10 破題關鍵提示：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• 兩邊平方解乘積項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• 乘法公式展開：sin³ x + cos³ x ＝ (sin x + cos x)(1 - sin x cos x)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• 逐步代入求值</a:t>
            </a:r>
          </a:p>
        </p:txBody>
      </p:sp>
    </p:spTree>
    <p:extLst>
      <p:ext uri="{BB962C8B-B14F-4D97-AF65-F5344CB8AC3E}">
        <p14:creationId xmlns:p14="http://schemas.microsoft.com/office/powerpoint/2010/main" val="2295067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0F2240"/>
                </a:solidFill>
                <a:latin typeface="微軟正黑體"/>
              </a:rPr>
              <a:t>【先備知識 ①】直角三角形與畢氏定理（奠定邊長計算基石）</a:t>
            </a:r>
          </a:p>
          <a:p>
            <a:pPr algn="l"/>
            <a:r>
              <a:rPr sz="1400" b="0">
                <a:solidFill>
                  <a:srgbClr val="0E7490"/>
                </a:solidFill>
                <a:latin typeface="微軟正黑體"/>
              </a:rPr>
              <a:t>溫故知新 ‧ 回顧國中幾何基礎，無縫接軌高職三角函數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F2240"/>
                </a:solidFill>
                <a:latin typeface="微軟正黑體"/>
              </a:rPr>
              <a:t>📐 畢氏定理（Pythagorean Theorem）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E293B"/>
                </a:solidFill>
                <a:latin typeface="微軟正黑體"/>
              </a:rPr>
              <a:t>在直角三角形 ABC 中，若 ∠C = 90°，則：</a:t>
            </a:r>
          </a:p>
          <a:p>
            <a:pPr>
              <a:spcBef>
                <a:spcPts val="800"/>
              </a:spcBef>
            </a:pPr>
            <a:r>
              <a:rPr sz="1800" b="1">
                <a:solidFill>
                  <a:srgbClr val="B91C1C"/>
                </a:solidFill>
                <a:latin typeface="微軟正黑體"/>
              </a:rPr>
              <a:t>   a² + b² = c²  (兩股平方和 ＝ 斜邊平方)</a:t>
            </a:r>
          </a:p>
          <a:p>
            <a:pPr>
              <a:spcBef>
                <a:spcPts val="1200"/>
              </a:spcBef>
            </a:pPr>
            <a:r>
              <a:rPr sz="1600" b="1">
                <a:solidFill>
                  <a:srgbClr val="B45309"/>
                </a:solidFill>
                <a:latin typeface="微軟正黑體"/>
              </a:rPr>
              <a:t>💡 快速運算心法：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1E293B"/>
                </a:solidFill>
                <a:latin typeface="微軟正黑體"/>
              </a:rPr>
              <a:t>• 求斜邊 c ＝ √(a² + b²) （兩股平方相加開根號）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1E293B"/>
                </a:solidFill>
                <a:latin typeface="微軟正黑體"/>
              </a:rPr>
              <a:t>• 求對邊或鄰邊 ＝ √(斜邊² - 另邊²) （斜邊平方減另邊平方）</a:t>
            </a:r>
          </a:p>
          <a:p>
            <a:pPr>
              <a:spcBef>
                <a:spcPts val="1200"/>
              </a:spcBef>
            </a:pPr>
            <a:r>
              <a:rPr sz="1500" b="1">
                <a:solidFill>
                  <a:srgbClr val="0E7490"/>
                </a:solidFill>
                <a:latin typeface="微軟正黑體"/>
              </a:rPr>
              <a:t>⚡ 課堂暖身提問：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1E293B"/>
                </a:solidFill>
                <a:latin typeface="微軟正黑體"/>
              </a:rPr>
              <a:t>「直角三角形斜邊長為 13，其中一股長為 5，另一股長秒答是多少？」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297680"/>
          </a:xfrm>
          <a:prstGeom prst="roundRect">
            <a:avLst/>
          </a:prstGeom>
          <a:solidFill>
            <a:srgbClr val="FEFCE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F2240"/>
                </a:solidFill>
                <a:latin typeface="微軟正黑體"/>
              </a:rPr>
              <a:t>⭐ 技高統測必背：常用整數邊長比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1E293B"/>
                </a:solidFill>
                <a:latin typeface="微軟正黑體"/>
              </a:rPr>
              <a:t>1. ( 3 ,  4 ,  5 )  及其倍數 ( 6, 8, 10 )、( 9, 12, 15 )</a:t>
            </a:r>
            <a:br/>
            <a:r>
              <a:t>2. ( 5 , 12 , 13 )  ★ 統測最愛考！</a:t>
            </a:r>
            <a:br/>
            <a:r>
              <a:t>3. ( 7 , 24 , 25 )</a:t>
            </a:r>
            <a:br/>
            <a:r>
              <a:t>4. ( 8 , 15 , 17 )</a:t>
            </a:r>
          </a:p>
          <a:p>
            <a:pPr>
              <a:spcBef>
                <a:spcPts val="1400"/>
              </a:spcBef>
            </a:pPr>
            <a:r>
              <a:rPr sz="1700" b="1">
                <a:solidFill>
                  <a:srgbClr val="B91C1C"/>
                </a:solidFill>
                <a:latin typeface="微軟正黑體"/>
              </a:rPr>
              <a:t>🎯 兩大黃金特殊角邊長比例：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E293B"/>
                </a:solidFill>
                <a:latin typeface="微軟正黑體"/>
              </a:rPr>
              <a:t>• 45° - 45° - 90° 直角三角形：</a:t>
            </a:r>
            <a:br/>
            <a:r>
              <a:t>   邊長比 ＝ 1 : 1 : √2 （等腰直角三角形）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E293B"/>
                </a:solidFill>
                <a:latin typeface="微軟正黑體"/>
              </a:rPr>
              <a:t>• 30° - 60° - 90° 直角三角形：</a:t>
            </a:r>
            <a:br/>
            <a:r>
              <a:t>   邊長比 ＝ 1 : √3 : 2 （30°對邊最短短股為1，斜邊為2）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0F2240"/>
                </a:solidFill>
                <a:latin typeface="微軟正黑體"/>
              </a:rPr>
              <a:t>【先備知識 ②】相似形與三角比不變性（三角函數的起源）</a:t>
            </a:r>
          </a:p>
          <a:p>
            <a:pPr algn="l"/>
            <a:r>
              <a:rPr sz="1400" b="0">
                <a:solidFill>
                  <a:srgbClr val="0E7490"/>
                </a:solidFill>
                <a:latin typeface="微軟正黑體"/>
              </a:rPr>
              <a:t>核心探究 ‧ 為什麼直角三角形放大縮小，邊長比卻完全不變？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F2240"/>
                </a:solidFill>
                <a:latin typeface="微軟正黑體"/>
              </a:rPr>
              <a:t>🔍 AA 相似定理：幾何圖形縮放不影響邊長比值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E293B"/>
                </a:solidFill>
                <a:latin typeface="微軟正黑體"/>
              </a:rPr>
              <a:t>在任意兩個直角三角形中，只要它們具有相同的銳角 θ（例如 ∠A = θ，∠C = 90°），</a:t>
            </a:r>
            <a:br/>
            <a:r>
              <a:t>由國中 AA 相似定理可知，這兩個直角三角形「形狀完全相同（相似）」，僅大小不同。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B91C1C"/>
                </a:solidFill>
                <a:latin typeface="微軟正黑體"/>
              </a:rPr>
              <a:t>👉 結論：無論三角形被放大 2 倍、10 倍或縮小，其「對應邊長的比值」永遠是固定定值！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10698480" cy="20116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79476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E7490"/>
                </a:solidFill>
                <a:latin typeface="微軟正黑體"/>
              </a:rPr>
              <a:t>✨ 角度決定比例 ‧ 三角函數的誕生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E293B"/>
                </a:solidFill>
                <a:latin typeface="微軟正黑體"/>
              </a:rPr>
              <a:t>既然比值不受三角形大小影響，只由「銳角 θ 的大小」唯一決定，數學家就為這些比值取了名字：</a:t>
            </a:r>
            <a:br/>
            <a:r>
              <a:t>• (對邊 / 斜邊) ＝ 正弦 (sine, sin θ)</a:t>
            </a:r>
            <a:br/>
            <a:r>
              <a:t>• (鄰邊 / 斜邊) ＝ 餘弦 (cosine, cos θ)</a:t>
            </a:r>
            <a:br/>
            <a:r>
              <a:t>• (對邊 / 鄰邊) ＝ 正切 (tangent, tan θ)</a:t>
            </a:r>
          </a:p>
          <a:p>
            <a:pPr>
              <a:spcBef>
                <a:spcPts val="600"/>
              </a:spcBef>
            </a:pPr>
            <a:r>
              <a:rPr sz="1500" b="1">
                <a:solidFill>
                  <a:srgbClr val="B45309"/>
                </a:solidFill>
                <a:latin typeface="微軟正黑體"/>
              </a:rPr>
              <a:t>💡 「三角函數」是連接【角度】與【邊長長度】的數學橋樑，廣泛應用於建築測量、航海與工程學！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0F2240"/>
                </a:solidFill>
                <a:latin typeface="微軟正黑體"/>
              </a:rPr>
              <a:t>【單元核心學習地圖】2-2 四大核心模組全景導覽</a:t>
            </a:r>
          </a:p>
          <a:p>
            <a:pPr algn="l"/>
            <a:r>
              <a:rPr sz="1400" b="0">
                <a:solidFill>
                  <a:srgbClr val="0E7490"/>
                </a:solidFill>
                <a:latin typeface="微軟正黑體"/>
              </a:rPr>
              <a:t>掌握全章學習脈絡 ‧ 清楚知道每一堂課要學什麼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481328"/>
            <a:ext cx="4791456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F2240"/>
                </a:solidFill>
                <a:latin typeface="微軟正黑體"/>
              </a:rPr>
              <a:t>模組 1：銳角的三角函數 (2-2.1)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• 直角三角形中 6 個邊長比定義 (sin, cos, tan, cot, sec, csc)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• 英文草寫筆順記憶法與正餘對應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• 「一角求六角」：已知一角三角比，求其餘五者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82512" y="1481328"/>
            <a:ext cx="4882896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F2240"/>
                </a:solidFill>
                <a:latin typeface="微軟正黑體"/>
              </a:rPr>
              <a:t>模組 2：特別角三角函數值 (2-2.2)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• 30°、45°、60° 特別角精確函數值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• 特殊角度邊長比幾何速推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• 特別角三角函數值的代數四則混和運算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3675888"/>
            <a:ext cx="4791456" cy="1883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F2240"/>
                </a:solidFill>
                <a:latin typeface="微軟正黑體"/>
              </a:rPr>
              <a:t>模組 3：三角函數恆等關係 (2-2.3)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• 倒數關係：sin·csc=1, cos·sec=1, tan·cot=1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• 商數關係：tan=sin/cos, cot=cos/sin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• 平方關係：sin²+cos²=1, 1+tan²=sec², 1+cot²=csc²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566160"/>
            <a:ext cx="52120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3675888"/>
            <a:ext cx="4882896" cy="1883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F2240"/>
                </a:solidFill>
                <a:latin typeface="微軟正黑體"/>
              </a:rPr>
              <a:t>模組 4：三角恆等式化簡與證明 (2-2.4)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• 齊次式同除以 cosθ 技巧（秒殺統測題）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• 「化為正餘弦」統一變數法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• 乘法公式展開：(sinθ ± cosθ)² ＝ 1 ± 2sinθcosθ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0F2240"/>
                </a:solidFill>
                <a:latin typeface="微軟正黑體"/>
              </a:rPr>
              <a:t>【核心記憶法】六大三角函數英文字母筆順記憶圖鑑</a:t>
            </a:r>
          </a:p>
          <a:p>
            <a:pPr algn="l"/>
            <a:r>
              <a:rPr sz="1400" b="0">
                <a:solidFill>
                  <a:srgbClr val="0E7490"/>
                </a:solidFill>
                <a:latin typeface="微軟正黑體"/>
              </a:rPr>
              <a:t>看圖秒記 ‧ 告別死記硬背，英文字母筆順帶你直達邊長比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F2240"/>
                </a:solidFill>
                <a:latin typeface="微軟正黑體"/>
              </a:rPr>
              <a:t>✍️ 三大基礎函數（筆順記憶法）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B91C1C"/>
                </a:solidFill>
                <a:latin typeface="微軟正黑體"/>
              </a:rPr>
              <a:t>• sin θ ＝ 對邊 / 斜邊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草寫『s』筆順：從斜邊出發，劃向對邊。</a:t>
            </a:r>
            <a:br/>
            <a:r>
              <a:t>（口訣：正弦對斜邊，s 劃對邊）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B91C1C"/>
                </a:solidFill>
                <a:latin typeface="微軟正黑體"/>
              </a:rPr>
              <a:t>• cos θ ＝ 鄰邊 / 斜邊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草寫『c』筆順：從斜邊出發，包夾角 θ 到鄰邊。</a:t>
            </a:r>
            <a:br/>
            <a:r>
              <a:t>（口訣：餘弦包夾角，c 夾斜鄰邊）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B91C1C"/>
                </a:solidFill>
                <a:latin typeface="微軟正黑體"/>
              </a:rPr>
              <a:t>• tan θ ＝ 對邊 / 鄰邊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草寫『t』筆順：先走鄰邊橫線，再直劃對邊。</a:t>
            </a:r>
            <a:br/>
            <a:r>
              <a:t>（口訣：正切直直立，t 由鄰到對）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297680"/>
          </a:xfrm>
          <a:prstGeom prst="roundRect">
            <a:avLst/>
          </a:prstGeom>
          <a:solidFill>
            <a:srgbClr val="FEFCE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F2240"/>
                </a:solidFill>
                <a:latin typeface="微軟正黑體"/>
              </a:rPr>
              <a:t>🔄 三大倒數函數（對稱記憶法）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0E7490"/>
                </a:solidFill>
                <a:latin typeface="微軟正黑體"/>
              </a:rPr>
              <a:t>• csc θ ＝ 斜邊 / 對邊 ＝ 1 / sin θ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餘割 (cosecant)：正弦 sin 的倒數。</a:t>
            </a:r>
            <a:br/>
            <a:r>
              <a:t>（注意：有 co 的 csc 是無 co 的 sin 倒數）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0E7490"/>
                </a:solidFill>
                <a:latin typeface="微軟正黑體"/>
              </a:rPr>
              <a:t>• sec θ ＝ 斜邊 / 鄰邊 ＝ 1 / cos θ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正割 (secant)：餘弦 cos 的倒數。</a:t>
            </a:r>
            <a:br/>
            <a:r>
              <a:t>（注意：無 co 的 sec 是有 co 的 cos 倒數）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0E7490"/>
                </a:solidFill>
                <a:latin typeface="微軟正黑體"/>
              </a:rPr>
              <a:t>• cot θ ＝ 鄰邊 / 對邊 ＝ 1 / tan θ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餘切 (cotangent)：正切 tan 的倒數。</a:t>
            </a:r>
            <a:br/>
            <a:r>
              <a:t>（正切餘切名字對應，互為倒數最直觀）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B45309"/>
                </a:solidFill>
                <a:latin typeface="微軟正黑體"/>
              </a:rPr>
              <a:t>📢 口訣：『正餘互配無 co 對帶 co，正切餘切本一家！』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0F2240"/>
                </a:solidFill>
                <a:latin typeface="微軟正黑體"/>
              </a:rPr>
              <a:t>【恆等關係核心神器】三角函數超級六邊形（Super Hexagon）</a:t>
            </a:r>
          </a:p>
          <a:p>
            <a:pPr algn="l"/>
            <a:r>
              <a:rPr sz="1400" b="0">
                <a:solidFill>
                  <a:srgbClr val="0E7490"/>
                </a:solidFill>
                <a:latin typeface="微軟正黑體"/>
              </a:rPr>
              <a:t>一圖破全章 ‧ 倒數、商數、平方三大恆等關係視覺化速記神圖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F2240"/>
                </a:solidFill>
                <a:latin typeface="微軟正黑體"/>
              </a:rPr>
              <a:t>⚡ 超級六邊形三大神奇法則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B91C1C"/>
                </a:solidFill>
                <a:latin typeface="微軟正黑體"/>
              </a:rPr>
              <a:t>① 倒數關係（穿心對角線）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穿過中心點 1 的對角線兩端頂點相乘等於 1：</a:t>
            </a:r>
            <a:br/>
            <a:r>
              <a:t>• sin θ · csc θ ＝ 1</a:t>
            </a:r>
            <a:br/>
            <a:r>
              <a:t>• cos θ · sec θ ＝ 1</a:t>
            </a:r>
            <a:br/>
            <a:r>
              <a:t>• tan θ · cot θ ＝ 1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B91C1C"/>
                </a:solidFill>
                <a:latin typeface="微軟正黑體"/>
              </a:rPr>
              <a:t>② 商數關係（相鄰頂點比）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任一頂點等於順時針或逆時針相鄰兩頂點之商：</a:t>
            </a:r>
            <a:br/>
            <a:r>
              <a:t>• tan θ ＝ sin θ / cos θ</a:t>
            </a:r>
            <a:br/>
            <a:r>
              <a:t>• cot θ ＝ cos θ / sin θ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B91C1C"/>
                </a:solidFill>
                <a:latin typeface="微軟正黑體"/>
              </a:rPr>
              <a:t>③ 平方關係（倒立正三角形）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三個倒立三角形中，上方兩頂點平方和等於下方頂點：</a:t>
            </a:r>
            <a:br/>
            <a:r>
              <a:t>• sin² θ + cos² θ ＝ 1</a:t>
            </a:r>
            <a:br/>
            <a:r>
              <a:t>• 1 + tan² θ ＝ sec² θ</a:t>
            </a:r>
            <a:br/>
            <a:r>
              <a:t>• 1 + cot² θ ＝ csc² 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029200" cy="4297680"/>
          </a:xfrm>
          <a:prstGeom prst="roundRect">
            <a:avLst/>
          </a:prstGeom>
          <a:solidFill>
            <a:srgbClr val="FEFCE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55448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F2240"/>
                </a:solidFill>
                <a:latin typeface="微軟正黑體"/>
              </a:rPr>
              <a:t>🎯 六邊形頂點配置心法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B91C1C"/>
                </a:solidFill>
                <a:latin typeface="微軟正黑體"/>
              </a:rPr>
              <a:t>• 右半部：全部都是帶『co』的餘函數！</a:t>
            </a:r>
            <a:br/>
            <a:r>
              <a:t>   (右上 cos θ、正右 cot θ、右下 csc θ)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E7490"/>
                </a:solidFill>
                <a:latin typeface="微軟正黑體"/>
              </a:rPr>
              <a:t>• 左半部：全部都是無『co』的正函數！</a:t>
            </a:r>
            <a:br/>
            <a:r>
              <a:t>   (左上 sin θ、正左 tan θ、左下 sec θ)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1E293B"/>
                </a:solidFill>
                <a:latin typeface="微軟正黑體"/>
              </a:rPr>
              <a:t>• 正中心：寫上醒目的數字 『 1 』！</a:t>
            </a:r>
          </a:p>
          <a:p>
            <a:pPr>
              <a:spcBef>
                <a:spcPts val="1200"/>
              </a:spcBef>
            </a:pPr>
            <a:r>
              <a:rPr sz="1600" b="1">
                <a:solidFill>
                  <a:srgbClr val="B45309"/>
                </a:solidFill>
                <a:latin typeface="微軟正黑體"/>
              </a:rPr>
              <a:t>💡 課堂實戰應用技巧：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E293B"/>
                </a:solidFill>
                <a:latin typeface="微軟正黑體"/>
              </a:rPr>
              <a:t>遇到三角恆等式求值或化簡時，在草稿紙邊緣花 10 秒鐘畫出這個六邊形，所有 8 個恆等式一目了然，絕不混淆忘記！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4511</TotalTime>
  <Words>2610</Words>
  <Application>Microsoft Office PowerPoint</Application>
  <PresentationFormat>寬螢幕</PresentationFormat>
  <Paragraphs>272</Paragraphs>
  <Slides>77</Slides>
  <Notes>1</Notes>
  <HiddenSlides>0</HiddenSlides>
  <MMClips>0</MMClips>
  <ScaleCrop>false</ScaleCrop>
  <HeadingPairs>
    <vt:vector size="8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77</vt:i4>
      </vt:variant>
    </vt:vector>
  </HeadingPairs>
  <TitlesOfParts>
    <vt:vector size="85" baseType="lpstr">
      <vt:lpstr>微軟正黑體</vt:lpstr>
      <vt:lpstr>新細明體</vt:lpstr>
      <vt:lpstr>Arial</vt:lpstr>
      <vt:lpstr>Calibri</vt:lpstr>
      <vt:lpstr>Symbol</vt:lpstr>
      <vt:lpstr>Times New Roman</vt:lpstr>
      <vt:lpstr>Office 佈景主題</vt:lpstr>
      <vt:lpstr>Equation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yu</dc:creator>
  <cp:lastModifiedBy>chungyikuei</cp:lastModifiedBy>
  <cp:revision>337</cp:revision>
  <dcterms:created xsi:type="dcterms:W3CDTF">2021-09-02T06:38:06Z</dcterms:created>
  <dcterms:modified xsi:type="dcterms:W3CDTF">2026-08-11T13:57:49Z</dcterms:modified>
</cp:coreProperties>
</file>