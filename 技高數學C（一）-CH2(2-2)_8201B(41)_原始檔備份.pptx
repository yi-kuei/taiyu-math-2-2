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256" r:id="rId2"/>
    <p:sldId id="257" r:id="rId3"/>
    <p:sldId id="260" r:id="rId4"/>
    <p:sldId id="258" r:id="rId5"/>
    <p:sldId id="259" r:id="rId6"/>
    <p:sldId id="290" r:id="rId7"/>
    <p:sldId id="532" r:id="rId8"/>
    <p:sldId id="533" r:id="rId9"/>
    <p:sldId id="534" r:id="rId10"/>
    <p:sldId id="535" r:id="rId11"/>
    <p:sldId id="537" r:id="rId12"/>
    <p:sldId id="538" r:id="rId13"/>
    <p:sldId id="539" r:id="rId14"/>
    <p:sldId id="540" r:id="rId15"/>
    <p:sldId id="261" r:id="rId16"/>
    <p:sldId id="262" r:id="rId17"/>
    <p:sldId id="543" r:id="rId18"/>
    <p:sldId id="390" r:id="rId19"/>
    <p:sldId id="545" r:id="rId20"/>
    <p:sldId id="392" r:id="rId21"/>
    <p:sldId id="271" r:id="rId22"/>
    <p:sldId id="272" r:id="rId23"/>
    <p:sldId id="266" r:id="rId24"/>
    <p:sldId id="514" r:id="rId25"/>
    <p:sldId id="548" r:id="rId26"/>
    <p:sldId id="549" r:id="rId27"/>
    <p:sldId id="547" r:id="rId28"/>
    <p:sldId id="550" r:id="rId29"/>
    <p:sldId id="551" r:id="rId30"/>
    <p:sldId id="552" r:id="rId31"/>
    <p:sldId id="273" r:id="rId32"/>
    <p:sldId id="553" r:id="rId33"/>
    <p:sldId id="274" r:id="rId34"/>
    <p:sldId id="555" r:id="rId35"/>
    <p:sldId id="275" r:id="rId36"/>
    <p:sldId id="556" r:id="rId37"/>
    <p:sldId id="557" r:id="rId38"/>
    <p:sldId id="558" r:id="rId39"/>
    <p:sldId id="559" r:id="rId40"/>
    <p:sldId id="560" r:id="rId41"/>
    <p:sldId id="276" r:id="rId42"/>
    <p:sldId id="267" r:id="rId43"/>
    <p:sldId id="561" r:id="rId44"/>
    <p:sldId id="562" r:id="rId45"/>
    <p:sldId id="563" r:id="rId46"/>
    <p:sldId id="564" r:id="rId47"/>
    <p:sldId id="565" r:id="rId48"/>
    <p:sldId id="566" r:id="rId49"/>
    <p:sldId id="567" r:id="rId50"/>
    <p:sldId id="568" r:id="rId51"/>
    <p:sldId id="569" r:id="rId52"/>
    <p:sldId id="570" r:id="rId53"/>
    <p:sldId id="572" r:id="rId54"/>
    <p:sldId id="571" r:id="rId55"/>
    <p:sldId id="585" r:id="rId56"/>
    <p:sldId id="531" r:id="rId57"/>
    <p:sldId id="281" r:id="rId58"/>
    <p:sldId id="282" r:id="rId59"/>
    <p:sldId id="283" r:id="rId60"/>
    <p:sldId id="284" r:id="rId61"/>
    <p:sldId id="577" r:id="rId62"/>
    <p:sldId id="356" r:id="rId63"/>
    <p:sldId id="579" r:id="rId64"/>
    <p:sldId id="580" r:id="rId65"/>
    <p:sldId id="394" r:id="rId66"/>
    <p:sldId id="397" r:id="rId67"/>
    <p:sldId id="268" r:id="rId68"/>
    <p:sldId id="488" r:id="rId69"/>
    <p:sldId id="269" r:id="rId70"/>
    <p:sldId id="492" r:id="rId71"/>
    <p:sldId id="494" r:id="rId72"/>
    <p:sldId id="359" r:id="rId73"/>
    <p:sldId id="360" r:id="rId74"/>
    <p:sldId id="366" r:id="rId75"/>
    <p:sldId id="362" r:id="rId76"/>
    <p:sldId id="270" r:id="rId77"/>
    <p:sldId id="368" r:id="rId78"/>
  </p:sldIdLst>
  <p:sldSz cx="12192000" cy="6858000"/>
  <p:notesSz cx="6858000" cy="9144000"/>
  <p:defaultTextStyle>
    <a:defPPr>
      <a:defRPr lang="zh-TW"/>
    </a:defPPr>
    <a:lvl1pPr marL="0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70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40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09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278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848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418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987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557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5" autoAdjust="0"/>
    <p:restoredTop sz="93778" autoAdjust="0"/>
  </p:normalViewPr>
  <p:slideViewPr>
    <p:cSldViewPr>
      <p:cViewPr varScale="1">
        <p:scale>
          <a:sx n="71" d="100"/>
          <a:sy n="71" d="100"/>
        </p:scale>
        <p:origin x="93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-336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BB24B-68EA-4D32-89D8-7857D66FA432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5741C-FB9F-4041-B3F8-EA2E3A83C7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30367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47C5D-586A-4E91-BD0A-27F5CC534150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A70EA-698E-4F58-9AB4-90C9053E6E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51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A70EA-698E-4F58-9AB4-90C9053E6E1F}" type="slidenum">
              <a:rPr lang="zh-TW" altLang="en-US" smtClean="0"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8768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5265561"/>
            <a:ext cx="12192000" cy="154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4693" y="-31483"/>
            <a:ext cx="12385375" cy="538710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4690" y="-31484"/>
            <a:ext cx="12385375" cy="511444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-278088"/>
            <a:ext cx="455131" cy="7087031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21021" y="2415721"/>
            <a:ext cx="9602508" cy="9554132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44857" y="3384563"/>
            <a:ext cx="7412124" cy="7379615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569" y="-278090"/>
            <a:ext cx="471385" cy="132475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145" y="1276425"/>
            <a:ext cx="2462580" cy="1893668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7605" y="11576"/>
            <a:ext cx="2169999" cy="1999323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4864" y="4962473"/>
            <a:ext cx="1162208" cy="1162208"/>
          </a:xfrm>
          <a:prstGeom prst="rect">
            <a:avLst/>
          </a:prstGeom>
        </p:spPr>
      </p:pic>
      <p:grpSp>
        <p:nvGrpSpPr>
          <p:cNvPr id="16" name="群組 15"/>
          <p:cNvGrpSpPr/>
          <p:nvPr userDrawn="1"/>
        </p:nvGrpSpPr>
        <p:grpSpPr>
          <a:xfrm>
            <a:off x="8041965" y="4839122"/>
            <a:ext cx="3914148" cy="3315308"/>
            <a:chOff x="5503036" y="4297228"/>
            <a:chExt cx="2935610" cy="2486481"/>
          </a:xfrm>
        </p:grpSpPr>
        <p:pic>
          <p:nvPicPr>
            <p:cNvPr id="17" name="圖片 16"/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03036" y="4297228"/>
              <a:ext cx="2935610" cy="2486481"/>
            </a:xfrm>
            <a:prstGeom prst="rect">
              <a:avLst/>
            </a:prstGeom>
          </p:spPr>
        </p:pic>
        <p:pic>
          <p:nvPicPr>
            <p:cNvPr id="18" name="圖片 17"/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80815" y="5247664"/>
              <a:ext cx="509053" cy="320925"/>
            </a:xfrm>
            <a:prstGeom prst="rect">
              <a:avLst/>
            </a:prstGeom>
          </p:spPr>
        </p:pic>
      </p:grpSp>
      <p:pic>
        <p:nvPicPr>
          <p:cNvPr id="19" name="Picture 2" descr="F:\2021 備份\01 美編\2021 ISYSTEM　簡報\1130 簡報設計\數C\1版簡報\數C4-34.pn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4014" y="348125"/>
            <a:ext cx="2179927" cy="54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群組 19"/>
          <p:cNvGrpSpPr/>
          <p:nvPr userDrawn="1"/>
        </p:nvGrpSpPr>
        <p:grpSpPr>
          <a:xfrm>
            <a:off x="526838" y="5548606"/>
            <a:ext cx="4192706" cy="744723"/>
            <a:chOff x="4025450" y="1464484"/>
            <a:chExt cx="4739567" cy="841857"/>
          </a:xfrm>
        </p:grpSpPr>
        <p:pic>
          <p:nvPicPr>
            <p:cNvPr id="21" name="圖片 20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5450" y="1544230"/>
              <a:ext cx="3563028" cy="762111"/>
            </a:xfrm>
            <a:prstGeom prst="rect">
              <a:avLst/>
            </a:prstGeom>
          </p:spPr>
        </p:pic>
        <p:sp>
          <p:nvSpPr>
            <p:cNvPr id="22" name="文字方塊 21"/>
            <p:cNvSpPr txBox="1"/>
            <p:nvPr userDrawn="1"/>
          </p:nvSpPr>
          <p:spPr>
            <a:xfrm>
              <a:off x="7668343" y="1464484"/>
              <a:ext cx="1096674" cy="7306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3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一</a:t>
              </a:r>
              <a:r>
                <a:rPr lang="en-US" altLang="zh-TW" sz="3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3" name="群組 22"/>
          <p:cNvGrpSpPr/>
          <p:nvPr userDrawn="1"/>
        </p:nvGrpSpPr>
        <p:grpSpPr>
          <a:xfrm>
            <a:off x="6717447" y="-4272030"/>
            <a:ext cx="3154559" cy="10228268"/>
            <a:chOff x="5258568" y="-2824140"/>
            <a:chExt cx="2365919" cy="7671201"/>
          </a:xfrm>
        </p:grpSpPr>
        <p:pic>
          <p:nvPicPr>
            <p:cNvPr id="24" name="圖片 23"/>
            <p:cNvPicPr>
              <a:picLocks noChangeAspect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57724" flipH="1">
              <a:off x="5258568" y="-2824140"/>
              <a:ext cx="1971342" cy="5713413"/>
            </a:xfrm>
            <a:prstGeom prst="rect">
              <a:avLst/>
            </a:prstGeom>
          </p:spPr>
        </p:pic>
        <p:pic>
          <p:nvPicPr>
            <p:cNvPr id="25" name="圖片 24"/>
            <p:cNvPicPr>
              <a:picLocks noChangeAspect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1202">
              <a:off x="5281551" y="2174041"/>
              <a:ext cx="2342936" cy="26730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30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6" presetClass="emph" presetSubtype="0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5265561"/>
            <a:ext cx="12192000" cy="154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316" y="-31485"/>
            <a:ext cx="12304999" cy="5520000"/>
          </a:xfrm>
          <a:prstGeom prst="rect">
            <a:avLst/>
          </a:prstGeom>
        </p:spPr>
      </p:pic>
      <p:pic>
        <p:nvPicPr>
          <p:cNvPr id="3" name="圖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4974" y="663376"/>
            <a:ext cx="9242057" cy="6239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圖片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74951" y="67773"/>
            <a:ext cx="2605072" cy="2400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54926" y="3285741"/>
            <a:ext cx="2966601" cy="3384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頁尾版面配置區 2"/>
          <p:cNvSpPr txBox="1">
            <a:spLocks/>
          </p:cNvSpPr>
          <p:nvPr userDrawn="1"/>
        </p:nvSpPr>
        <p:spPr>
          <a:xfrm>
            <a:off x="3602568" y="1740765"/>
            <a:ext cx="8544985" cy="958849"/>
          </a:xfrm>
          <a:prstGeom prst="rect">
            <a:avLst/>
          </a:prstGeom>
        </p:spPr>
        <p:txBody>
          <a:bodyPr anchor="b"/>
          <a:lstStyle>
            <a:defPPr>
              <a:defRPr lang="zh-TW"/>
            </a:defPPr>
            <a:lvl1pPr marL="0" algn="l" defTabSz="914400" rtl="0" eaLnBrk="1" latinLnBrk="0" hangingPunct="1">
              <a:defRPr kumimoji="0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TW" sz="4000" dirty="0">
              <a:solidFill>
                <a:schemeClr val="accent1"/>
              </a:solidFill>
            </a:endParaRPr>
          </a:p>
        </p:txBody>
      </p:sp>
      <p:sp>
        <p:nvSpPr>
          <p:cNvPr id="7" name="平行四邊形 6"/>
          <p:cNvSpPr/>
          <p:nvPr userDrawn="1"/>
        </p:nvSpPr>
        <p:spPr>
          <a:xfrm>
            <a:off x="-336715" y="2317788"/>
            <a:ext cx="6432715" cy="897605"/>
          </a:xfrm>
          <a:prstGeom prst="parallelogram">
            <a:avLst/>
          </a:prstGeom>
          <a:solidFill>
            <a:srgbClr val="FFC409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sp>
        <p:nvSpPr>
          <p:cNvPr id="8" name="文字版面配置區 4"/>
          <p:cNvSpPr>
            <a:spLocks noGrp="1"/>
          </p:cNvSpPr>
          <p:nvPr>
            <p:ph type="body" sz="quarter" idx="11"/>
          </p:nvPr>
        </p:nvSpPr>
        <p:spPr>
          <a:xfrm>
            <a:off x="3207863" y="4071214"/>
            <a:ext cx="5760640" cy="697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spc="3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sz="quarter" idx="10"/>
          </p:nvPr>
        </p:nvSpPr>
        <p:spPr>
          <a:xfrm>
            <a:off x="1102785" y="2459572"/>
            <a:ext cx="4417483" cy="6138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spc="3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</a:t>
            </a:r>
          </a:p>
        </p:txBody>
      </p:sp>
      <p:sp>
        <p:nvSpPr>
          <p:cNvPr id="13" name="文字方塊 6">
            <a:extLst>
              <a:ext uri="{FF2B5EF4-FFF2-40B4-BE49-F238E27FC236}">
                <a16:creationId xmlns:a16="http://schemas.microsoft.com/office/drawing/2014/main" id="{488FB78F-B31D-4078-9995-AC4B8C0B69BA}"/>
              </a:ext>
            </a:extLst>
          </p:cNvPr>
          <p:cNvSpPr txBox="1"/>
          <p:nvPr userDrawn="1"/>
        </p:nvSpPr>
        <p:spPr>
          <a:xfrm>
            <a:off x="66612" y="6396228"/>
            <a:ext cx="1769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技高數學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一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2-2</a:t>
            </a:r>
            <a:endParaRPr lang="zh-TW" altLang="en-US" sz="1400" b="1" dirty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5BA64A3E-576D-4945-AE43-2C7571DC79E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622" y="6323193"/>
            <a:ext cx="1373689" cy="3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76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節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497" y="-60391"/>
            <a:ext cx="12304999" cy="5520000"/>
          </a:xfrm>
          <a:prstGeom prst="rect">
            <a:avLst/>
          </a:prstGeom>
        </p:spPr>
      </p:pic>
      <p:sp>
        <p:nvSpPr>
          <p:cNvPr id="13" name="雲朵形圖說文字 12"/>
          <p:cNvSpPr/>
          <p:nvPr userDrawn="1"/>
        </p:nvSpPr>
        <p:spPr>
          <a:xfrm>
            <a:off x="431371" y="2866783"/>
            <a:ext cx="8546304" cy="2760000"/>
          </a:xfrm>
          <a:prstGeom prst="cloudCallout">
            <a:avLst>
              <a:gd name="adj1" fmla="val 57563"/>
              <a:gd name="adj2" fmla="val -5569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pic>
        <p:nvPicPr>
          <p:cNvPr id="4" name="圖片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372" y="206633"/>
            <a:ext cx="2605072" cy="2400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4804" y="2852926"/>
            <a:ext cx="2966601" cy="3384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頁尾版面配置區 2"/>
          <p:cNvSpPr txBox="1">
            <a:spLocks/>
          </p:cNvSpPr>
          <p:nvPr userDrawn="1"/>
        </p:nvSpPr>
        <p:spPr>
          <a:xfrm>
            <a:off x="3602568" y="1740765"/>
            <a:ext cx="8544985" cy="958849"/>
          </a:xfrm>
          <a:prstGeom prst="rect">
            <a:avLst/>
          </a:prstGeom>
        </p:spPr>
        <p:txBody>
          <a:bodyPr anchor="b"/>
          <a:lstStyle>
            <a:defPPr>
              <a:defRPr lang="zh-TW"/>
            </a:defPPr>
            <a:lvl1pPr marL="0" algn="l" defTabSz="914400" rtl="0" eaLnBrk="1" latinLnBrk="0" hangingPunct="1">
              <a:defRPr kumimoji="0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TW" sz="4000" dirty="0">
              <a:solidFill>
                <a:schemeClr val="accent1"/>
              </a:solidFill>
            </a:endParaRPr>
          </a:p>
        </p:txBody>
      </p:sp>
      <p:sp>
        <p:nvSpPr>
          <p:cNvPr id="8" name="文字版面配置區 4"/>
          <p:cNvSpPr>
            <a:spLocks noGrp="1"/>
          </p:cNvSpPr>
          <p:nvPr>
            <p:ph type="body" sz="quarter" idx="11"/>
          </p:nvPr>
        </p:nvSpPr>
        <p:spPr>
          <a:xfrm>
            <a:off x="1856820" y="3813047"/>
            <a:ext cx="5760640" cy="697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spc="3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2" y="6237472"/>
            <a:ext cx="1733908" cy="6205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149407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6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5265561"/>
            <a:ext cx="12192000" cy="154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112997" y="1338000"/>
            <a:ext cx="12304999" cy="55200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3025094" y="-5596333"/>
            <a:ext cx="7412124" cy="73796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 userDrawn="1"/>
        </p:nvSpPr>
        <p:spPr>
          <a:xfrm>
            <a:off x="335361" y="164642"/>
            <a:ext cx="20295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i="0" kern="1200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  <a:cs typeface="+mn-cs"/>
              </a:rPr>
              <a:t>CONTENT</a:t>
            </a:r>
            <a:endParaRPr lang="zh-TW" altLang="en-US" sz="36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grpSp>
        <p:nvGrpSpPr>
          <p:cNvPr id="5" name="群組 4"/>
          <p:cNvGrpSpPr/>
          <p:nvPr userDrawn="1"/>
        </p:nvGrpSpPr>
        <p:grpSpPr>
          <a:xfrm>
            <a:off x="9851574" y="4562993"/>
            <a:ext cx="1979001" cy="1676227"/>
            <a:chOff x="5503036" y="4297228"/>
            <a:chExt cx="2935610" cy="2486481"/>
          </a:xfrm>
        </p:grpSpPr>
        <p:pic>
          <p:nvPicPr>
            <p:cNvPr id="6" name="圖片 5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03036" y="4297228"/>
              <a:ext cx="2935610" cy="2486481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80815" y="5247664"/>
              <a:ext cx="509053" cy="320925"/>
            </a:xfrm>
            <a:prstGeom prst="rect">
              <a:avLst/>
            </a:prstGeom>
          </p:spPr>
        </p:pic>
      </p:grpSp>
      <p:sp>
        <p:nvSpPr>
          <p:cNvPr id="11" name="文字方塊 6">
            <a:extLst>
              <a:ext uri="{FF2B5EF4-FFF2-40B4-BE49-F238E27FC236}">
                <a16:creationId xmlns:a16="http://schemas.microsoft.com/office/drawing/2014/main" id="{369FF760-5698-4189-BAC3-C8AA9700578F}"/>
              </a:ext>
            </a:extLst>
          </p:cNvPr>
          <p:cNvSpPr txBox="1"/>
          <p:nvPr userDrawn="1"/>
        </p:nvSpPr>
        <p:spPr>
          <a:xfrm>
            <a:off x="8616280" y="6453336"/>
            <a:ext cx="1769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技高數學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一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2-2</a:t>
            </a:r>
            <a:endParaRPr lang="zh-TW" altLang="en-US" sz="1400" b="1" dirty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715FE93-6794-4ACF-B66B-6E7A01E2A2E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290" y="6380301"/>
            <a:ext cx="1373689" cy="3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76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次-無動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5265561"/>
            <a:ext cx="12192000" cy="154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112997" y="1338000"/>
            <a:ext cx="12304999" cy="55200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3025034" y="-5596036"/>
            <a:ext cx="7412124" cy="73796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 userDrawn="1"/>
        </p:nvSpPr>
        <p:spPr>
          <a:xfrm>
            <a:off x="335361" y="164642"/>
            <a:ext cx="20295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i="0" kern="1200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  <a:cs typeface="+mn-cs"/>
              </a:rPr>
              <a:t>CONTENT</a:t>
            </a:r>
            <a:endParaRPr lang="zh-TW" altLang="en-US" sz="36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grpSp>
        <p:nvGrpSpPr>
          <p:cNvPr id="5" name="群組 4"/>
          <p:cNvGrpSpPr/>
          <p:nvPr userDrawn="1"/>
        </p:nvGrpSpPr>
        <p:grpSpPr>
          <a:xfrm>
            <a:off x="9851574" y="4562993"/>
            <a:ext cx="1979001" cy="1676227"/>
            <a:chOff x="5503036" y="4297228"/>
            <a:chExt cx="2935610" cy="2486481"/>
          </a:xfrm>
        </p:grpSpPr>
        <p:pic>
          <p:nvPicPr>
            <p:cNvPr id="6" name="圖片 5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03036" y="4297228"/>
              <a:ext cx="2935610" cy="2486481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80815" y="5247664"/>
              <a:ext cx="509053" cy="320925"/>
            </a:xfrm>
            <a:prstGeom prst="rect">
              <a:avLst/>
            </a:prstGeom>
          </p:spPr>
        </p:pic>
      </p:grpSp>
      <p:sp>
        <p:nvSpPr>
          <p:cNvPr id="13" name="文字方塊 6">
            <a:extLst>
              <a:ext uri="{FF2B5EF4-FFF2-40B4-BE49-F238E27FC236}">
                <a16:creationId xmlns:a16="http://schemas.microsoft.com/office/drawing/2014/main" id="{369FF760-5698-4189-BAC3-C8AA9700578F}"/>
              </a:ext>
            </a:extLst>
          </p:cNvPr>
          <p:cNvSpPr txBox="1"/>
          <p:nvPr userDrawn="1"/>
        </p:nvSpPr>
        <p:spPr>
          <a:xfrm>
            <a:off x="8616280" y="6453336"/>
            <a:ext cx="1769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技高數學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一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2-2</a:t>
            </a:r>
            <a:endParaRPr lang="zh-TW" altLang="en-US" sz="1400" b="1" dirty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715FE93-6794-4ACF-B66B-6E7A01E2A2E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290" y="6380301"/>
            <a:ext cx="1373689" cy="3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9515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課文頁-第一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 userDrawn="1"/>
        </p:nvGrpSpPr>
        <p:grpSpPr>
          <a:xfrm>
            <a:off x="10617" y="1"/>
            <a:ext cx="12192000" cy="664579"/>
            <a:chOff x="7962" y="0"/>
            <a:chExt cx="9144000" cy="498434"/>
          </a:xfrm>
        </p:grpSpPr>
        <p:pic>
          <p:nvPicPr>
            <p:cNvPr id="5" name="圖片 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2" y="0"/>
              <a:ext cx="9144000" cy="498434"/>
            </a:xfrm>
            <a:prstGeom prst="rect">
              <a:avLst/>
            </a:prstGeom>
          </p:spPr>
        </p:pic>
        <p:pic>
          <p:nvPicPr>
            <p:cNvPr id="3" name="圖片 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2360" y="49941"/>
              <a:ext cx="938786" cy="289561"/>
            </a:xfrm>
            <a:prstGeom prst="rect">
              <a:avLst/>
            </a:prstGeom>
          </p:spPr>
        </p:pic>
      </p:grp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21" y="664580"/>
            <a:ext cx="955041" cy="1150115"/>
          </a:xfrm>
          <a:prstGeom prst="rect">
            <a:avLst/>
          </a:prstGeom>
        </p:spPr>
      </p:pic>
      <p:sp>
        <p:nvSpPr>
          <p:cNvPr id="7" name="內容版面配置區 9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776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課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" y="1"/>
            <a:ext cx="12192000" cy="66457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482" y="66593"/>
            <a:ext cx="1251716" cy="386081"/>
          </a:xfrm>
          <a:prstGeom prst="rect">
            <a:avLst/>
          </a:prstGeom>
        </p:spPr>
      </p:pic>
      <p:sp>
        <p:nvSpPr>
          <p:cNvPr id="5" name="內容版面配置區 9">
            <a:extLst>
              <a:ext uri="{FF2B5EF4-FFF2-40B4-BE49-F238E27FC236}">
                <a16:creationId xmlns:a16="http://schemas.microsoft.com/office/drawing/2014/main" id="{FEDCFBA6-1D17-4CA3-A55F-687199F9BD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7769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例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06" y="137055"/>
            <a:ext cx="1188975" cy="146774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298" y="0"/>
            <a:ext cx="239705" cy="6858000"/>
          </a:xfrm>
          <a:prstGeom prst="rect">
            <a:avLst/>
          </a:prstGeom>
        </p:spPr>
      </p:pic>
      <p:sp>
        <p:nvSpPr>
          <p:cNvPr id="6" name="文字版面配置區 5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  <p:sp>
        <p:nvSpPr>
          <p:cNvPr id="8" name="內容版面配置區 9">
            <a:extLst>
              <a:ext uri="{FF2B5EF4-FFF2-40B4-BE49-F238E27FC236}">
                <a16:creationId xmlns:a16="http://schemas.microsoft.com/office/drawing/2014/main" id="{269F5328-7F59-457B-BAF1-8F802968F87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776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例題-無動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06" y="137055"/>
            <a:ext cx="1188975" cy="146774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298" y="0"/>
            <a:ext cx="239705" cy="6858000"/>
          </a:xfrm>
          <a:prstGeom prst="rect">
            <a:avLst/>
          </a:prstGeom>
        </p:spPr>
      </p:pic>
      <p:sp>
        <p:nvSpPr>
          <p:cNvPr id="8" name="內容版面配置區 9">
            <a:extLst>
              <a:ext uri="{FF2B5EF4-FFF2-40B4-BE49-F238E27FC236}">
                <a16:creationId xmlns:a16="http://schemas.microsoft.com/office/drawing/2014/main" id="{8F3D8F7D-99CF-49E5-BD04-73473A8E23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9" name="文字版面配置區 5">
            <a:extLst>
              <a:ext uri="{FF2B5EF4-FFF2-40B4-BE49-F238E27FC236}">
                <a16:creationId xmlns:a16="http://schemas.microsoft.com/office/drawing/2014/main" id="{9A939C36-51E1-4334-B880-6AAD4A6D27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579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隨堂練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03" y="137055"/>
            <a:ext cx="1188975" cy="1467745"/>
          </a:xfrm>
          <a:prstGeom prst="rect">
            <a:avLst/>
          </a:prstGeom>
        </p:spPr>
      </p:pic>
      <p:pic>
        <p:nvPicPr>
          <p:cNvPr id="4" name="圖片 3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000" y="0"/>
            <a:ext cx="240000" cy="6858000"/>
          </a:xfrm>
          <a:prstGeom prst="rect">
            <a:avLst/>
          </a:prstGeom>
        </p:spPr>
      </p:pic>
      <p:sp>
        <p:nvSpPr>
          <p:cNvPr id="7" name="內容版面配置區 9">
            <a:extLst>
              <a:ext uri="{FF2B5EF4-FFF2-40B4-BE49-F238E27FC236}">
                <a16:creationId xmlns:a16="http://schemas.microsoft.com/office/drawing/2014/main" id="{137602E4-C643-43E7-835C-92FA1C0801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BCD001C7-E8C9-4160-9F19-8D57350A01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76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隨堂練習-無動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03" y="137055"/>
            <a:ext cx="1188975" cy="1467745"/>
          </a:xfrm>
          <a:prstGeom prst="rect">
            <a:avLst/>
          </a:prstGeom>
        </p:spPr>
      </p:pic>
      <p:pic>
        <p:nvPicPr>
          <p:cNvPr id="4" name="圖片 3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000" y="0"/>
            <a:ext cx="240000" cy="6858000"/>
          </a:xfrm>
          <a:prstGeom prst="rect">
            <a:avLst/>
          </a:prstGeom>
        </p:spPr>
      </p:pic>
      <p:sp>
        <p:nvSpPr>
          <p:cNvPr id="7" name="內容版面配置區 9">
            <a:extLst>
              <a:ext uri="{FF2B5EF4-FFF2-40B4-BE49-F238E27FC236}">
                <a16:creationId xmlns:a16="http://schemas.microsoft.com/office/drawing/2014/main" id="{6B9F8FBE-7ED9-4D77-91B4-B788967186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79ACD4E8-0216-4DD3-ACC2-CEF9E375E1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53371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習題-基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1" y="137052"/>
            <a:ext cx="1166060" cy="1467744"/>
          </a:xfrm>
          <a:prstGeom prst="rect">
            <a:avLst/>
          </a:prstGeom>
        </p:spPr>
      </p:pic>
      <p:pic>
        <p:nvPicPr>
          <p:cNvPr id="4" name="圖片 3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149" y="0"/>
            <a:ext cx="239705" cy="6858000"/>
          </a:xfrm>
          <a:prstGeom prst="rect">
            <a:avLst/>
          </a:prstGeom>
        </p:spPr>
      </p:pic>
      <p:sp>
        <p:nvSpPr>
          <p:cNvPr id="7" name="內容版面配置區 9">
            <a:extLst>
              <a:ext uri="{FF2B5EF4-FFF2-40B4-BE49-F238E27FC236}">
                <a16:creationId xmlns:a16="http://schemas.microsoft.com/office/drawing/2014/main" id="{77A257B3-170F-434C-B1AA-2DCD2282C63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427AE280-E9A7-47E4-879A-A17EBD096E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5557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習題-基礎-無動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1" y="137052"/>
            <a:ext cx="1166060" cy="1467744"/>
          </a:xfrm>
          <a:prstGeom prst="rect">
            <a:avLst/>
          </a:prstGeom>
        </p:spPr>
      </p:pic>
      <p:pic>
        <p:nvPicPr>
          <p:cNvPr id="4" name="圖片 3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149" y="0"/>
            <a:ext cx="239705" cy="6858000"/>
          </a:xfrm>
          <a:prstGeom prst="rect">
            <a:avLst/>
          </a:prstGeom>
        </p:spPr>
      </p:pic>
      <p:sp>
        <p:nvSpPr>
          <p:cNvPr id="8" name="內容版面配置區 9">
            <a:extLst>
              <a:ext uri="{FF2B5EF4-FFF2-40B4-BE49-F238E27FC236}">
                <a16:creationId xmlns:a16="http://schemas.microsoft.com/office/drawing/2014/main" id="{D9E1C7E5-F42C-4D21-A8F2-B62B1DCC10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9" name="文字版面配置區 5">
            <a:extLst>
              <a:ext uri="{FF2B5EF4-FFF2-40B4-BE49-F238E27FC236}">
                <a16:creationId xmlns:a16="http://schemas.microsoft.com/office/drawing/2014/main" id="{93B48824-C175-42D1-82F3-B8EC8CEB3D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71883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習題-進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1" y="137052"/>
            <a:ext cx="1166060" cy="1467744"/>
          </a:xfrm>
          <a:prstGeom prst="rect">
            <a:avLst/>
          </a:prstGeom>
        </p:spPr>
      </p:pic>
      <p:pic>
        <p:nvPicPr>
          <p:cNvPr id="4" name="圖片 3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149" y="0"/>
            <a:ext cx="239705" cy="6858000"/>
          </a:xfrm>
          <a:prstGeom prst="rect">
            <a:avLst/>
          </a:prstGeom>
        </p:spPr>
      </p:pic>
      <p:sp>
        <p:nvSpPr>
          <p:cNvPr id="8" name="內容版面配置區 9">
            <a:extLst>
              <a:ext uri="{FF2B5EF4-FFF2-40B4-BE49-F238E27FC236}">
                <a16:creationId xmlns:a16="http://schemas.microsoft.com/office/drawing/2014/main" id="{55F1656B-238A-40BC-B1F2-355BB25622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9" name="文字版面配置區 5">
            <a:extLst>
              <a:ext uri="{FF2B5EF4-FFF2-40B4-BE49-F238E27FC236}">
                <a16:creationId xmlns:a16="http://schemas.microsoft.com/office/drawing/2014/main" id="{12842BFF-6E4E-430B-890F-EEAD53D22A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539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習題-進階-無動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1" y="137052"/>
            <a:ext cx="1166060" cy="1467744"/>
          </a:xfrm>
          <a:prstGeom prst="rect">
            <a:avLst/>
          </a:prstGeom>
        </p:spPr>
      </p:pic>
      <p:pic>
        <p:nvPicPr>
          <p:cNvPr id="4" name="圖片 3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149" y="0"/>
            <a:ext cx="239705" cy="6858000"/>
          </a:xfrm>
          <a:prstGeom prst="rect">
            <a:avLst/>
          </a:prstGeom>
        </p:spPr>
      </p:pic>
      <p:sp>
        <p:nvSpPr>
          <p:cNvPr id="7" name="內容版面配置區 9">
            <a:extLst>
              <a:ext uri="{FF2B5EF4-FFF2-40B4-BE49-F238E27FC236}">
                <a16:creationId xmlns:a16="http://schemas.microsoft.com/office/drawing/2014/main" id="{F4D43F1E-D9FE-4CC0-825A-1733BF684B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FE80E86C-A2E4-40A3-9254-42876A3450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4733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練功心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316" y="-31485"/>
            <a:ext cx="12304999" cy="552000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89" y="348514"/>
            <a:ext cx="11785625" cy="59619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720" y="516220"/>
            <a:ext cx="1154081" cy="31696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5" y="5298840"/>
            <a:ext cx="1558548" cy="1202501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687" y="138297"/>
            <a:ext cx="894007" cy="1072808"/>
          </a:xfrm>
          <a:prstGeom prst="rect">
            <a:avLst/>
          </a:prstGeom>
        </p:spPr>
      </p:pic>
      <p:sp>
        <p:nvSpPr>
          <p:cNvPr id="9" name="文字方塊 8"/>
          <p:cNvSpPr txBox="1"/>
          <p:nvPr userDrawn="1"/>
        </p:nvSpPr>
        <p:spPr>
          <a:xfrm>
            <a:off x="5105986" y="353135"/>
            <a:ext cx="1980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spc="3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練功心法</a:t>
            </a:r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0AF42AE3-9F32-4F7A-85FF-20F2219C5C6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776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練功心法-無動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316" y="-31485"/>
            <a:ext cx="12304999" cy="552000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89" y="348514"/>
            <a:ext cx="11785625" cy="59619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720" y="516220"/>
            <a:ext cx="1154081" cy="31696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5" y="5298840"/>
            <a:ext cx="1558548" cy="1202501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687" y="138297"/>
            <a:ext cx="894007" cy="1072808"/>
          </a:xfrm>
          <a:prstGeom prst="rect">
            <a:avLst/>
          </a:prstGeom>
        </p:spPr>
      </p:pic>
      <p:sp>
        <p:nvSpPr>
          <p:cNvPr id="9" name="文字方塊 8"/>
          <p:cNvSpPr txBox="1"/>
          <p:nvPr userDrawn="1"/>
        </p:nvSpPr>
        <p:spPr>
          <a:xfrm>
            <a:off x="5105986" y="353135"/>
            <a:ext cx="1980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spc="3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練功心法</a:t>
            </a:r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42C68446-384F-4220-BADB-9104E3DE639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544087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重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316" y="-31485"/>
            <a:ext cx="12304999" cy="55200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89" y="348514"/>
            <a:ext cx="11785625" cy="5961900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720" y="516220"/>
            <a:ext cx="1154081" cy="31696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5" y="5298840"/>
            <a:ext cx="1558548" cy="1202501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687" y="138297"/>
            <a:ext cx="894007" cy="1072808"/>
          </a:xfrm>
          <a:prstGeom prst="rect">
            <a:avLst/>
          </a:prstGeom>
        </p:spPr>
      </p:pic>
      <p:sp>
        <p:nvSpPr>
          <p:cNvPr id="22" name="文字版面配置區 4"/>
          <p:cNvSpPr>
            <a:spLocks noGrp="1"/>
          </p:cNvSpPr>
          <p:nvPr>
            <p:ph type="body" sz="quarter" idx="10"/>
          </p:nvPr>
        </p:nvSpPr>
        <p:spPr>
          <a:xfrm>
            <a:off x="1101926" y="348512"/>
            <a:ext cx="5954183" cy="603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spc="3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9">
            <a:extLst>
              <a:ext uri="{FF2B5EF4-FFF2-40B4-BE49-F238E27FC236}">
                <a16:creationId xmlns:a16="http://schemas.microsoft.com/office/drawing/2014/main" id="{3C3FD3D8-00B3-4E5A-B47C-212C19C818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8451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重點-無動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316" y="-31485"/>
            <a:ext cx="12304999" cy="55200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89" y="348514"/>
            <a:ext cx="11785625" cy="5961900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720" y="516220"/>
            <a:ext cx="1154081" cy="31696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5" y="5298840"/>
            <a:ext cx="1558548" cy="1202501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687" y="138297"/>
            <a:ext cx="894007" cy="1072808"/>
          </a:xfrm>
          <a:prstGeom prst="rect">
            <a:avLst/>
          </a:prstGeom>
        </p:spPr>
      </p:pic>
      <p:sp>
        <p:nvSpPr>
          <p:cNvPr id="22" name="文字版面配置區 4"/>
          <p:cNvSpPr>
            <a:spLocks noGrp="1"/>
          </p:cNvSpPr>
          <p:nvPr>
            <p:ph type="body" sz="quarter" idx="10"/>
          </p:nvPr>
        </p:nvSpPr>
        <p:spPr>
          <a:xfrm>
            <a:off x="1101926" y="348512"/>
            <a:ext cx="5954183" cy="603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spc="3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9">
            <a:extLst>
              <a:ext uri="{FF2B5EF4-FFF2-40B4-BE49-F238E27FC236}">
                <a16:creationId xmlns:a16="http://schemas.microsoft.com/office/drawing/2014/main" id="{6E9AC085-87C1-425B-B076-4E4FF1592F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85564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M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262624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253" y="5061181"/>
            <a:ext cx="1885540" cy="1454792"/>
          </a:xfrm>
          <a:prstGeom prst="rect">
            <a:avLst/>
          </a:prstGeom>
        </p:spPr>
      </p:pic>
      <p:sp>
        <p:nvSpPr>
          <p:cNvPr id="4" name="文字版面配置區 4"/>
          <p:cNvSpPr>
            <a:spLocks noGrp="1"/>
          </p:cNvSpPr>
          <p:nvPr>
            <p:ph type="body" sz="quarter" idx="10"/>
          </p:nvPr>
        </p:nvSpPr>
        <p:spPr>
          <a:xfrm>
            <a:off x="1775523" y="544580"/>
            <a:ext cx="5954183" cy="603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spc="300">
                <a:solidFill>
                  <a:srgbClr val="92D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446" y="64525"/>
            <a:ext cx="1450820" cy="1600696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17" y="641357"/>
            <a:ext cx="711201" cy="447041"/>
          </a:xfrm>
          <a:prstGeom prst="rect">
            <a:avLst/>
          </a:prstGeom>
        </p:spPr>
      </p:pic>
      <p:sp>
        <p:nvSpPr>
          <p:cNvPr id="9" name="內容版面配置區 9">
            <a:extLst>
              <a:ext uri="{FF2B5EF4-FFF2-40B4-BE49-F238E27FC236}">
                <a16:creationId xmlns:a16="http://schemas.microsoft.com/office/drawing/2014/main" id="{76467F1A-0B12-4EB8-9661-141D385817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7625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練功心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9">
            <a:extLst>
              <a:ext uri="{FF2B5EF4-FFF2-40B4-BE49-F238E27FC236}">
                <a16:creationId xmlns:a16="http://schemas.microsoft.com/office/drawing/2014/main" id="{F9EEBFE4-D2D1-4DF4-94CB-E36C3FF3956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7625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microsoft.com/office/2007/relationships/hdphoto" Target="../media/hdphoto1.wdp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" Target="../slides/slide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字方塊 6">
            <a:extLst>
              <a:ext uri="{FF2B5EF4-FFF2-40B4-BE49-F238E27FC236}">
                <a16:creationId xmlns:a16="http://schemas.microsoft.com/office/drawing/2014/main" id="{369FF760-5698-4189-BAC3-C8AA9700578F}"/>
              </a:ext>
            </a:extLst>
          </p:cNvPr>
          <p:cNvSpPr txBox="1"/>
          <p:nvPr userDrawn="1"/>
        </p:nvSpPr>
        <p:spPr>
          <a:xfrm>
            <a:off x="8616280" y="6453336"/>
            <a:ext cx="1769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技高數學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一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2-2</a:t>
            </a:r>
            <a:endParaRPr lang="zh-TW" altLang="en-US" sz="1400" b="1" dirty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A715FE93-6794-4ACF-B66B-6E7A01E2A2ED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290" y="6380301"/>
            <a:ext cx="1373689" cy="3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文字方塊 8">
            <a:extLst>
              <a:ext uri="{FF2B5EF4-FFF2-40B4-BE49-F238E27FC236}">
                <a16:creationId xmlns:a16="http://schemas.microsoft.com/office/drawing/2014/main" id="{4C5B9651-CA2F-40B9-A24F-08917C3497BA}"/>
              </a:ext>
            </a:extLst>
          </p:cNvPr>
          <p:cNvSpPr txBox="1"/>
          <p:nvPr userDrawn="1"/>
        </p:nvSpPr>
        <p:spPr>
          <a:xfrm>
            <a:off x="281004" y="6453336"/>
            <a:ext cx="1344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0" dirty="0">
                <a:latin typeface="微軟正黑體" pitchFamily="34" charset="-120"/>
                <a:ea typeface="微軟正黑體" pitchFamily="34" charset="-120"/>
              </a:rPr>
              <a:t>配合課本</a:t>
            </a:r>
            <a:r>
              <a:rPr lang="en-US" altLang="zh-TW" sz="1400" b="0" dirty="0">
                <a:latin typeface="微軟正黑體" pitchFamily="34" charset="-120"/>
                <a:ea typeface="微軟正黑體" pitchFamily="34" charset="-120"/>
              </a:rPr>
              <a:t>P.</a:t>
            </a:r>
            <a:endParaRPr lang="zh-TW" altLang="en-US" sz="1400" b="0" dirty="0"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D61B07C0-715D-49AD-9794-941F66D05765}"/>
              </a:ext>
            </a:extLst>
          </p:cNvPr>
          <p:cNvGrpSpPr/>
          <p:nvPr userDrawn="1"/>
        </p:nvGrpSpPr>
        <p:grpSpPr>
          <a:xfrm>
            <a:off x="2064271" y="6450731"/>
            <a:ext cx="892313" cy="307777"/>
            <a:chOff x="5220072" y="4855555"/>
            <a:chExt cx="669236" cy="230833"/>
          </a:xfrm>
        </p:grpSpPr>
        <p:pic>
          <p:nvPicPr>
            <p:cNvPr id="23" name="圖片 22">
              <a:hlinkClick r:id="rId24" action="ppaction://hlinksldjump"/>
              <a:extLst>
                <a:ext uri="{FF2B5EF4-FFF2-40B4-BE49-F238E27FC236}">
                  <a16:creationId xmlns:a16="http://schemas.microsoft.com/office/drawing/2014/main" id="{5A03430B-A0B7-48EF-95C4-565B3A1F898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5" cstate="print">
              <a:duotone>
                <a:prstClr val="black"/>
                <a:schemeClr val="tx1">
                  <a:lumMod val="75000"/>
                  <a:lumOff val="2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26">
                      <a14:imgEffect>
                        <a14:artisticGlowEdges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0072" y="4865493"/>
              <a:ext cx="158605" cy="191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文字方塊 11">
              <a:hlinkClick r:id="rId24" action="ppaction://hlinksldjump"/>
              <a:extLst>
                <a:ext uri="{FF2B5EF4-FFF2-40B4-BE49-F238E27FC236}">
                  <a16:creationId xmlns:a16="http://schemas.microsoft.com/office/drawing/2014/main" id="{ACC7B164-1BDD-45F3-A2B0-0BF2D3B3AF07}"/>
                </a:ext>
              </a:extLst>
            </p:cNvPr>
            <p:cNvSpPr txBox="1"/>
            <p:nvPr userDrawn="1"/>
          </p:nvSpPr>
          <p:spPr>
            <a:xfrm>
              <a:off x="5340632" y="4855555"/>
              <a:ext cx="548676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TW" altLang="en-US" sz="1400" b="1" dirty="0">
                  <a:solidFill>
                    <a:schemeClr val="tx1"/>
                  </a:solidFill>
                  <a:latin typeface="微軟正黑體" pitchFamily="34" charset="-120"/>
                  <a:ea typeface="微軟正黑體" pitchFamily="34" charset="-120"/>
                </a:rPr>
                <a:t>回目次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3111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63" r:id="rId5"/>
    <p:sldLayoutId id="2147483652" r:id="rId6"/>
    <p:sldLayoutId id="2147483653" r:id="rId7"/>
    <p:sldLayoutId id="2147483654" r:id="rId8"/>
    <p:sldLayoutId id="2147483669" r:id="rId9"/>
    <p:sldLayoutId id="2147483655" r:id="rId10"/>
    <p:sldLayoutId id="2147483668" r:id="rId11"/>
    <p:sldLayoutId id="2147483661" r:id="rId12"/>
    <p:sldLayoutId id="2147483667" r:id="rId13"/>
    <p:sldLayoutId id="2147483662" r:id="rId14"/>
    <p:sldLayoutId id="2147483666" r:id="rId15"/>
    <p:sldLayoutId id="2147483656" r:id="rId16"/>
    <p:sldLayoutId id="2147483665" r:id="rId17"/>
    <p:sldLayoutId id="2147483657" r:id="rId18"/>
    <p:sldLayoutId id="2147483664" r:id="rId19"/>
    <p:sldLayoutId id="2147483658" r:id="rId20"/>
    <p:sldLayoutId id="2147483659" r:id="rId21"/>
  </p:sldLayoutIdLst>
  <p:txStyles>
    <p:titleStyle>
      <a:lvl1pPr algn="ctr" defTabSz="914356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3" indent="-342883" algn="l" defTabSz="914356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2" indent="-285736" algn="l" defTabSz="914356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3" indent="-228589" algn="l" defTabSz="91435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6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7" indent="-228589" algn="l" defTabSz="914356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6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slide" Target="slide18.xml"/><Relationship Id="rId18" Type="http://schemas.openxmlformats.org/officeDocument/2006/relationships/slide" Target="slide61.xml"/><Relationship Id="rId3" Type="http://schemas.openxmlformats.org/officeDocument/2006/relationships/slide" Target="slide23.xml"/><Relationship Id="rId7" Type="http://schemas.openxmlformats.org/officeDocument/2006/relationships/slide" Target="slide15.xml"/><Relationship Id="rId12" Type="http://schemas.openxmlformats.org/officeDocument/2006/relationships/slide" Target="slide35.xml"/><Relationship Id="rId17" Type="http://schemas.openxmlformats.org/officeDocument/2006/relationships/slide" Target="slide65.xml"/><Relationship Id="rId2" Type="http://schemas.openxmlformats.org/officeDocument/2006/relationships/slide" Target="slide5.xml"/><Relationship Id="rId16" Type="http://schemas.openxmlformats.org/officeDocument/2006/relationships/slide" Target="slide5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slide" Target="slide31.xml"/><Relationship Id="rId5" Type="http://schemas.openxmlformats.org/officeDocument/2006/relationships/slide" Target="slide67.xml"/><Relationship Id="rId15" Type="http://schemas.openxmlformats.org/officeDocument/2006/relationships/slide" Target="slide57.xml"/><Relationship Id="rId10" Type="http://schemas.openxmlformats.org/officeDocument/2006/relationships/slide" Target="slide21.xml"/><Relationship Id="rId4" Type="http://schemas.openxmlformats.org/officeDocument/2006/relationships/slide" Target="slide42.xml"/><Relationship Id="rId9" Type="http://schemas.openxmlformats.org/officeDocument/2006/relationships/image" Target="../media/image10.png"/><Relationship Id="rId14" Type="http://schemas.openxmlformats.org/officeDocument/2006/relationships/slide" Target="slide7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5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8.png"/><Relationship Id="rId5" Type="http://schemas.openxmlformats.org/officeDocument/2006/relationships/image" Target="../media/image57.wmf"/><Relationship Id="rId4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1.png"/><Relationship Id="rId5" Type="http://schemas.openxmlformats.org/officeDocument/2006/relationships/image" Target="../media/image60.wmf"/><Relationship Id="rId4" Type="http://schemas.openxmlformats.org/officeDocument/2006/relationships/oleObject" Target="../embeddings/oleObject11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67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8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68.wmf"/><Relationship Id="rId10" Type="http://schemas.openxmlformats.org/officeDocument/2006/relationships/image" Target="../media/image71.png"/><Relationship Id="rId4" Type="http://schemas.openxmlformats.org/officeDocument/2006/relationships/oleObject" Target="../embeddings/oleObject15.bin"/><Relationship Id="rId9" Type="http://schemas.openxmlformats.org/officeDocument/2006/relationships/image" Target="../media/image7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72.wmf"/><Relationship Id="rId7" Type="http://schemas.openxmlformats.org/officeDocument/2006/relationships/image" Target="../media/image74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73.wmf"/><Relationship Id="rId10" Type="http://schemas.openxmlformats.org/officeDocument/2006/relationships/image" Target="../media/image75.png"/><Relationship Id="rId4" Type="http://schemas.openxmlformats.org/officeDocument/2006/relationships/oleObject" Target="../embeddings/oleObject19.bin"/><Relationship Id="rId9" Type="http://schemas.openxmlformats.org/officeDocument/2006/relationships/image" Target="../media/image69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6.png"/><Relationship Id="rId5" Type="http://schemas.openxmlformats.org/officeDocument/2006/relationships/image" Target="../media/image85.wmf"/><Relationship Id="rId4" Type="http://schemas.openxmlformats.org/officeDocument/2006/relationships/oleObject" Target="../embeddings/oleObject27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1.png"/><Relationship Id="rId4" Type="http://schemas.openxmlformats.org/officeDocument/2006/relationships/image" Target="../media/image90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6.png"/><Relationship Id="rId5" Type="http://schemas.openxmlformats.org/officeDocument/2006/relationships/image" Target="../media/image98.wmf"/><Relationship Id="rId4" Type="http://schemas.openxmlformats.org/officeDocument/2006/relationships/oleObject" Target="../embeddings/oleObject30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1.png"/><Relationship Id="rId4" Type="http://schemas.openxmlformats.org/officeDocument/2006/relationships/image" Target="../media/image100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image" Target="../media/image101.png"/><Relationship Id="rId7" Type="http://schemas.openxmlformats.org/officeDocument/2006/relationships/image" Target="../media/image103.wmf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102.w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104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105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.wmf"/><Relationship Id="rId4" Type="http://schemas.openxmlformats.org/officeDocument/2006/relationships/oleObject" Target="../embeddings/oleObject37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0.png"/><Relationship Id="rId4" Type="http://schemas.openxmlformats.org/officeDocument/2006/relationships/image" Target="../media/image109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3.wmf"/><Relationship Id="rId4" Type="http://schemas.openxmlformats.org/officeDocument/2006/relationships/oleObject" Target="../embeddings/oleObject41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5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118.w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1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2.wmf"/><Relationship Id="rId7" Type="http://schemas.openxmlformats.org/officeDocument/2006/relationships/image" Target="../media/image124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123.wmf"/><Relationship Id="rId4" Type="http://schemas.openxmlformats.org/officeDocument/2006/relationships/oleObject" Target="../embeddings/oleObject49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9.wmf"/><Relationship Id="rId4" Type="http://schemas.openxmlformats.org/officeDocument/2006/relationships/oleObject" Target="../embeddings/oleObject54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2.wmf"/><Relationship Id="rId4" Type="http://schemas.openxmlformats.org/officeDocument/2006/relationships/oleObject" Target="../embeddings/oleObject57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4.wmf"/><Relationship Id="rId4" Type="http://schemas.openxmlformats.org/officeDocument/2006/relationships/oleObject" Target="../embeddings/oleObject5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258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1"/>
          </p:nvPr>
        </p:nvSpPr>
        <p:spPr>
          <a:xfrm>
            <a:off x="2711624" y="4071214"/>
            <a:ext cx="5616624" cy="697839"/>
          </a:xfrm>
        </p:spPr>
        <p:txBody>
          <a:bodyPr/>
          <a:lstStyle/>
          <a:p>
            <a:r>
              <a:rPr lang="en-US" altLang="zh-TW" dirty="0"/>
              <a:t>2-2</a:t>
            </a:r>
            <a:r>
              <a:rPr lang="zh-TW" altLang="en-US" dirty="0"/>
              <a:t>有向角及其度量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407368" y="2459572"/>
            <a:ext cx="5112901" cy="613833"/>
          </a:xfrm>
        </p:spPr>
        <p:txBody>
          <a:bodyPr/>
          <a:lstStyle/>
          <a:p>
            <a:r>
              <a:rPr lang="en-US" altLang="zh-TW" dirty="0"/>
              <a:t>CH2</a:t>
            </a:r>
            <a:r>
              <a:rPr lang="zh-TW" altLang="en-US" dirty="0"/>
              <a:t> 三角函數</a:t>
            </a:r>
          </a:p>
        </p:txBody>
      </p:sp>
    </p:spTree>
    <p:extLst>
      <p:ext uri="{BB962C8B-B14F-4D97-AF65-F5344CB8AC3E}">
        <p14:creationId xmlns:p14="http://schemas.microsoft.com/office/powerpoint/2010/main" val="2521994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492425" y="1074903"/>
            <a:ext cx="38164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b="1" dirty="0">
                <a:latin typeface="微軟正黑體" pitchFamily="34" charset="-120"/>
                <a:ea typeface="微軟正黑體" pitchFamily="34" charset="-120"/>
              </a:rPr>
              <a:t>前 言</a:t>
            </a:r>
            <a:endParaRPr lang="zh-TW" altLang="zh-TW" sz="30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107</a:t>
            </a:r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839417" y="2029904"/>
            <a:ext cx="10983447" cy="2870200"/>
            <a:chOff x="839417" y="2029904"/>
            <a:chExt cx="10983447" cy="2870200"/>
          </a:xfrm>
        </p:grpSpPr>
        <p:grpSp>
          <p:nvGrpSpPr>
            <p:cNvPr id="5" name="群組 4"/>
            <p:cNvGrpSpPr/>
            <p:nvPr/>
          </p:nvGrpSpPr>
          <p:grpSpPr>
            <a:xfrm>
              <a:off x="839417" y="2029904"/>
              <a:ext cx="10513167" cy="2546018"/>
              <a:chOff x="839417" y="2029904"/>
              <a:chExt cx="10513167" cy="2546018"/>
            </a:xfrm>
          </p:grpSpPr>
          <p:sp>
            <p:nvSpPr>
              <p:cNvPr id="7" name="文字方塊 6"/>
              <p:cNvSpPr txBox="1"/>
              <p:nvPr/>
            </p:nvSpPr>
            <p:spPr>
              <a:xfrm>
                <a:off x="839417" y="2029904"/>
                <a:ext cx="10513167" cy="2546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將邊長為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2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的正三角形對折，</a:t>
                </a:r>
                <a:r>
                  <a:rPr lang="zh-TW" altLang="en-US" sz="2800" spc="300">
                    <a:latin typeface="Times New Roman" pitchFamily="18" charset="0"/>
                    <a:ea typeface="微軟正黑體" pitchFamily="34" charset="-120"/>
                  </a:rPr>
                  <a:t>利用畢氏定理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，</a:t>
                </a:r>
                <a:b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</a:b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可以得到正三角形的高為                  ，</a:t>
                </a:r>
                <a:b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</a:b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這個直角三角形的三個邊長關係，如右圖所示。</a:t>
                </a:r>
              </a:p>
            </p:txBody>
          </p:sp>
          <p:graphicFrame>
            <p:nvGraphicFramePr>
              <p:cNvPr id="2" name="物件 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28435239"/>
                  </p:ext>
                </p:extLst>
              </p:nvPr>
            </p:nvGraphicFramePr>
            <p:xfrm>
              <a:off x="5375920" y="3121082"/>
              <a:ext cx="1981200" cy="495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981080" imgH="495000" progId="Equation.DSMT4">
                      <p:embed/>
                    </p:oleObj>
                  </mc:Choice>
                  <mc:Fallback>
                    <p:oleObj name="Equation" r:id="rId2" imgW="1981080" imgH="4950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5375920" y="3121082"/>
                            <a:ext cx="1981200" cy="495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14541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4352" y="2132856"/>
              <a:ext cx="2558512" cy="276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4793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6240016" y="2092157"/>
            <a:ext cx="1980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spc="300" dirty="0">
                <a:solidFill>
                  <a:srgbClr val="FF7C80"/>
                </a:solidFill>
                <a:latin typeface="微軟正黑體" pitchFamily="34" charset="-120"/>
                <a:ea typeface="微軟正黑體" pitchFamily="34" charset="-120"/>
              </a:rPr>
              <a:t>例題選單</a:t>
            </a:r>
          </a:p>
        </p:txBody>
      </p:sp>
      <p:cxnSp>
        <p:nvCxnSpPr>
          <p:cNvPr id="5" name="直線接點 4"/>
          <p:cNvCxnSpPr>
            <a:cxnSpLocks/>
          </p:cNvCxnSpPr>
          <p:nvPr/>
        </p:nvCxnSpPr>
        <p:spPr>
          <a:xfrm>
            <a:off x="6381846" y="2708920"/>
            <a:ext cx="482672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>
            <a:off x="1344744" y="2092157"/>
            <a:ext cx="1980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spc="300" dirty="0">
                <a:solidFill>
                  <a:schemeClr val="accent6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章節選單</a:t>
            </a:r>
          </a:p>
        </p:txBody>
      </p:sp>
      <p:sp>
        <p:nvSpPr>
          <p:cNvPr id="8" name="文字版面配置區 5">
            <a:hlinkClick r:id="rId2" action="ppaction://hlinksldjump"/>
          </p:cNvPr>
          <p:cNvSpPr txBox="1">
            <a:spLocks/>
          </p:cNvSpPr>
          <p:nvPr/>
        </p:nvSpPr>
        <p:spPr bwMode="auto">
          <a:xfrm>
            <a:off x="1373793" y="2720951"/>
            <a:ext cx="4875994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TW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2-2.1</a:t>
            </a:r>
            <a:r>
              <a:rPr lang="zh-TW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銳角的三角函數　</a:t>
            </a:r>
          </a:p>
        </p:txBody>
      </p:sp>
      <p:sp>
        <p:nvSpPr>
          <p:cNvPr id="11" name="文字版面配置區 5">
            <a:hlinkClick r:id="rId3" action="ppaction://hlinksldjump"/>
          </p:cNvPr>
          <p:cNvSpPr txBox="1">
            <a:spLocks/>
          </p:cNvSpPr>
          <p:nvPr/>
        </p:nvSpPr>
        <p:spPr bwMode="auto">
          <a:xfrm>
            <a:off x="1373794" y="3411959"/>
            <a:ext cx="486622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TW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2-2.2</a:t>
            </a:r>
            <a:r>
              <a:rPr lang="zh-TW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特別角的三角函數值</a:t>
            </a:r>
          </a:p>
        </p:txBody>
      </p:sp>
      <p:sp>
        <p:nvSpPr>
          <p:cNvPr id="14" name="文字版面配置區 5">
            <a:hlinkClick r:id="rId4" action="ppaction://hlinksldjump"/>
          </p:cNvPr>
          <p:cNvSpPr txBox="1">
            <a:spLocks/>
          </p:cNvSpPr>
          <p:nvPr/>
        </p:nvSpPr>
        <p:spPr bwMode="auto">
          <a:xfrm>
            <a:off x="1373794" y="4104555"/>
            <a:ext cx="566076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TW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2-2.3</a:t>
            </a:r>
            <a:r>
              <a:rPr lang="zh-TW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三角函數的恆等關係</a:t>
            </a:r>
          </a:p>
        </p:txBody>
      </p:sp>
      <p:sp>
        <p:nvSpPr>
          <p:cNvPr id="17" name="文字版面配置區 5">
            <a:hlinkClick r:id="rId5" action="ppaction://hlinksldjump"/>
          </p:cNvPr>
          <p:cNvSpPr txBox="1">
            <a:spLocks/>
          </p:cNvSpPr>
          <p:nvPr/>
        </p:nvSpPr>
        <p:spPr bwMode="auto">
          <a:xfrm>
            <a:off x="1373794" y="5372447"/>
            <a:ext cx="429015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20000"/>
              </a:spcBef>
              <a:tabLst>
                <a:tab pos="533373" algn="l"/>
              </a:tabLst>
            </a:pPr>
            <a:r>
              <a:rPr lang="zh-TW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習 題</a:t>
            </a:r>
          </a:p>
        </p:txBody>
      </p:sp>
      <p:pic>
        <p:nvPicPr>
          <p:cNvPr id="48" name="圖片 4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400" y="2078838"/>
            <a:ext cx="683891" cy="525896"/>
          </a:xfrm>
          <a:prstGeom prst="rect">
            <a:avLst/>
          </a:prstGeom>
        </p:spPr>
      </p:pic>
      <p:grpSp>
        <p:nvGrpSpPr>
          <p:cNvPr id="51" name="群組 50"/>
          <p:cNvGrpSpPr/>
          <p:nvPr/>
        </p:nvGrpSpPr>
        <p:grpSpPr>
          <a:xfrm>
            <a:off x="6378592" y="2997520"/>
            <a:ext cx="526968" cy="647504"/>
            <a:chOff x="1120262" y="3867894"/>
            <a:chExt cx="526968" cy="647504"/>
          </a:xfrm>
        </p:grpSpPr>
        <p:pic>
          <p:nvPicPr>
            <p:cNvPr id="49" name="圖片 48">
              <a:hlinkClick r:id="rId7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50" name="文字方塊 49">
              <a:hlinkClick r:id="rId7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01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73" name="圖片 7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9319" y="2140962"/>
            <a:ext cx="570468" cy="525600"/>
          </a:xfrm>
          <a:prstGeom prst="rect">
            <a:avLst/>
          </a:prstGeom>
        </p:spPr>
      </p:pic>
      <p:grpSp>
        <p:nvGrpSpPr>
          <p:cNvPr id="74" name="群組 73"/>
          <p:cNvGrpSpPr/>
          <p:nvPr/>
        </p:nvGrpSpPr>
        <p:grpSpPr>
          <a:xfrm>
            <a:off x="7607302" y="2997520"/>
            <a:ext cx="526968" cy="647504"/>
            <a:chOff x="1120262" y="3867894"/>
            <a:chExt cx="526968" cy="647504"/>
          </a:xfrm>
        </p:grpSpPr>
        <p:pic>
          <p:nvPicPr>
            <p:cNvPr id="75" name="圖片 74">
              <a:hlinkClick r:id="rId10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76" name="文字方塊 75">
              <a:hlinkClick r:id="rId10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03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群組 76"/>
          <p:cNvGrpSpPr/>
          <p:nvPr/>
        </p:nvGrpSpPr>
        <p:grpSpPr>
          <a:xfrm>
            <a:off x="8220045" y="2997520"/>
            <a:ext cx="526968" cy="647504"/>
            <a:chOff x="1120262" y="3867894"/>
            <a:chExt cx="526968" cy="647504"/>
          </a:xfrm>
        </p:grpSpPr>
        <p:pic>
          <p:nvPicPr>
            <p:cNvPr id="78" name="圖片 77">
              <a:hlinkClick r:id="rId11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79" name="文字方塊 78">
              <a:hlinkClick r:id="rId11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04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0" name="群組 79"/>
          <p:cNvGrpSpPr/>
          <p:nvPr/>
        </p:nvGrpSpPr>
        <p:grpSpPr>
          <a:xfrm>
            <a:off x="8832786" y="2997520"/>
            <a:ext cx="526968" cy="647504"/>
            <a:chOff x="1120262" y="3867894"/>
            <a:chExt cx="526968" cy="647504"/>
          </a:xfrm>
        </p:grpSpPr>
        <p:pic>
          <p:nvPicPr>
            <p:cNvPr id="81" name="圖片 80">
              <a:hlinkClick r:id="rId12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82" name="文字方塊 81">
              <a:hlinkClick r:id="rId12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05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3" name="群組 82"/>
          <p:cNvGrpSpPr/>
          <p:nvPr/>
        </p:nvGrpSpPr>
        <p:grpSpPr>
          <a:xfrm>
            <a:off x="6992947" y="2997520"/>
            <a:ext cx="526968" cy="647504"/>
            <a:chOff x="1120262" y="3867894"/>
            <a:chExt cx="526968" cy="647504"/>
          </a:xfrm>
        </p:grpSpPr>
        <p:pic>
          <p:nvPicPr>
            <p:cNvPr id="84" name="圖片 83">
              <a:hlinkClick r:id="rId13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85" name="文字方塊 84">
              <a:hlinkClick r:id="rId13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02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6" name="群組 85"/>
          <p:cNvGrpSpPr/>
          <p:nvPr/>
        </p:nvGrpSpPr>
        <p:grpSpPr>
          <a:xfrm>
            <a:off x="9442301" y="2997520"/>
            <a:ext cx="526968" cy="647504"/>
            <a:chOff x="1120262" y="3867894"/>
            <a:chExt cx="526968" cy="647504"/>
          </a:xfrm>
        </p:grpSpPr>
        <p:pic>
          <p:nvPicPr>
            <p:cNvPr id="87" name="圖片 86">
              <a:hlinkClick r:id="rId14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88" name="文字方塊 87">
              <a:hlinkClick r:id="rId14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06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9" name="群組 88"/>
          <p:cNvGrpSpPr/>
          <p:nvPr/>
        </p:nvGrpSpPr>
        <p:grpSpPr>
          <a:xfrm>
            <a:off x="10055044" y="2997520"/>
            <a:ext cx="526968" cy="647504"/>
            <a:chOff x="1120262" y="3867894"/>
            <a:chExt cx="526968" cy="647504"/>
          </a:xfrm>
        </p:grpSpPr>
        <p:pic>
          <p:nvPicPr>
            <p:cNvPr id="90" name="圖片 89">
              <a:hlinkClick r:id="rId15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91" name="文字方塊 90">
              <a:hlinkClick r:id="rId15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07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2" name="群組 91"/>
          <p:cNvGrpSpPr/>
          <p:nvPr/>
        </p:nvGrpSpPr>
        <p:grpSpPr>
          <a:xfrm>
            <a:off x="10667785" y="2997520"/>
            <a:ext cx="526968" cy="647504"/>
            <a:chOff x="1120262" y="3867894"/>
            <a:chExt cx="526968" cy="647504"/>
          </a:xfrm>
        </p:grpSpPr>
        <p:pic>
          <p:nvPicPr>
            <p:cNvPr id="93" name="圖片 92">
              <a:hlinkClick r:id="rId16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94" name="文字方塊 93">
              <a:hlinkClick r:id="rId16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08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57DFF68C-7E46-403B-B0EB-6A1BDA4C3656}"/>
              </a:ext>
            </a:extLst>
          </p:cNvPr>
          <p:cNvGrpSpPr/>
          <p:nvPr/>
        </p:nvGrpSpPr>
        <p:grpSpPr>
          <a:xfrm>
            <a:off x="6378592" y="3780803"/>
            <a:ext cx="526968" cy="647504"/>
            <a:chOff x="1120262" y="3867894"/>
            <a:chExt cx="526968" cy="647504"/>
          </a:xfrm>
        </p:grpSpPr>
        <p:pic>
          <p:nvPicPr>
            <p:cNvPr id="39" name="圖片 38">
              <a:hlinkClick r:id="rId17" action="ppaction://hlinksldjump"/>
              <a:extLst>
                <a:ext uri="{FF2B5EF4-FFF2-40B4-BE49-F238E27FC236}">
                  <a16:creationId xmlns:a16="http://schemas.microsoft.com/office/drawing/2014/main" id="{7BA000A6-270F-4233-BE7C-BF48AEAA2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40" name="文字方塊 39">
              <a:hlinkClick r:id="rId17" action="ppaction://hlinksldjump"/>
              <a:extLst>
                <a:ext uri="{FF2B5EF4-FFF2-40B4-BE49-F238E27FC236}">
                  <a16:creationId xmlns:a16="http://schemas.microsoft.com/office/drawing/2014/main" id="{0681D72D-3E4E-4516-82BE-C9DF226A4479}"/>
                </a:ext>
              </a:extLst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09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文字版面配置區 5">
            <a:hlinkClick r:id="rId18" action="ppaction://hlinksldjump"/>
          </p:cNvPr>
          <p:cNvSpPr txBox="1">
            <a:spLocks/>
          </p:cNvSpPr>
          <p:nvPr/>
        </p:nvSpPr>
        <p:spPr bwMode="auto">
          <a:xfrm>
            <a:off x="1371342" y="4725144"/>
            <a:ext cx="566076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TW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2-2.4</a:t>
            </a:r>
            <a:r>
              <a:rPr lang="zh-TW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三角恆等式</a:t>
            </a:r>
          </a:p>
        </p:txBody>
      </p:sp>
    </p:spTree>
    <p:extLst>
      <p:ext uri="{BB962C8B-B14F-4D97-AF65-F5344CB8AC3E}">
        <p14:creationId xmlns:p14="http://schemas.microsoft.com/office/powerpoint/2010/main" val="151996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1" grpId="0"/>
      <p:bldP spid="14" grpId="0"/>
      <p:bldP spid="17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>
          <a:xfrm>
            <a:off x="2174858" y="3813047"/>
            <a:ext cx="5175284" cy="697839"/>
          </a:xfrm>
        </p:spPr>
        <p:txBody>
          <a:bodyPr/>
          <a:lstStyle/>
          <a:p>
            <a:r>
              <a:rPr lang="en-US" altLang="zh-TW" dirty="0"/>
              <a:t>2-2.1</a:t>
            </a:r>
            <a:r>
              <a:rPr lang="zh-TW" altLang="en-US" dirty="0"/>
              <a:t> 銳角的三角函數</a:t>
            </a:r>
          </a:p>
        </p:txBody>
      </p:sp>
    </p:spTree>
    <p:extLst>
      <p:ext uri="{BB962C8B-B14F-4D97-AF65-F5344CB8AC3E}">
        <p14:creationId xmlns:p14="http://schemas.microsoft.com/office/powerpoint/2010/main" val="80728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517650" y="1029136"/>
            <a:ext cx="78187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微軟正黑體" pitchFamily="34" charset="-120"/>
                <a:ea typeface="微軟正黑體" pitchFamily="34" charset="-120"/>
              </a:rPr>
              <a:t>2-2.1</a:t>
            </a:r>
            <a:r>
              <a:rPr lang="zh-TW" altLang="en-US" sz="3000" b="1" dirty="0">
                <a:latin typeface="微軟正黑體" pitchFamily="34" charset="-120"/>
                <a:ea typeface="微軟正黑體" pitchFamily="34" charset="-120"/>
              </a:rPr>
              <a:t> 銳角的三角函數　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107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947428" y="2132856"/>
            <a:ext cx="10297144" cy="3539430"/>
            <a:chOff x="947428" y="2132856"/>
            <a:chExt cx="10297144" cy="3539430"/>
          </a:xfrm>
        </p:grpSpPr>
        <p:sp>
          <p:nvSpPr>
            <p:cNvPr id="7" name="文字方塊 6"/>
            <p:cNvSpPr txBox="1"/>
            <p:nvPr/>
          </p:nvSpPr>
          <p:spPr>
            <a:xfrm>
              <a:off x="947428" y="2132856"/>
              <a:ext cx="10297144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在右圖直角</a:t>
              </a:r>
              <a:r>
                <a:rPr lang="zh-TW" altLang="en-US" sz="2800" dirty="0">
                  <a:latin typeface="+mj-ea"/>
                  <a:ea typeface="+mj-ea"/>
                </a:rPr>
                <a:t>△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中，      為斜邊，      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稱為∠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的對邊，        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稱為∠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的鄰邊。若在右圖的兩個直角三角形中，∠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= ∠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P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，</a:t>
              </a:r>
              <a:b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則由國中所學三角形相似關係，可知</a:t>
              </a:r>
              <a:r>
                <a:rPr lang="zh-TW" altLang="en-US" sz="2800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△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～</a:t>
              </a:r>
              <a:r>
                <a:rPr lang="zh-TW" altLang="en-US" sz="2800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△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PQR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，且利用對應邊成比例，可得：</a:t>
              </a:r>
            </a:p>
          </p:txBody>
        </p:sp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2435062"/>
                </p:ext>
              </p:extLst>
            </p:nvPr>
          </p:nvGraphicFramePr>
          <p:xfrm>
            <a:off x="4573588" y="2505075"/>
            <a:ext cx="5080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07960" imgH="393480" progId="Equation.DSMT4">
                    <p:embed/>
                  </p:oleObj>
                </mc:Choice>
                <mc:Fallback>
                  <p:oleObj name="Equation" r:id="rId2" imgW="50796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573588" y="2505075"/>
                          <a:ext cx="5080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物件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7738180"/>
                </p:ext>
              </p:extLst>
            </p:nvPr>
          </p:nvGraphicFramePr>
          <p:xfrm>
            <a:off x="6583363" y="2498725"/>
            <a:ext cx="520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20560" imgH="406080" progId="Equation.DSMT4">
                    <p:embed/>
                  </p:oleObj>
                </mc:Choice>
                <mc:Fallback>
                  <p:oleObj name="Equation" r:id="rId4" imgW="5205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583363" y="2498725"/>
                          <a:ext cx="5207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物件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0913860"/>
                </p:ext>
              </p:extLst>
            </p:nvPr>
          </p:nvGraphicFramePr>
          <p:xfrm>
            <a:off x="10086975" y="2505075"/>
            <a:ext cx="546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45760" imgH="406080" progId="Equation.DSMT4">
                    <p:embed/>
                  </p:oleObj>
                </mc:Choice>
                <mc:Fallback>
                  <p:oleObj name="Equation" r:id="rId6" imgW="5457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086975" y="2505075"/>
                          <a:ext cx="546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6710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107</a:t>
            </a:r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803412" y="1844824"/>
            <a:ext cx="11022846" cy="3517900"/>
            <a:chOff x="617538" y="2336317"/>
            <a:chExt cx="11022846" cy="3517900"/>
          </a:xfrm>
        </p:grpSpPr>
        <p:pic>
          <p:nvPicPr>
            <p:cNvPr id="11" name="Picture 5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462" t="59603" r="9651"/>
            <a:stretch/>
          </p:blipFill>
          <p:spPr bwMode="auto">
            <a:xfrm>
              <a:off x="8616048" y="3056397"/>
              <a:ext cx="3024336" cy="2641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0383457"/>
                </p:ext>
              </p:extLst>
            </p:nvPr>
          </p:nvGraphicFramePr>
          <p:xfrm>
            <a:off x="617538" y="2336317"/>
            <a:ext cx="3467100" cy="3517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466800" imgH="3517560" progId="Equation.DSMT4">
                    <p:embed/>
                  </p:oleObj>
                </mc:Choice>
                <mc:Fallback>
                  <p:oleObj name="Equation" r:id="rId3" imgW="3466800" imgH="3517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17538" y="2336317"/>
                          <a:ext cx="3467100" cy="3517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47461" name="Picture 5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25" r="9564" b="46630"/>
            <a:stretch/>
          </p:blipFill>
          <p:spPr bwMode="auto">
            <a:xfrm>
              <a:off x="4469966" y="2701716"/>
              <a:ext cx="3960440" cy="2787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8256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108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947428" y="1228397"/>
            <a:ext cx="102971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事實上，在任何的直角三角形中，只要其中一個銳角與∠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A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相等，上面這些邊長的比值，也都會相等。同理，這些邊長比值的倒數，也都會相等。因此這些直角三角形的邊長比（稱為直角三角比），只會隨著角度而變化，這樣的「角度」對應到「邊長比」的關係，我們稱之為</a:t>
            </a:r>
            <a:r>
              <a:rPr lang="zh-TW" altLang="en-US" sz="2800" b="1" dirty="0">
                <a:solidFill>
                  <a:srgbClr val="0070C0"/>
                </a:solidFill>
                <a:latin typeface="Times New Roman" pitchFamily="18" charset="0"/>
                <a:ea typeface="微軟正黑體" pitchFamily="34" charset="-120"/>
              </a:rPr>
              <a:t>銳角的三角函數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，其定義如下：</a:t>
            </a:r>
          </a:p>
        </p:txBody>
      </p:sp>
    </p:spTree>
    <p:extLst>
      <p:ext uri="{BB962C8B-B14F-4D97-AF65-F5344CB8AC3E}">
        <p14:creationId xmlns:p14="http://schemas.microsoft.com/office/powerpoint/2010/main" val="87278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/>
              <a:t>銳角三角函數的定義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108</a:t>
            </a:r>
            <a:endParaRPr lang="zh-TW" alt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551384" y="1268760"/>
            <a:ext cx="11089232" cy="4064503"/>
            <a:chOff x="551384" y="1268760"/>
            <a:chExt cx="11089232" cy="4064503"/>
          </a:xfrm>
        </p:grpSpPr>
        <p:sp>
          <p:nvSpPr>
            <p:cNvPr id="6" name="文字方塊 5"/>
            <p:cNvSpPr txBox="1"/>
            <p:nvPr/>
          </p:nvSpPr>
          <p:spPr>
            <a:xfrm>
              <a:off x="623392" y="1268760"/>
              <a:ext cx="11017224" cy="1307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在直角三角形中，角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的斜邊為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r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，對邊為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y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，鄰邊為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，</a:t>
              </a:r>
              <a:b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角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的六個三角函數值如下：</a:t>
              </a:r>
            </a:p>
          </p:txBody>
        </p:sp>
        <p:pic>
          <p:nvPicPr>
            <p:cNvPr id="148482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DEAEA"/>
                </a:clrFrom>
                <a:clrTo>
                  <a:srgbClr val="FDEAE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384" y="2888711"/>
              <a:ext cx="8320000" cy="2444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8483" name="Picture 3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DEAEA"/>
                </a:clrFrom>
                <a:clrTo>
                  <a:srgbClr val="FDEAE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76956" y="2407347"/>
              <a:ext cx="2563660" cy="2925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8263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108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947428" y="1844824"/>
            <a:ext cx="10297144" cy="3407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在上面的定義中， 我們不難發現，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sin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與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cos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與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sec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tan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與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cot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互為倒數，因此同學在記憶的時候，只需牢記前三個函數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sin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cos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tan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的運算，再利用倒數關係，即可得到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sec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與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cot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的三角函數值。</a:t>
            </a:r>
          </a:p>
        </p:txBody>
      </p:sp>
    </p:spTree>
    <p:extLst>
      <p:ext uri="{BB962C8B-B14F-4D97-AF65-F5344CB8AC3E}">
        <p14:creationId xmlns:p14="http://schemas.microsoft.com/office/powerpoint/2010/main" val="1302504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108</a:t>
            </a:r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CEC3511A-0E52-42DB-88DB-C61856EF2BA2}"/>
              </a:ext>
            </a:extLst>
          </p:cNvPr>
          <p:cNvGrpSpPr/>
          <p:nvPr/>
        </p:nvGrpSpPr>
        <p:grpSpPr>
          <a:xfrm>
            <a:off x="695400" y="1570808"/>
            <a:ext cx="10801200" cy="4103396"/>
            <a:chOff x="695400" y="1570808"/>
            <a:chExt cx="10801200" cy="4103396"/>
          </a:xfrm>
        </p:grpSpPr>
        <p:grpSp>
          <p:nvGrpSpPr>
            <p:cNvPr id="10" name="群組 9"/>
            <p:cNvGrpSpPr/>
            <p:nvPr/>
          </p:nvGrpSpPr>
          <p:grpSpPr>
            <a:xfrm>
              <a:off x="695400" y="1570808"/>
              <a:ext cx="10801200" cy="4103396"/>
              <a:chOff x="564410" y="1411132"/>
              <a:chExt cx="10801199" cy="4103394"/>
            </a:xfrm>
          </p:grpSpPr>
          <p:grpSp>
            <p:nvGrpSpPr>
              <p:cNvPr id="7" name="群組 6"/>
              <p:cNvGrpSpPr/>
              <p:nvPr/>
            </p:nvGrpSpPr>
            <p:grpSpPr>
              <a:xfrm>
                <a:off x="564410" y="1411132"/>
                <a:ext cx="10801199" cy="3890921"/>
                <a:chOff x="768964" y="1136811"/>
                <a:chExt cx="10801199" cy="3890921"/>
              </a:xfrm>
            </p:grpSpPr>
            <p:pic>
              <p:nvPicPr>
                <p:cNvPr id="6" name="圖片 5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8964" y="1619621"/>
                  <a:ext cx="10801199" cy="3408111"/>
                </a:xfrm>
                <a:prstGeom prst="rect">
                  <a:avLst/>
                </a:prstGeom>
              </p:spPr>
            </p:pic>
            <p:pic>
              <p:nvPicPr>
                <p:cNvPr id="5" name="圖片 4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89529" y="1156346"/>
                  <a:ext cx="2751743" cy="463276"/>
                </a:xfrm>
                <a:prstGeom prst="rect">
                  <a:avLst/>
                </a:prstGeom>
              </p:spPr>
            </p:pic>
            <p:pic>
              <p:nvPicPr>
                <p:cNvPr id="3" name="圖片 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84988" y="1136811"/>
                  <a:ext cx="1501458" cy="502347"/>
                </a:xfrm>
                <a:prstGeom prst="rect">
                  <a:avLst/>
                </a:prstGeom>
              </p:spPr>
            </p:pic>
          </p:grpSp>
          <p:sp>
            <p:nvSpPr>
              <p:cNvPr id="16" name="文字方塊 15"/>
              <p:cNvSpPr txBox="1"/>
              <p:nvPr/>
            </p:nvSpPr>
            <p:spPr>
              <a:xfrm>
                <a:off x="1212482" y="2106415"/>
                <a:ext cx="4248472" cy="340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sin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唸作「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sine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」。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cos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唸作「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cosine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」。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tan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唸作「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tangent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」。</a:t>
                </a:r>
              </a:p>
              <a:p>
                <a:pPr>
                  <a:lnSpc>
                    <a:spcPct val="200000"/>
                  </a:lnSpc>
                </a:pPr>
                <a:endParaRPr lang="zh-TW" altLang="en-US" sz="2800" spc="300" dirty="0">
                  <a:latin typeface="Times New Roman" pitchFamily="18" charset="0"/>
                  <a:ea typeface="微軟正黑體" pitchFamily="34" charset="-120"/>
                </a:endParaRPr>
              </a:p>
            </p:txBody>
          </p:sp>
        </p:grp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DC9C61C-1AF2-48A0-AC01-5FA8413C7AED}"/>
                </a:ext>
              </a:extLst>
            </p:cNvPr>
            <p:cNvSpPr/>
            <p:nvPr/>
          </p:nvSpPr>
          <p:spPr>
            <a:xfrm>
              <a:off x="6384032" y="2266091"/>
              <a:ext cx="4680520" cy="25543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200000"/>
                </a:lnSpc>
              </a:pPr>
              <a:r>
                <a:rPr lang="en-US" altLang="zh-TW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cot </a:t>
              </a:r>
              <a:r>
                <a:rPr lang="zh-TW" altLang="en-US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唸作「</a:t>
              </a:r>
              <a:r>
                <a:rPr lang="en-US" altLang="zh-TW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cotangent</a:t>
              </a:r>
              <a:r>
                <a:rPr lang="zh-TW" altLang="en-US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」。</a:t>
              </a:r>
            </a:p>
            <a:p>
              <a:pPr lvl="0">
                <a:lnSpc>
                  <a:spcPct val="200000"/>
                </a:lnSpc>
              </a:pPr>
              <a:r>
                <a:rPr lang="en-US" altLang="zh-TW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sec </a:t>
              </a:r>
              <a:r>
                <a:rPr lang="zh-TW" altLang="en-US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唸作「</a:t>
              </a:r>
              <a:r>
                <a:rPr lang="en-US" altLang="zh-TW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secant</a:t>
              </a:r>
              <a:r>
                <a:rPr lang="zh-TW" altLang="en-US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」。</a:t>
              </a:r>
            </a:p>
            <a:p>
              <a:pPr lvl="0">
                <a:lnSpc>
                  <a:spcPct val="200000"/>
                </a:lnSpc>
              </a:pPr>
              <a:r>
                <a:rPr lang="en-US" altLang="zh-TW" sz="2800" spc="300" dirty="0" err="1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csc</a:t>
              </a:r>
              <a:r>
                <a:rPr lang="en-US" altLang="zh-TW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唸作「</a:t>
              </a:r>
              <a:r>
                <a:rPr lang="en-US" altLang="zh-TW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cosecant</a:t>
              </a:r>
              <a:r>
                <a:rPr lang="zh-TW" altLang="en-US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」。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9012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/>
              <a:t>銳角三角函數的記憶法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109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2423592" y="1753489"/>
            <a:ext cx="7658278" cy="3430484"/>
            <a:chOff x="3168341" y="2431254"/>
            <a:chExt cx="7658278" cy="3430484"/>
          </a:xfrm>
        </p:grpSpPr>
        <p:pic>
          <p:nvPicPr>
            <p:cNvPr id="149508" name="Picture 4"/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DEAEA"/>
                </a:clrFrom>
                <a:clrTo>
                  <a:srgbClr val="FDEAE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422"/>
            <a:stretch/>
          </p:blipFill>
          <p:spPr bwMode="auto">
            <a:xfrm>
              <a:off x="7226219" y="2431254"/>
              <a:ext cx="3600400" cy="3430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9692394"/>
                </p:ext>
              </p:extLst>
            </p:nvPr>
          </p:nvGraphicFramePr>
          <p:xfrm>
            <a:off x="3168341" y="4540211"/>
            <a:ext cx="2413000" cy="939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412720" imgH="939600" progId="Equation.DSMT4">
                    <p:embed/>
                  </p:oleObj>
                </mc:Choice>
                <mc:Fallback>
                  <p:oleObj name="Equation" r:id="rId3" imgW="241272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68341" y="4540211"/>
                          <a:ext cx="2413000" cy="939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物件 8">
              <a:extLst>
                <a:ext uri="{FF2B5EF4-FFF2-40B4-BE49-F238E27FC236}">
                  <a16:creationId xmlns:a16="http://schemas.microsoft.com/office/drawing/2014/main" id="{CF454EDB-8202-433F-B055-424E1A25D3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4744901"/>
                </p:ext>
              </p:extLst>
            </p:nvPr>
          </p:nvGraphicFramePr>
          <p:xfrm>
            <a:off x="3181041" y="3074045"/>
            <a:ext cx="2400300" cy="889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400120" imgH="888840" progId="Equation.DSMT4">
                    <p:embed/>
                  </p:oleObj>
                </mc:Choice>
                <mc:Fallback>
                  <p:oleObj name="Equation" r:id="rId5" imgW="2400120" imgH="888840" progId="Equation.DSMT4">
                    <p:embed/>
                    <p:pic>
                      <p:nvPicPr>
                        <p:cNvPr id="4" name="物件 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81041" y="3074045"/>
                          <a:ext cx="2400300" cy="889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946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/>
              <a:t>銳角三角函數的記憶法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109</a:t>
            </a:r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2F4CF166-A9E3-4611-965D-6F7160C7AE9A}"/>
              </a:ext>
            </a:extLst>
          </p:cNvPr>
          <p:cNvGrpSpPr/>
          <p:nvPr/>
        </p:nvGrpSpPr>
        <p:grpSpPr>
          <a:xfrm>
            <a:off x="2430463" y="2097147"/>
            <a:ext cx="7481961" cy="3132053"/>
            <a:chOff x="2430463" y="2097147"/>
            <a:chExt cx="7481961" cy="3132053"/>
          </a:xfrm>
        </p:grpSpPr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CA3D467F-D0B2-48FD-AABC-002638AD283A}"/>
                </a:ext>
              </a:extLst>
            </p:cNvPr>
            <p:cNvGrpSpPr/>
            <p:nvPr/>
          </p:nvGrpSpPr>
          <p:grpSpPr>
            <a:xfrm>
              <a:off x="2430463" y="2395538"/>
              <a:ext cx="2413000" cy="2381250"/>
              <a:chOff x="3175212" y="3073303"/>
              <a:chExt cx="2413000" cy="2381250"/>
            </a:xfrm>
          </p:grpSpPr>
          <p:graphicFrame>
            <p:nvGraphicFramePr>
              <p:cNvPr id="12" name="物件 11">
                <a:extLst>
                  <a:ext uri="{FF2B5EF4-FFF2-40B4-BE49-F238E27FC236}">
                    <a16:creationId xmlns:a16="http://schemas.microsoft.com/office/drawing/2014/main" id="{1D6268F6-6856-4AE5-9382-768DA060AF3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29334708"/>
                  </p:ext>
                </p:extLst>
              </p:nvPr>
            </p:nvGraphicFramePr>
            <p:xfrm>
              <a:off x="3175212" y="4565553"/>
              <a:ext cx="2400300" cy="889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400120" imgH="888840" progId="Equation.DSMT4">
                      <p:embed/>
                    </p:oleObj>
                  </mc:Choice>
                  <mc:Fallback>
                    <p:oleObj name="Equation" r:id="rId2" imgW="2400120" imgH="888840" progId="Equation.DSMT4">
                      <p:embed/>
                      <p:pic>
                        <p:nvPicPr>
                          <p:cNvPr id="4" name="物件 3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3175212" y="4565553"/>
                            <a:ext cx="2400300" cy="889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" name="物件 12">
                <a:extLst>
                  <a:ext uri="{FF2B5EF4-FFF2-40B4-BE49-F238E27FC236}">
                    <a16:creationId xmlns:a16="http://schemas.microsoft.com/office/drawing/2014/main" id="{4BD75D9F-B14E-45FA-8407-24732AE8FF9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80045104"/>
                  </p:ext>
                </p:extLst>
              </p:nvPr>
            </p:nvGraphicFramePr>
            <p:xfrm>
              <a:off x="3175212" y="3073303"/>
              <a:ext cx="2413000" cy="889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412720" imgH="888840" progId="Equation.DSMT4">
                      <p:embed/>
                    </p:oleObj>
                  </mc:Choice>
                  <mc:Fallback>
                    <p:oleObj name="Equation" r:id="rId4" imgW="2412720" imgH="888840" progId="Equation.DSMT4">
                      <p:embed/>
                      <p:pic>
                        <p:nvPicPr>
                          <p:cNvPr id="9" name="物件 8">
                            <a:extLst>
                              <a:ext uri="{FF2B5EF4-FFF2-40B4-BE49-F238E27FC236}">
                                <a16:creationId xmlns:a16="http://schemas.microsoft.com/office/drawing/2014/main" id="{CF454EDB-8202-433F-B055-424E1A25D34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3175212" y="3073303"/>
                            <a:ext cx="2413000" cy="889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6C049096-BDAC-48BA-A23D-C8F0CC0219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clrChange>
                <a:clrFrom>
                  <a:srgbClr val="FDEAEA"/>
                </a:clrFrom>
                <a:clrTo>
                  <a:srgbClr val="FDEAE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083"/>
            <a:stretch/>
          </p:blipFill>
          <p:spPr bwMode="auto">
            <a:xfrm>
              <a:off x="6534245" y="2097147"/>
              <a:ext cx="3378179" cy="31320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777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/>
              <a:t>銳角三角函數的記憶法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109</a:t>
            </a:r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71AF6AD8-4B9A-48FA-AA3E-9C66A13B1D49}"/>
              </a:ext>
            </a:extLst>
          </p:cNvPr>
          <p:cNvGrpSpPr/>
          <p:nvPr/>
        </p:nvGrpSpPr>
        <p:grpSpPr>
          <a:xfrm>
            <a:off x="2405063" y="2074256"/>
            <a:ext cx="7579369" cy="3132053"/>
            <a:chOff x="2405063" y="2074256"/>
            <a:chExt cx="7579369" cy="3132053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FA541D72-41D1-4860-A622-67872584464B}"/>
                </a:ext>
              </a:extLst>
            </p:cNvPr>
            <p:cNvGrpSpPr/>
            <p:nvPr/>
          </p:nvGrpSpPr>
          <p:grpSpPr>
            <a:xfrm>
              <a:off x="2405063" y="2395538"/>
              <a:ext cx="2463800" cy="2406650"/>
              <a:chOff x="3149812" y="3073303"/>
              <a:chExt cx="2463800" cy="2406650"/>
            </a:xfrm>
          </p:grpSpPr>
          <p:graphicFrame>
            <p:nvGraphicFramePr>
              <p:cNvPr id="19" name="物件 18">
                <a:extLst>
                  <a:ext uri="{FF2B5EF4-FFF2-40B4-BE49-F238E27FC236}">
                    <a16:creationId xmlns:a16="http://schemas.microsoft.com/office/drawing/2014/main" id="{77ACD217-6607-4562-BD71-E6B5BDDE4F4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69614516"/>
                  </p:ext>
                </p:extLst>
              </p:nvPr>
            </p:nvGraphicFramePr>
            <p:xfrm>
              <a:off x="3168862" y="4540153"/>
              <a:ext cx="2413000" cy="939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412720" imgH="939600" progId="Equation.DSMT4">
                      <p:embed/>
                    </p:oleObj>
                  </mc:Choice>
                  <mc:Fallback>
                    <p:oleObj name="Equation" r:id="rId2" imgW="2412720" imgH="939600" progId="Equation.DSMT4">
                      <p:embed/>
                      <p:pic>
                        <p:nvPicPr>
                          <p:cNvPr id="14" name="物件 13">
                            <a:extLst>
                              <a:ext uri="{FF2B5EF4-FFF2-40B4-BE49-F238E27FC236}">
                                <a16:creationId xmlns:a16="http://schemas.microsoft.com/office/drawing/2014/main" id="{22AC8EA5-E39A-4ED2-86B0-655B647900D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3168862" y="4540153"/>
                            <a:ext cx="2413000" cy="939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物件 19">
                <a:extLst>
                  <a:ext uri="{FF2B5EF4-FFF2-40B4-BE49-F238E27FC236}">
                    <a16:creationId xmlns:a16="http://schemas.microsoft.com/office/drawing/2014/main" id="{69AA9C8B-7A9D-4C9D-98AE-5CD83FF8E07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89619719"/>
                  </p:ext>
                </p:extLst>
              </p:nvPr>
            </p:nvGraphicFramePr>
            <p:xfrm>
              <a:off x="3149812" y="3073303"/>
              <a:ext cx="2463800" cy="889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463480" imgH="888840" progId="Equation.DSMT4">
                      <p:embed/>
                    </p:oleObj>
                  </mc:Choice>
                  <mc:Fallback>
                    <p:oleObj name="Equation" r:id="rId4" imgW="2463480" imgH="888840" progId="Equation.DSMT4">
                      <p:embed/>
                      <p:pic>
                        <p:nvPicPr>
                          <p:cNvPr id="15" name="物件 14">
                            <a:extLst>
                              <a:ext uri="{FF2B5EF4-FFF2-40B4-BE49-F238E27FC236}">
                                <a16:creationId xmlns:a16="http://schemas.microsoft.com/office/drawing/2014/main" id="{E2BF547F-2E22-45E4-B22E-963DA81233A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3149812" y="3073303"/>
                            <a:ext cx="2463800" cy="889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572989A3-6339-40F3-B83D-4777D0AA1E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clrChange>
                <a:clrFrom>
                  <a:srgbClr val="FDEAEA"/>
                </a:clrFrom>
                <a:clrTo>
                  <a:srgbClr val="FDEAE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771"/>
            <a:stretch/>
          </p:blipFill>
          <p:spPr bwMode="auto">
            <a:xfrm>
              <a:off x="6384032" y="2074256"/>
              <a:ext cx="3600400" cy="31320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3205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/>
              <a:t>01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109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631504" y="508346"/>
            <a:ext cx="9937104" cy="5010177"/>
            <a:chOff x="1631504" y="508346"/>
            <a:chExt cx="9937104" cy="5010177"/>
          </a:xfrm>
        </p:grpSpPr>
        <p:sp>
          <p:nvSpPr>
            <p:cNvPr id="18" name="文字方塊 17"/>
            <p:cNvSpPr txBox="1"/>
            <p:nvPr/>
          </p:nvSpPr>
          <p:spPr>
            <a:xfrm>
              <a:off x="1631504" y="508346"/>
              <a:ext cx="9937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在下列各直角三角形中，求出∠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的六個三角函數值。</a:t>
              </a:r>
            </a:p>
          </p:txBody>
        </p:sp>
        <p:pic>
          <p:nvPicPr>
            <p:cNvPr id="152578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C7EBFC"/>
                </a:clrFrom>
                <a:clrTo>
                  <a:srgbClr val="C7EB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1592" y="1412776"/>
              <a:ext cx="7990639" cy="41057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3634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110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/>
              <a:t>01</a:t>
            </a:r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69CC3B73-8761-4D0A-97CC-33F6EADBC0DB}"/>
              </a:ext>
            </a:extLst>
          </p:cNvPr>
          <p:cNvGrpSpPr/>
          <p:nvPr/>
        </p:nvGrpSpPr>
        <p:grpSpPr>
          <a:xfrm>
            <a:off x="1631504" y="508346"/>
            <a:ext cx="8712968" cy="5010177"/>
            <a:chOff x="1631504" y="508346"/>
            <a:chExt cx="8712968" cy="5010177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4C805559-F5D9-47F8-BB9C-AA835809077E}"/>
                </a:ext>
              </a:extLst>
            </p:cNvPr>
            <p:cNvSpPr txBox="1"/>
            <p:nvPr/>
          </p:nvSpPr>
          <p:spPr>
            <a:xfrm>
              <a:off x="1631504" y="508346"/>
              <a:ext cx="8712968" cy="662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試求出例題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1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各小題中，∠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B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的六個三角函數值。</a:t>
              </a:r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CD6104E3-7B6B-47C9-94E1-2B8CDB5903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C7EBFC"/>
                </a:clrFrom>
                <a:clrTo>
                  <a:srgbClr val="C7EB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1592" y="1412776"/>
              <a:ext cx="7990639" cy="41057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9097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/>
          <p:cNvSpPr txBox="1"/>
          <p:nvPr/>
        </p:nvSpPr>
        <p:spPr>
          <a:xfrm>
            <a:off x="1512583" y="2708920"/>
            <a:ext cx="9130208" cy="1307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常見的直角三角形三邊長有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(3, 4, 5)</a:t>
            </a: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(5, 12, 13)</a:t>
            </a: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(7, 24, 25)</a:t>
            </a: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(8, 15, 17) </a:t>
            </a: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等。</a:t>
            </a:r>
          </a:p>
        </p:txBody>
      </p:sp>
      <p:sp>
        <p:nvSpPr>
          <p:cNvPr id="14" name="內容版面配置區 1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417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111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646519" y="508346"/>
            <a:ext cx="9145016" cy="1492514"/>
            <a:chOff x="1646519" y="508346"/>
            <a:chExt cx="9145016" cy="1492514"/>
          </a:xfrm>
        </p:grpSpPr>
        <p:sp>
          <p:nvSpPr>
            <p:cNvPr id="18" name="文字方塊 17"/>
            <p:cNvSpPr txBox="1"/>
            <p:nvPr/>
          </p:nvSpPr>
          <p:spPr>
            <a:xfrm>
              <a:off x="1646519" y="508346"/>
              <a:ext cx="9145016" cy="1308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已知直角三角形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中，∠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為直角，</a:t>
              </a:r>
              <a:b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且              ，求∠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其餘各三角函數值。</a:t>
              </a:r>
            </a:p>
          </p:txBody>
        </p:sp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5232371"/>
                </p:ext>
              </p:extLst>
            </p:nvPr>
          </p:nvGraphicFramePr>
          <p:xfrm>
            <a:off x="2351584" y="1162660"/>
            <a:ext cx="14986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498320" imgH="838080" progId="Equation.DSMT4">
                    <p:embed/>
                  </p:oleObj>
                </mc:Choice>
                <mc:Fallback>
                  <p:oleObj name="Equation" r:id="rId2" imgW="149832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351584" y="1162660"/>
                          <a:ext cx="14986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6ADC59DC-0397-2B35-3B7E-407850456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200" y="1844824"/>
            <a:ext cx="3639627" cy="378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111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grpSp>
        <p:nvGrpSpPr>
          <p:cNvPr id="15" name="群組 14"/>
          <p:cNvGrpSpPr/>
          <p:nvPr/>
        </p:nvGrpSpPr>
        <p:grpSpPr>
          <a:xfrm>
            <a:off x="1646519" y="508346"/>
            <a:ext cx="9145016" cy="1492514"/>
            <a:chOff x="1646519" y="508346"/>
            <a:chExt cx="9145016" cy="1492514"/>
          </a:xfrm>
        </p:grpSpPr>
        <p:sp>
          <p:nvSpPr>
            <p:cNvPr id="16" name="文字方塊 15"/>
            <p:cNvSpPr txBox="1"/>
            <p:nvPr/>
          </p:nvSpPr>
          <p:spPr>
            <a:xfrm>
              <a:off x="1646519" y="508346"/>
              <a:ext cx="9145016" cy="1308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已知直角三角形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中，∠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為直角，</a:t>
              </a:r>
              <a:b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且              ，求∠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其餘各三角函數值。</a:t>
              </a:r>
            </a:p>
          </p:txBody>
        </p:sp>
        <p:graphicFrame>
          <p:nvGraphicFramePr>
            <p:cNvPr id="17" name="物件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0821347"/>
                </p:ext>
              </p:extLst>
            </p:nvPr>
          </p:nvGraphicFramePr>
          <p:xfrm>
            <a:off x="2351584" y="1162660"/>
            <a:ext cx="14986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498320" imgH="838080" progId="Equation.DSMT4">
                    <p:embed/>
                  </p:oleObj>
                </mc:Choice>
                <mc:Fallback>
                  <p:oleObj name="Equation" r:id="rId2" imgW="149832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351584" y="1162660"/>
                          <a:ext cx="14986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群組 13"/>
          <p:cNvGrpSpPr/>
          <p:nvPr/>
        </p:nvGrpSpPr>
        <p:grpSpPr>
          <a:xfrm>
            <a:off x="551384" y="2132856"/>
            <a:ext cx="10801200" cy="3743477"/>
            <a:chOff x="420394" y="381034"/>
            <a:chExt cx="10801199" cy="3743476"/>
          </a:xfrm>
        </p:grpSpPr>
        <p:grpSp>
          <p:nvGrpSpPr>
            <p:cNvPr id="18" name="群組 17"/>
            <p:cNvGrpSpPr/>
            <p:nvPr/>
          </p:nvGrpSpPr>
          <p:grpSpPr>
            <a:xfrm>
              <a:off x="420394" y="381034"/>
              <a:ext cx="10801199" cy="3743476"/>
              <a:chOff x="624948" y="106713"/>
              <a:chExt cx="10801199" cy="3743476"/>
            </a:xfrm>
          </p:grpSpPr>
          <p:pic>
            <p:nvPicPr>
              <p:cNvPr id="21" name="圖片 2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4948" y="591325"/>
                <a:ext cx="10801199" cy="3258864"/>
              </a:xfrm>
              <a:prstGeom prst="rect">
                <a:avLst/>
              </a:prstGeom>
            </p:spPr>
          </p:pic>
          <p:pic>
            <p:nvPicPr>
              <p:cNvPr id="22" name="圖片 2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4948" y="128050"/>
                <a:ext cx="2751743" cy="463276"/>
              </a:xfrm>
              <a:prstGeom prst="rect">
                <a:avLst/>
              </a:prstGeom>
            </p:spPr>
          </p:pic>
          <p:pic>
            <p:nvPicPr>
              <p:cNvPr id="23" name="圖片 2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14856" y="106713"/>
                <a:ext cx="1501458" cy="502347"/>
              </a:xfrm>
              <a:prstGeom prst="rect">
                <a:avLst/>
              </a:prstGeom>
            </p:spPr>
          </p:pic>
        </p:grpSp>
        <p:sp>
          <p:nvSpPr>
            <p:cNvPr id="20" name="文字方塊 19"/>
            <p:cNvSpPr txBox="1"/>
            <p:nvPr/>
          </p:nvSpPr>
          <p:spPr>
            <a:xfrm>
              <a:off x="910302" y="1173122"/>
              <a:ext cx="10009111" cy="2546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在計算的過程中，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k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會被消掉， 有時我們為了方便計算，會將邊長直接寫成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5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、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12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、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13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，但同學應該要知道這些邊長其實是比例關係。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104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111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663028" y="508346"/>
            <a:ext cx="9145016" cy="1531540"/>
            <a:chOff x="1663028" y="508346"/>
            <a:chExt cx="9145016" cy="1531540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0AEB0BDB-0556-4992-8128-FCF36117F061}"/>
                </a:ext>
              </a:extLst>
            </p:cNvPr>
            <p:cNvSpPr txBox="1"/>
            <p:nvPr/>
          </p:nvSpPr>
          <p:spPr>
            <a:xfrm>
              <a:off x="1663028" y="508346"/>
              <a:ext cx="914501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已知直角三角形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中，∠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= 90°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，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且                 ，求∠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其餘各三角函數值。</a:t>
              </a:r>
            </a:p>
          </p:txBody>
        </p:sp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3256680"/>
                </p:ext>
              </p:extLst>
            </p:nvPr>
          </p:nvGraphicFramePr>
          <p:xfrm>
            <a:off x="2495600" y="1201686"/>
            <a:ext cx="15367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36480" imgH="838080" progId="Equation.DSMT4">
                    <p:embed/>
                  </p:oleObj>
                </mc:Choice>
                <mc:Fallback>
                  <p:oleObj name="Equation" r:id="rId2" imgW="153648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495600" y="1201686"/>
                          <a:ext cx="15367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997F1C5-C383-7DFC-62E7-4BE584DE8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235762"/>
            <a:ext cx="2111896" cy="3695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737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 dirty="0"/>
              <a:t>03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112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850622" y="116632"/>
            <a:ext cx="9573970" cy="1684244"/>
            <a:chOff x="1850622" y="116632"/>
            <a:chExt cx="9573970" cy="1684244"/>
          </a:xfrm>
        </p:grpSpPr>
        <p:sp>
          <p:nvSpPr>
            <p:cNvPr id="21" name="文字方塊 20"/>
            <p:cNvSpPr txBox="1"/>
            <p:nvPr/>
          </p:nvSpPr>
          <p:spPr>
            <a:xfrm>
              <a:off x="1850622" y="116632"/>
              <a:ext cx="9573970" cy="1684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直角三角形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中，∠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為直角，且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20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若              ，求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、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tan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、   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與       之長。</a:t>
              </a:r>
            </a:p>
          </p:txBody>
        </p: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5245730"/>
                </p:ext>
              </p:extLst>
            </p:nvPr>
          </p:nvGraphicFramePr>
          <p:xfrm>
            <a:off x="8596313" y="236538"/>
            <a:ext cx="13208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20480" imgH="838080" progId="Equation.DSMT4">
                    <p:embed/>
                  </p:oleObj>
                </mc:Choice>
                <mc:Fallback>
                  <p:oleObj name="Equation" r:id="rId2" imgW="132048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596313" y="236538"/>
                          <a:ext cx="13208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7452122"/>
                </p:ext>
              </p:extLst>
            </p:nvPr>
          </p:nvGraphicFramePr>
          <p:xfrm>
            <a:off x="2567608" y="1309688"/>
            <a:ext cx="11684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68200" imgH="406080" progId="Equation.DSMT4">
                    <p:embed/>
                  </p:oleObj>
                </mc:Choice>
                <mc:Fallback>
                  <p:oleObj name="Equation" r:id="rId4" imgW="11682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567608" y="1309688"/>
                          <a:ext cx="11684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物件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8598069"/>
                </p:ext>
              </p:extLst>
            </p:nvPr>
          </p:nvGraphicFramePr>
          <p:xfrm>
            <a:off x="7532266" y="1340768"/>
            <a:ext cx="520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20560" imgH="406080" progId="Equation.DSMT4">
                    <p:embed/>
                  </p:oleObj>
                </mc:Choice>
                <mc:Fallback>
                  <p:oleObj name="Equation" r:id="rId6" imgW="5205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7532266" y="1340768"/>
                          <a:ext cx="5207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物件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51738"/>
                </p:ext>
              </p:extLst>
            </p:nvPr>
          </p:nvGraphicFramePr>
          <p:xfrm>
            <a:off x="8671546" y="1341438"/>
            <a:ext cx="546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45760" imgH="406080" progId="Equation.DSMT4">
                    <p:embed/>
                  </p:oleObj>
                </mc:Choice>
                <mc:Fallback>
                  <p:oleObj name="Equation" r:id="rId8" imgW="5457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8671546" y="1341438"/>
                          <a:ext cx="546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9" name="圖片 8">
            <a:extLst>
              <a:ext uri="{FF2B5EF4-FFF2-40B4-BE49-F238E27FC236}">
                <a16:creationId xmlns:a16="http://schemas.microsoft.com/office/drawing/2014/main" id="{96C6C415-7C29-992C-3FBA-7FD51520B2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6200" y="2256913"/>
            <a:ext cx="3615241" cy="371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73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112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03</a:t>
            </a:r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1703512" y="90600"/>
            <a:ext cx="9823045" cy="1684244"/>
            <a:chOff x="1889578" y="100950"/>
            <a:chExt cx="9823045" cy="1684244"/>
          </a:xfrm>
        </p:grpSpPr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7958235"/>
                </p:ext>
              </p:extLst>
            </p:nvPr>
          </p:nvGraphicFramePr>
          <p:xfrm>
            <a:off x="2495600" y="1268760"/>
            <a:ext cx="12573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57120" imgH="406080" progId="Equation.DSMT4">
                    <p:embed/>
                  </p:oleObj>
                </mc:Choice>
                <mc:Fallback>
                  <p:oleObj name="Equation" r:id="rId2" imgW="125712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495600" y="1268760"/>
                          <a:ext cx="12573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" name="群組 3"/>
            <p:cNvGrpSpPr/>
            <p:nvPr/>
          </p:nvGrpSpPr>
          <p:grpSpPr>
            <a:xfrm>
              <a:off x="1889578" y="100950"/>
              <a:ext cx="9823045" cy="1684244"/>
              <a:chOff x="1889578" y="100950"/>
              <a:chExt cx="9823045" cy="1684244"/>
            </a:xfrm>
          </p:grpSpPr>
          <p:sp>
            <p:nvSpPr>
              <p:cNvPr id="28" name="文字方塊 27"/>
              <p:cNvSpPr txBox="1"/>
              <p:nvPr/>
            </p:nvSpPr>
            <p:spPr>
              <a:xfrm>
                <a:off x="1889578" y="100950"/>
                <a:ext cx="9823045" cy="1684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直角三角形</a:t>
                </a:r>
                <a:r>
                  <a:rPr lang="en-US" altLang="zh-TW" sz="2800" i="1" spc="300" dirty="0">
                    <a:latin typeface="Times New Roman" pitchFamily="18" charset="0"/>
                    <a:ea typeface="微軟正黑體" pitchFamily="34" charset="-120"/>
                  </a:rPr>
                  <a:t>ABC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中，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∠ </a:t>
                </a:r>
                <a:r>
                  <a:rPr lang="en-US" altLang="zh-TW" sz="2800" i="1" spc="300" dirty="0">
                    <a:latin typeface="Times New Roman" pitchFamily="18" charset="0"/>
                    <a:ea typeface="微軟正黑體" pitchFamily="34" charset="-120"/>
                  </a:rPr>
                  <a:t>C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 = 90°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，且                 ，</a:t>
                </a:r>
                <a:b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</a:b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若             ，求 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tan </a:t>
                </a:r>
                <a:r>
                  <a:rPr lang="en-US" altLang="zh-TW" sz="2800" i="1" spc="300" dirty="0">
                    <a:latin typeface="Times New Roman" pitchFamily="18" charset="0"/>
                    <a:ea typeface="微軟正黑體" pitchFamily="34" charset="-120"/>
                  </a:rPr>
                  <a:t>A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、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sec </a:t>
                </a:r>
                <a:r>
                  <a:rPr lang="en-US" altLang="zh-TW" sz="2800" i="1" spc="300" dirty="0">
                    <a:latin typeface="Times New Roman" pitchFamily="18" charset="0"/>
                    <a:ea typeface="微軟正黑體" pitchFamily="34" charset="-120"/>
                  </a:rPr>
                  <a:t>A</a:t>
                </a:r>
                <a:r>
                  <a:rPr lang="zh-TW" altLang="en-US" sz="2800" i="1" spc="300" dirty="0">
                    <a:latin typeface="Times New Roman" pitchFamily="18" charset="0"/>
                    <a:ea typeface="微軟正黑體" pitchFamily="34" charset="-120"/>
                  </a:rPr>
                  <a:t>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、      與      之長。</a:t>
                </a:r>
              </a:p>
            </p:txBody>
          </p:sp>
          <p:graphicFrame>
            <p:nvGraphicFramePr>
              <p:cNvPr id="3" name="物件 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8073233"/>
                  </p:ext>
                </p:extLst>
              </p:nvPr>
            </p:nvGraphicFramePr>
            <p:xfrm>
              <a:off x="8472264" y="260648"/>
              <a:ext cx="1498600" cy="838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498320" imgH="838080" progId="Equation.DSMT4">
                      <p:embed/>
                    </p:oleObj>
                  </mc:Choice>
                  <mc:Fallback>
                    <p:oleObj name="Equation" r:id="rId4" imgW="1498320" imgH="8380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8472264" y="260648"/>
                            <a:ext cx="1498600" cy="838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物件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01019680"/>
                  </p:ext>
                </p:extLst>
              </p:nvPr>
            </p:nvGraphicFramePr>
            <p:xfrm>
              <a:off x="7896200" y="1275110"/>
              <a:ext cx="508000" cy="393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507960" imgH="393480" progId="Equation.DSMT4">
                      <p:embed/>
                    </p:oleObj>
                  </mc:Choice>
                  <mc:Fallback>
                    <p:oleObj name="Equation" r:id="rId6" imgW="507960" imgH="393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7896200" y="1275110"/>
                            <a:ext cx="508000" cy="393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物件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38129363"/>
                  </p:ext>
                </p:extLst>
              </p:nvPr>
            </p:nvGraphicFramePr>
            <p:xfrm>
              <a:off x="9042523" y="1268760"/>
              <a:ext cx="520700" cy="406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520560" imgH="406080" progId="Equation.DSMT4">
                      <p:embed/>
                    </p:oleObj>
                  </mc:Choice>
                  <mc:Fallback>
                    <p:oleObj name="Equation" r:id="rId8" imgW="520560" imgH="4060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9042523" y="1268760"/>
                            <a:ext cx="520700" cy="406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97AD69DE-F1C8-8B5C-4C55-9785006C19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8677" y="2564904"/>
            <a:ext cx="2391109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2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>
          <a:xfrm>
            <a:off x="1703512" y="3813047"/>
            <a:ext cx="6120680" cy="697839"/>
          </a:xfrm>
        </p:spPr>
        <p:txBody>
          <a:bodyPr/>
          <a:lstStyle/>
          <a:p>
            <a:r>
              <a:rPr lang="en-US" altLang="zh-TW" dirty="0"/>
              <a:t>2</a:t>
            </a:r>
            <a:r>
              <a:rPr lang="en-US" altLang="zh-TW" spc="300" dirty="0"/>
              <a:t>-2.2</a:t>
            </a:r>
            <a:r>
              <a:rPr lang="zh-TW" altLang="en-US" dirty="0"/>
              <a:t>特別角的三角函數值</a:t>
            </a:r>
          </a:p>
        </p:txBody>
      </p:sp>
    </p:spTree>
    <p:extLst>
      <p:ext uri="{BB962C8B-B14F-4D97-AF65-F5344CB8AC3E}">
        <p14:creationId xmlns:p14="http://schemas.microsoft.com/office/powerpoint/2010/main" val="1181274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517650" y="1029136"/>
            <a:ext cx="78187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微軟正黑體" pitchFamily="34" charset="-120"/>
                <a:ea typeface="微軟正黑體" pitchFamily="34" charset="-120"/>
              </a:rPr>
              <a:t>2-2.2</a:t>
            </a:r>
            <a:r>
              <a:rPr lang="zh-TW" altLang="en-US" sz="3000" b="1" dirty="0">
                <a:latin typeface="微軟正黑體" pitchFamily="34" charset="-120"/>
                <a:ea typeface="微軟正黑體" pitchFamily="34" charset="-120"/>
              </a:rPr>
              <a:t>特別角的三角函數值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113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959042" y="1764099"/>
            <a:ext cx="102971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三角函數常應用於物理及工程上，其中常見的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30°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45°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  <a:br>
              <a:rPr lang="en-US" altLang="zh-TW" sz="2800" dirty="0">
                <a:latin typeface="Times New Roman" pitchFamily="18" charset="0"/>
                <a:ea typeface="微軟正黑體" pitchFamily="34" charset="-120"/>
              </a:rPr>
            </a:b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我們稱為特別角。</a:t>
            </a:r>
          </a:p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在這一小節的開始， 我們曾經將邊長為 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2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的正三角形對折， 可以得到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30°-60°-90°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的直角三角形三個邊長關係，如下圖所示。可得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30°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與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60°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的六個三角函數值：</a:t>
            </a:r>
          </a:p>
        </p:txBody>
      </p:sp>
    </p:spTree>
    <p:extLst>
      <p:ext uri="{BB962C8B-B14F-4D97-AF65-F5344CB8AC3E}">
        <p14:creationId xmlns:p14="http://schemas.microsoft.com/office/powerpoint/2010/main" val="44646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113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767408" y="1617886"/>
            <a:ext cx="10806711" cy="3622228"/>
            <a:chOff x="767408" y="1988840"/>
            <a:chExt cx="10806711" cy="3622228"/>
          </a:xfrm>
        </p:grpSpPr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8217833"/>
                </p:ext>
              </p:extLst>
            </p:nvPr>
          </p:nvGraphicFramePr>
          <p:xfrm>
            <a:off x="767408" y="2420888"/>
            <a:ext cx="4292600" cy="292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292280" imgH="2920680" progId="Equation.DSMT4">
                    <p:embed/>
                  </p:oleObj>
                </mc:Choice>
                <mc:Fallback>
                  <p:oleObj name="Equation" r:id="rId2" imgW="4292280" imgH="2920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67408" y="2420888"/>
                          <a:ext cx="4292600" cy="292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6793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5960" y="2420888"/>
              <a:ext cx="3380391" cy="3052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7939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7190" y="1988840"/>
              <a:ext cx="2356929" cy="3622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780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113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376238" y="1617886"/>
            <a:ext cx="11197881" cy="3622228"/>
            <a:chOff x="376238" y="1988840"/>
            <a:chExt cx="11197881" cy="3622228"/>
          </a:xfrm>
        </p:grpSpPr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2480563"/>
                </p:ext>
              </p:extLst>
            </p:nvPr>
          </p:nvGraphicFramePr>
          <p:xfrm>
            <a:off x="376238" y="2574925"/>
            <a:ext cx="5346700" cy="292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346360" imgH="2920680" progId="Equation.DSMT4">
                    <p:embed/>
                  </p:oleObj>
                </mc:Choice>
                <mc:Fallback>
                  <p:oleObj name="Equation" r:id="rId2" imgW="5346360" imgH="2920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76238" y="2574925"/>
                          <a:ext cx="5346700" cy="292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6793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5960" y="2420888"/>
              <a:ext cx="3380391" cy="3052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7939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7190" y="1988840"/>
              <a:ext cx="2356929" cy="3622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3924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113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767408" y="1628800"/>
            <a:ext cx="10886291" cy="3600400"/>
            <a:chOff x="959042" y="1988840"/>
            <a:chExt cx="10886291" cy="3600400"/>
          </a:xfrm>
        </p:grpSpPr>
        <p:pic>
          <p:nvPicPr>
            <p:cNvPr id="16896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48328" y="1988840"/>
              <a:ext cx="2797005" cy="3600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文字方塊 6"/>
            <p:cNvSpPr txBox="1"/>
            <p:nvPr/>
          </p:nvSpPr>
          <p:spPr>
            <a:xfrm>
              <a:off x="959042" y="2348880"/>
              <a:ext cx="10297144" cy="2546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此外，在常見的等腰直角三角形中，若兩股長皆為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1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，</a:t>
              </a:r>
              <a:b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根據畢氏定理可得斜邊                                  。</a:t>
              </a:r>
              <a:endParaRPr lang="en-US" altLang="zh-TW" sz="28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20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此時由下圖，可推得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45°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的六個三角函數值：</a:t>
              </a:r>
            </a:p>
          </p:txBody>
        </p:sp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0378494"/>
                </p:ext>
              </p:extLst>
            </p:nvPr>
          </p:nvGraphicFramePr>
          <p:xfrm>
            <a:off x="4843964" y="3429000"/>
            <a:ext cx="252730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527200" imgH="545760" progId="Equation.DSMT4">
                    <p:embed/>
                  </p:oleObj>
                </mc:Choice>
                <mc:Fallback>
                  <p:oleObj name="Equation" r:id="rId3" imgW="2527200" imgH="5457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43964" y="3429000"/>
                          <a:ext cx="2527300" cy="546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3480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113</a:t>
            </a:r>
            <a:endParaRPr lang="zh-TW" altLang="en-US" dirty="0"/>
          </a:p>
        </p:txBody>
      </p:sp>
      <p:grpSp>
        <p:nvGrpSpPr>
          <p:cNvPr id="8" name="群組 7"/>
          <p:cNvGrpSpPr/>
          <p:nvPr/>
        </p:nvGrpSpPr>
        <p:grpSpPr>
          <a:xfrm>
            <a:off x="1145107" y="1196752"/>
            <a:ext cx="10412194" cy="4990767"/>
            <a:chOff x="1145107" y="1196752"/>
            <a:chExt cx="10412194" cy="4990767"/>
          </a:xfrm>
        </p:grpSpPr>
        <p:pic>
          <p:nvPicPr>
            <p:cNvPr id="16896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0176" y="1196752"/>
              <a:ext cx="3877125" cy="4990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6202383"/>
                </p:ext>
              </p:extLst>
            </p:nvPr>
          </p:nvGraphicFramePr>
          <p:xfrm>
            <a:off x="1145107" y="2447535"/>
            <a:ext cx="5168900" cy="2489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168880" imgH="2489040" progId="Equation.DSMT4">
                    <p:embed/>
                  </p:oleObj>
                </mc:Choice>
                <mc:Fallback>
                  <p:oleObj name="Equation" r:id="rId3" imgW="5168880" imgH="248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45107" y="2447535"/>
                          <a:ext cx="5168900" cy="2489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8609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113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1517972" y="2521059"/>
            <a:ext cx="9042524" cy="168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我們將常用的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30°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45°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60°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的三角函數值整理如下表，</a:t>
            </a:r>
            <a:br>
              <a:rPr lang="en-US" altLang="zh-TW" sz="2800" dirty="0">
                <a:latin typeface="Times New Roman" pitchFamily="18" charset="0"/>
                <a:ea typeface="微軟正黑體" pitchFamily="34" charset="-120"/>
              </a:rPr>
            </a:b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方便同學記憶與使用：</a:t>
            </a:r>
          </a:p>
        </p:txBody>
      </p:sp>
    </p:spTree>
    <p:extLst>
      <p:ext uri="{BB962C8B-B14F-4D97-AF65-F5344CB8AC3E}">
        <p14:creationId xmlns:p14="http://schemas.microsoft.com/office/powerpoint/2010/main" val="133152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114</a:t>
            </a:r>
            <a:endParaRPr lang="zh-TW" altLang="en-US" dirty="0"/>
          </a:p>
        </p:txBody>
      </p:sp>
      <p:pic>
        <p:nvPicPr>
          <p:cNvPr id="169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13" y="548680"/>
            <a:ext cx="11058574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107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 dirty="0"/>
              <a:t>04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114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788622" y="404664"/>
            <a:ext cx="7187697" cy="1953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試求下列各式之值：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(1) sin 30° - cos 60° + tan 45°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(2) 2 sin2 45° + cot 30° 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60°</a:t>
            </a:r>
            <a:endParaRPr lang="zh-TW" altLang="en-US" sz="2800" dirty="0">
              <a:latin typeface="Times New Roman" pitchFamily="18" charset="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773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114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04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1788622" y="404664"/>
            <a:ext cx="7187697" cy="1953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試求下列各式之值：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(1) sin 30° - cos 60° + tan 45°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(2) 2 sin2 45° + cot 30° 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60°</a:t>
            </a:r>
            <a:endParaRPr lang="zh-TW" altLang="en-US" sz="2800" dirty="0">
              <a:latin typeface="Times New Roman" pitchFamily="18" charset="0"/>
              <a:ea typeface="微軟正黑體" pitchFamily="34" charset="-120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79376" y="3429000"/>
            <a:ext cx="10801200" cy="2228345"/>
            <a:chOff x="420394" y="381034"/>
            <a:chExt cx="10801199" cy="2228344"/>
          </a:xfrm>
        </p:grpSpPr>
        <p:grpSp>
          <p:nvGrpSpPr>
            <p:cNvPr id="15" name="群組 14"/>
            <p:cNvGrpSpPr/>
            <p:nvPr/>
          </p:nvGrpSpPr>
          <p:grpSpPr>
            <a:xfrm>
              <a:off x="420394" y="381034"/>
              <a:ext cx="10801199" cy="2228344"/>
              <a:chOff x="624948" y="106713"/>
              <a:chExt cx="10801199" cy="2228344"/>
            </a:xfrm>
          </p:grpSpPr>
          <p:pic>
            <p:nvPicPr>
              <p:cNvPr id="19" name="圖片 1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4948" y="591325"/>
                <a:ext cx="10801199" cy="1743732"/>
              </a:xfrm>
              <a:prstGeom prst="rect">
                <a:avLst/>
              </a:prstGeom>
            </p:spPr>
          </p:pic>
          <p:pic>
            <p:nvPicPr>
              <p:cNvPr id="20" name="圖片 1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4948" y="128050"/>
                <a:ext cx="2751743" cy="463276"/>
              </a:xfrm>
              <a:prstGeom prst="rect">
                <a:avLst/>
              </a:prstGeom>
            </p:spPr>
          </p:pic>
          <p:pic>
            <p:nvPicPr>
              <p:cNvPr id="22" name="圖片 2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14856" y="106713"/>
                <a:ext cx="1501458" cy="502347"/>
              </a:xfrm>
              <a:prstGeom prst="rect">
                <a:avLst/>
              </a:prstGeom>
            </p:spPr>
          </p:pic>
        </p:grpSp>
        <p:sp>
          <p:nvSpPr>
            <p:cNvPr id="18" name="文字方塊 17"/>
            <p:cNvSpPr txBox="1"/>
            <p:nvPr/>
          </p:nvSpPr>
          <p:spPr>
            <a:xfrm>
              <a:off x="636418" y="1220131"/>
              <a:ext cx="1000911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sin</a:t>
              </a:r>
              <a:r>
                <a:rPr lang="en-US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是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)</a:t>
              </a:r>
              <a:r>
                <a:rPr lang="el-GR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的簡寫，即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sin</a:t>
              </a:r>
              <a:r>
                <a:rPr lang="en-US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45° = (sin 45°)</a:t>
              </a:r>
              <a:r>
                <a:rPr lang="en-US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160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114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04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788622" y="404664"/>
            <a:ext cx="7187697" cy="2350368"/>
            <a:chOff x="1788622" y="404664"/>
            <a:chExt cx="7187697" cy="2350368"/>
          </a:xfrm>
        </p:grpSpPr>
        <p:sp>
          <p:nvSpPr>
            <p:cNvPr id="7" name="文字方塊 6"/>
            <p:cNvSpPr txBox="1"/>
            <p:nvPr/>
          </p:nvSpPr>
          <p:spPr>
            <a:xfrm>
              <a:off x="1788622" y="404664"/>
              <a:ext cx="7187697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試求下列各式之值：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(1) 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(2)</a:t>
              </a:r>
              <a:endParaRPr lang="zh-TW" altLang="en-US" sz="2800" dirty="0">
                <a:latin typeface="Times New Roman" pitchFamily="18" charset="0"/>
                <a:ea typeface="微軟正黑體" pitchFamily="34" charset="-120"/>
              </a:endParaRPr>
            </a:p>
          </p:txBody>
        </p: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9404394"/>
                </p:ext>
              </p:extLst>
            </p:nvPr>
          </p:nvGraphicFramePr>
          <p:xfrm>
            <a:off x="2567608" y="1198076"/>
            <a:ext cx="42926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292280" imgH="444240" progId="Equation.DSMT4">
                    <p:embed/>
                  </p:oleObj>
                </mc:Choice>
                <mc:Fallback>
                  <p:oleObj name="Equation" r:id="rId2" imgW="429228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567608" y="1198076"/>
                          <a:ext cx="42926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物件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8855372"/>
                </p:ext>
              </p:extLst>
            </p:nvPr>
          </p:nvGraphicFramePr>
          <p:xfrm>
            <a:off x="2567608" y="1916832"/>
            <a:ext cx="34163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416040" imgH="838080" progId="Equation.DSMT4">
                    <p:embed/>
                  </p:oleObj>
                </mc:Choice>
                <mc:Fallback>
                  <p:oleObj name="Equation" r:id="rId4" imgW="341604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567608" y="1916832"/>
                          <a:ext cx="34163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04AA3FDB-6260-589A-2E86-206DA20E63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1733" y="404664"/>
            <a:ext cx="3365284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2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517650" y="1029136"/>
            <a:ext cx="78187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微軟正黑體" pitchFamily="34" charset="-120"/>
                <a:ea typeface="微軟正黑體" pitchFamily="34" charset="-120"/>
              </a:rPr>
              <a:t>2-2.2</a:t>
            </a:r>
            <a:r>
              <a:rPr lang="zh-TW" altLang="en-US" sz="3000" b="1" dirty="0">
                <a:latin typeface="微軟正黑體" pitchFamily="34" charset="-120"/>
                <a:ea typeface="微軟正黑體" pitchFamily="34" charset="-120"/>
              </a:rPr>
              <a:t>特別角的三角函數值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115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789299" y="2492896"/>
            <a:ext cx="10985264" cy="2546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在日常生活中，我們不見得每次都會碰到像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30°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45°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這樣的特別角，若遇到非特別角，如何運用計算機或手機來進行操作，</a:t>
            </a:r>
            <a:br>
              <a:rPr lang="en-US" altLang="zh-TW" sz="2800" dirty="0">
                <a:latin typeface="Times New Roman" pitchFamily="18" charset="0"/>
                <a:ea typeface="微軟正黑體" pitchFamily="34" charset="-120"/>
              </a:rPr>
            </a:b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請參閱附錄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9249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115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631504" y="260648"/>
            <a:ext cx="9721080" cy="4157877"/>
            <a:chOff x="1631504" y="621391"/>
            <a:chExt cx="9721080" cy="4157877"/>
          </a:xfrm>
        </p:grpSpPr>
        <p:sp>
          <p:nvSpPr>
            <p:cNvPr id="11" name="文字方塊 10"/>
            <p:cNvSpPr txBox="1"/>
            <p:nvPr/>
          </p:nvSpPr>
          <p:spPr>
            <a:xfrm>
              <a:off x="1631504" y="621391"/>
              <a:ext cx="9721080" cy="1953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根據內政部營建署對於無障礙坡道的規定，室內坡道坡度應小於八分之一（如下圖所示）。換句話說，室內坡道與地面的夾角大約要小於多少度？（四捨五入至小數點後第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3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位）</a:t>
              </a:r>
            </a:p>
          </p:txBody>
        </p:sp>
        <p:pic>
          <p:nvPicPr>
            <p:cNvPr id="34064" name="Picture 27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C7EBFC"/>
                </a:clrFrom>
                <a:clrTo>
                  <a:srgbClr val="C7EB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1504" y="3140968"/>
              <a:ext cx="8002588" cy="163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5773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115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110" y="2677874"/>
            <a:ext cx="619364" cy="59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文字方塊 31"/>
          <p:cNvSpPr txBox="1"/>
          <p:nvPr/>
        </p:nvSpPr>
        <p:spPr>
          <a:xfrm>
            <a:off x="1991544" y="404664"/>
            <a:ext cx="88438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(1) iOS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系統：先按下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baseline="300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nd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的按鍵切換函數，此時會出現下圖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(a)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的畫面，輸入「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1 ÷ 8 =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」，再按下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tan</a:t>
            </a:r>
            <a:r>
              <a:rPr lang="en-US" altLang="zh-TW" sz="2800" baseline="300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-1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的按鍵，即可由三角函數值，反推求角度約為</a:t>
            </a:r>
            <a:r>
              <a:rPr lang="en-US" altLang="zh-TW" sz="2800" dirty="0">
                <a:solidFill>
                  <a:srgbClr val="FF0000"/>
                </a:solidFill>
                <a:latin typeface="Times New Roman" pitchFamily="18" charset="0"/>
                <a:ea typeface="微軟正黑體" pitchFamily="34" charset="-120"/>
              </a:rPr>
              <a:t>7.125°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，如下圖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(b)</a:t>
            </a:r>
            <a:endParaRPr lang="zh-TW" altLang="en-US" sz="2800" dirty="0">
              <a:solidFill>
                <a:srgbClr val="0000FF"/>
              </a:solidFill>
              <a:latin typeface="Times New Roman" pitchFamily="18" charset="0"/>
              <a:ea typeface="微軟正黑體" pitchFamily="34" charset="-120"/>
            </a:endParaRPr>
          </a:p>
        </p:txBody>
      </p:sp>
      <p:pic>
        <p:nvPicPr>
          <p:cNvPr id="1761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2492896"/>
            <a:ext cx="8797827" cy="329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897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115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110" y="2677874"/>
            <a:ext cx="619364" cy="59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群組 4"/>
          <p:cNvGrpSpPr/>
          <p:nvPr/>
        </p:nvGrpSpPr>
        <p:grpSpPr>
          <a:xfrm>
            <a:off x="1991544" y="404664"/>
            <a:ext cx="9361040" cy="2031325"/>
            <a:chOff x="1991544" y="404664"/>
            <a:chExt cx="9361040" cy="2031325"/>
          </a:xfrm>
        </p:grpSpPr>
        <p:sp>
          <p:nvSpPr>
            <p:cNvPr id="32" name="文字方塊 31"/>
            <p:cNvSpPr txBox="1"/>
            <p:nvPr/>
          </p:nvSpPr>
          <p:spPr>
            <a:xfrm>
              <a:off x="1991544" y="404664"/>
              <a:ext cx="936104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(2) Android </a:t>
              </a:r>
              <a:r>
                <a:rPr lang="zh-TW" altLang="en-US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系統：先按下       </a:t>
              </a: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baseline="300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nd</a:t>
              </a: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的按鍵切換函數，此時會出現下圖</a:t>
              </a: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(a)</a:t>
              </a:r>
              <a:r>
                <a:rPr lang="zh-TW" altLang="en-US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的畫面，按下</a:t>
              </a: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tan</a:t>
              </a:r>
              <a:r>
                <a:rPr lang="en-US" altLang="zh-TW" sz="2800" baseline="300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-1</a:t>
              </a: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的按鍵，輸入「</a:t>
              </a: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1 ÷ 8 = </a:t>
              </a:r>
              <a:r>
                <a:rPr lang="zh-TW" altLang="en-US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」，即可反推求角度約為</a:t>
              </a:r>
              <a:r>
                <a:rPr lang="en-US" altLang="zh-TW" sz="2800" dirty="0">
                  <a:solidFill>
                    <a:srgbClr val="FF0000"/>
                  </a:solidFill>
                  <a:latin typeface="Times New Roman" pitchFamily="18" charset="0"/>
                  <a:ea typeface="微軟正黑體" pitchFamily="34" charset="-120"/>
                </a:rPr>
                <a:t>7.125°</a:t>
              </a:r>
              <a:r>
                <a:rPr lang="zh-TW" altLang="en-US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，如下圖</a:t>
              </a: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(b)</a:t>
              </a:r>
              <a:endPara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endParaRPr>
            </a:p>
          </p:txBody>
        </p:sp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5894041"/>
                </p:ext>
              </p:extLst>
            </p:nvPr>
          </p:nvGraphicFramePr>
          <p:xfrm>
            <a:off x="6096000" y="620688"/>
            <a:ext cx="408046" cy="360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15640" imgH="190440" progId="Equation.DSMT4">
                    <p:embed/>
                  </p:oleObj>
                </mc:Choice>
                <mc:Fallback>
                  <p:oleObj name="Equation" r:id="rId3" imgW="21564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096000" y="620688"/>
                          <a:ext cx="408046" cy="3600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77154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4"/>
          <a:stretch/>
        </p:blipFill>
        <p:spPr bwMode="auto">
          <a:xfrm>
            <a:off x="1991544" y="2713808"/>
            <a:ext cx="8784976" cy="3065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517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116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110" y="2677874"/>
            <a:ext cx="619364" cy="59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文字方塊 31"/>
          <p:cNvSpPr txBox="1"/>
          <p:nvPr/>
        </p:nvSpPr>
        <p:spPr>
          <a:xfrm>
            <a:off x="2023410" y="865469"/>
            <a:ext cx="468052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(3)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計算機的用法也是類似，先視需求按下功能鍵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MODE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將角度切換至適當單位，再按下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SHIFT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的按鍵啟用第二功能，接著按下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tan(tan</a:t>
            </a:r>
            <a:r>
              <a:rPr lang="en-US" altLang="zh-TW" sz="2800" baseline="300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-1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)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的按鍵，再輸入「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1 ÷ 8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」，</a:t>
            </a:r>
            <a:b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</a:b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即可反推求角度約為</a:t>
            </a:r>
            <a:r>
              <a:rPr lang="en-US" altLang="zh-TW" sz="2800" dirty="0">
                <a:solidFill>
                  <a:srgbClr val="FF0000"/>
                </a:solidFill>
                <a:latin typeface="Times New Roman" pitchFamily="18" charset="0"/>
                <a:ea typeface="微軟正黑體" pitchFamily="34" charset="-120"/>
              </a:rPr>
              <a:t>7.125°</a:t>
            </a:r>
            <a:endParaRPr lang="zh-TW" altLang="en-US" sz="2800" dirty="0">
              <a:solidFill>
                <a:srgbClr val="FF0000"/>
              </a:solidFill>
              <a:latin typeface="Times New Roman" pitchFamily="18" charset="0"/>
              <a:ea typeface="微軟正黑體" pitchFamily="34" charset="-120"/>
            </a:endParaRPr>
          </a:p>
        </p:txBody>
      </p:sp>
      <p:pic>
        <p:nvPicPr>
          <p:cNvPr id="1781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176" y="527635"/>
            <a:ext cx="3456384" cy="5499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1456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116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110" y="2677874"/>
            <a:ext cx="619364" cy="59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文字方塊 31"/>
          <p:cNvSpPr txBox="1"/>
          <p:nvPr/>
        </p:nvSpPr>
        <p:spPr>
          <a:xfrm>
            <a:off x="1991544" y="900584"/>
            <a:ext cx="835292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同學可用類似的方法，利用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sin</a:t>
            </a:r>
            <a:r>
              <a:rPr lang="en-US" altLang="zh-TW" sz="2800" baseline="300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-1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或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cos</a:t>
            </a:r>
            <a:r>
              <a:rPr lang="en-US" altLang="zh-TW" sz="2800" baseline="300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-1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反推求角度，儘管各廠牌型號計算機按鍵有所不同，但求三角函數值時，不外乎是先使用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MODE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鍵將角度切換至適當單位，再視需要決定是否利用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SHIFT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鍵切換計算。在專業科目上，我們時常需要利用三角函數反推回角度，此時，同學們就可以善用上面所敘述的手機或計算機功能反推求角度</a:t>
            </a:r>
          </a:p>
        </p:txBody>
      </p:sp>
    </p:spTree>
    <p:extLst>
      <p:ext uri="{BB962C8B-B14F-4D97-AF65-F5344CB8AC3E}">
        <p14:creationId xmlns:p14="http://schemas.microsoft.com/office/powerpoint/2010/main" val="203541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116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110" y="2677874"/>
            <a:ext cx="619364" cy="59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群組 2"/>
          <p:cNvGrpSpPr/>
          <p:nvPr/>
        </p:nvGrpSpPr>
        <p:grpSpPr>
          <a:xfrm>
            <a:off x="1847528" y="980728"/>
            <a:ext cx="9865096" cy="4680520"/>
            <a:chOff x="1847528" y="980728"/>
            <a:chExt cx="9865096" cy="4680520"/>
          </a:xfrm>
        </p:grpSpPr>
        <p:grpSp>
          <p:nvGrpSpPr>
            <p:cNvPr id="6" name="群組 5"/>
            <p:cNvGrpSpPr/>
            <p:nvPr/>
          </p:nvGrpSpPr>
          <p:grpSpPr>
            <a:xfrm>
              <a:off x="1847528" y="980728"/>
              <a:ext cx="9865096" cy="4680520"/>
              <a:chOff x="420394" y="381034"/>
              <a:chExt cx="9865095" cy="4680518"/>
            </a:xfrm>
          </p:grpSpPr>
          <p:grpSp>
            <p:nvGrpSpPr>
              <p:cNvPr id="7" name="群組 6"/>
              <p:cNvGrpSpPr/>
              <p:nvPr/>
            </p:nvGrpSpPr>
            <p:grpSpPr>
              <a:xfrm>
                <a:off x="420394" y="381034"/>
                <a:ext cx="9865095" cy="4680518"/>
                <a:chOff x="624948" y="106713"/>
                <a:chExt cx="9865095" cy="4680518"/>
              </a:xfrm>
            </p:grpSpPr>
            <p:pic>
              <p:nvPicPr>
                <p:cNvPr id="9" name="圖片 8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4948" y="590259"/>
                  <a:ext cx="9865095" cy="4196972"/>
                </a:xfrm>
                <a:prstGeom prst="rect">
                  <a:avLst/>
                </a:prstGeom>
              </p:spPr>
            </p:pic>
            <p:pic>
              <p:nvPicPr>
                <p:cNvPr id="10" name="圖片 9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4948" y="128050"/>
                  <a:ext cx="2751743" cy="463276"/>
                </a:xfrm>
                <a:prstGeom prst="rect">
                  <a:avLst/>
                </a:prstGeom>
              </p:spPr>
            </p:pic>
            <p:pic>
              <p:nvPicPr>
                <p:cNvPr id="11" name="圖片 10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4856" y="106713"/>
                  <a:ext cx="1501458" cy="502347"/>
                </a:xfrm>
                <a:prstGeom prst="rect">
                  <a:avLst/>
                </a:prstGeom>
              </p:spPr>
            </p:pic>
          </p:grpSp>
          <p:sp>
            <p:nvSpPr>
              <p:cNvPr id="8" name="文字方塊 7"/>
              <p:cNvSpPr txBox="1"/>
              <p:nvPr/>
            </p:nvSpPr>
            <p:spPr>
              <a:xfrm>
                <a:off x="636418" y="1220131"/>
                <a:ext cx="7416823" cy="3539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(1) Android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計算機中的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RAD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代表「弳」，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DEG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代表「度」，若要改變單位，只需按這兩個按鍵即可。</a:t>
                </a:r>
                <a:endParaRPr lang="en-US" altLang="zh-TW" sz="2800" spc="300" dirty="0">
                  <a:latin typeface="Times New Roman" pitchFamily="18" charset="0"/>
                  <a:ea typeface="微軟正黑體" pitchFamily="34" charset="-12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(2)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計算機的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SHIFT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主要是控制第二功能。</a:t>
                </a:r>
              </a:p>
            </p:txBody>
          </p:sp>
        </p:grpSp>
        <p:pic>
          <p:nvPicPr>
            <p:cNvPr id="179202" name="Picture 2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DDF1F1"/>
                </a:clrFrom>
                <a:clrTo>
                  <a:srgbClr val="DDF1F1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96400" y="2609814"/>
              <a:ext cx="1657350" cy="2305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747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100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1631504" y="290947"/>
            <a:ext cx="9725985" cy="2599879"/>
            <a:chOff x="1631504" y="290947"/>
            <a:chExt cx="9725985" cy="2599879"/>
          </a:xfrm>
        </p:grpSpPr>
        <p:sp>
          <p:nvSpPr>
            <p:cNvPr id="24" name="文字方塊 23"/>
            <p:cNvSpPr txBox="1"/>
            <p:nvPr/>
          </p:nvSpPr>
          <p:spPr>
            <a:xfrm>
              <a:off x="1631504" y="290947"/>
              <a:ext cx="9721080" cy="2599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在網站的自行車討論綜合區出現以下的照片：</a:t>
              </a:r>
            </a:p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請同學計算這個險升坡與地面的夾角約是多</a:t>
              </a:r>
            </a:p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少度？（四捨五入至整數位）其中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20%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是指</a:t>
              </a:r>
            </a:p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每前進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100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公尺會上升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20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公尺。</a:t>
              </a:r>
            </a:p>
          </p:txBody>
        </p:sp>
        <p:pic>
          <p:nvPicPr>
            <p:cNvPr id="1802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10345" y="404664"/>
              <a:ext cx="2247144" cy="17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" name="Picture 715">
            <a:extLst>
              <a:ext uri="{FF2B5EF4-FFF2-40B4-BE49-F238E27FC236}">
                <a16:creationId xmlns:a16="http://schemas.microsoft.com/office/drawing/2014/main" id="{20212DDF-1336-ABF2-EA34-F7E37B296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6329" y="3348956"/>
            <a:ext cx="3024336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592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>
          <a:xfrm>
            <a:off x="1559496" y="3813047"/>
            <a:ext cx="6696744" cy="697839"/>
          </a:xfrm>
        </p:spPr>
        <p:txBody>
          <a:bodyPr/>
          <a:lstStyle/>
          <a:p>
            <a:r>
              <a:rPr lang="en-US" altLang="zh-TW" dirty="0"/>
              <a:t>2</a:t>
            </a:r>
            <a:r>
              <a:rPr lang="en-US" altLang="zh-TW" spc="300" dirty="0"/>
              <a:t>-2.3</a:t>
            </a:r>
            <a:r>
              <a:rPr lang="zh-TW" altLang="en-US" dirty="0"/>
              <a:t>三角函數的恆等關係</a:t>
            </a:r>
            <a:endParaRPr lang="zh-TW" altLang="en-US" spc="300" dirty="0"/>
          </a:p>
        </p:txBody>
      </p:sp>
    </p:spTree>
    <p:extLst>
      <p:ext uri="{BB962C8B-B14F-4D97-AF65-F5344CB8AC3E}">
        <p14:creationId xmlns:p14="http://schemas.microsoft.com/office/powerpoint/2010/main" val="354771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517650" y="1029136"/>
            <a:ext cx="78187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微軟正黑體" pitchFamily="34" charset="-120"/>
                <a:ea typeface="微軟正黑體" pitchFamily="34" charset="-120"/>
              </a:rPr>
              <a:t>2-2.3</a:t>
            </a:r>
            <a:r>
              <a:rPr lang="zh-TW" altLang="en-US" sz="3000" b="1" dirty="0">
                <a:latin typeface="微軟正黑體" pitchFamily="34" charset="-120"/>
                <a:ea typeface="微軟正黑體" pitchFamily="34" charset="-120"/>
              </a:rPr>
              <a:t>三角函數的恆等關係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117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789299" y="2492896"/>
            <a:ext cx="109852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根據三角函數的定義，我們知道三角函數存在著倒數關係，</a:t>
            </a:r>
            <a:br>
              <a:rPr lang="en-US" altLang="zh-TW" sz="2800" dirty="0">
                <a:latin typeface="Times New Roman" pitchFamily="18" charset="0"/>
                <a:ea typeface="微軟正黑體" pitchFamily="34" charset="-120"/>
              </a:rPr>
            </a:b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除此之外，我們來看看三角函數還有哪些重要的恆等關係？</a:t>
            </a:r>
          </a:p>
        </p:txBody>
      </p:sp>
    </p:spTree>
    <p:extLst>
      <p:ext uri="{BB962C8B-B14F-4D97-AF65-F5344CB8AC3E}">
        <p14:creationId xmlns:p14="http://schemas.microsoft.com/office/powerpoint/2010/main" val="127781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1. </a:t>
            </a:r>
            <a:r>
              <a:rPr lang="zh-TW" altLang="en-US" dirty="0"/>
              <a:t>倒數關係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117</a:t>
            </a:r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99731EE9-A112-49CE-A31E-EC16951259A7}"/>
              </a:ext>
            </a:extLst>
          </p:cNvPr>
          <p:cNvGrpSpPr/>
          <p:nvPr/>
        </p:nvGrpSpPr>
        <p:grpSpPr>
          <a:xfrm>
            <a:off x="1271464" y="1916928"/>
            <a:ext cx="9761266" cy="3246017"/>
            <a:chOff x="1271464" y="1916928"/>
            <a:chExt cx="9761266" cy="3246017"/>
          </a:xfrm>
        </p:grpSpPr>
        <p:sp>
          <p:nvSpPr>
            <p:cNvPr id="6" name="文字方塊 5"/>
            <p:cNvSpPr txBox="1"/>
            <p:nvPr/>
          </p:nvSpPr>
          <p:spPr>
            <a:xfrm>
              <a:off x="1271464" y="1916928"/>
              <a:ext cx="5954184" cy="3246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六角形中，每條對角線兩端點的三角函數，互為倒數。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(1) 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⋅ </a:t>
              </a:r>
              <a:r>
                <a:rPr lang="en-US" altLang="zh-TW" sz="2800" spc="300" dirty="0" err="1">
                  <a:latin typeface="Times New Roman" pitchFamily="18" charset="0"/>
                  <a:ea typeface="微軟正黑體" pitchFamily="34" charset="-120"/>
                </a:rPr>
                <a:t>csc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1</a:t>
              </a:r>
            </a:p>
            <a:p>
              <a:pPr>
                <a:lnSpc>
                  <a:spcPct val="150000"/>
                </a:lnSpc>
              </a:pP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(2)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⋅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sec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1</a:t>
              </a:r>
            </a:p>
            <a:p>
              <a:pPr>
                <a:lnSpc>
                  <a:spcPct val="150000"/>
                </a:lnSpc>
              </a:pP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(3)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tan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⋅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cot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1</a:t>
              </a:r>
              <a:r>
                <a:rPr lang="zh-TW" altLang="el-GR" sz="2800" spc="300" dirty="0">
                  <a:latin typeface="Times New Roman" pitchFamily="18" charset="0"/>
                  <a:ea typeface="微軟正黑體" pitchFamily="34" charset="-120"/>
                </a:rPr>
                <a:t>。</a:t>
              </a:r>
              <a:endParaRPr lang="zh-TW" altLang="en-US" sz="2800" spc="300" dirty="0">
                <a:latin typeface="Times New Roman" pitchFamily="18" charset="0"/>
                <a:ea typeface="微軟正黑體" pitchFamily="34" charset="-120"/>
              </a:endParaRPr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9A34C9A9-C207-45BC-BDE0-5920AB620D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DEAEA"/>
                </a:clrFrom>
                <a:clrTo>
                  <a:srgbClr val="FDEAE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8003" y="1969425"/>
              <a:ext cx="3804727" cy="31410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7388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2. </a:t>
            </a:r>
            <a:r>
              <a:rPr lang="zh-TW" altLang="en-US" dirty="0"/>
              <a:t>平方關係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117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976824" y="1916831"/>
            <a:ext cx="6204385" cy="324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六角形中，每個倒三角形，上方兩頂點之平方和等於下方頂點之平方。</a:t>
            </a:r>
          </a:p>
          <a:p>
            <a:pPr>
              <a:lnSpc>
                <a:spcPct val="150000"/>
              </a:lnSpc>
            </a:pP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(1) sin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 +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cos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 = 1</a:t>
            </a:r>
          </a:p>
          <a:p>
            <a:pPr>
              <a:lnSpc>
                <a:spcPct val="150000"/>
              </a:lnSpc>
            </a:pP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(2)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tan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 + 1 =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sec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</a:p>
          <a:p>
            <a:pPr>
              <a:lnSpc>
                <a:spcPct val="150000"/>
              </a:lnSpc>
            </a:pP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(3) 1 +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cot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 =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l-GR" sz="2800" spc="300" dirty="0">
                <a:latin typeface="Times New Roman" pitchFamily="18" charset="0"/>
                <a:ea typeface="微軟正黑體" pitchFamily="34" charset="-120"/>
              </a:rPr>
              <a:t>。</a:t>
            </a:r>
            <a:endParaRPr lang="zh-TW" altLang="en-US" sz="2800" spc="300" dirty="0">
              <a:latin typeface="Times New Roman" pitchFamily="18" charset="0"/>
              <a:ea typeface="微軟正黑體" pitchFamily="34" charset="-12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A8C0269-95E5-4200-A39E-85B6DD35F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DEAEA"/>
              </a:clrFrom>
              <a:clrTo>
                <a:srgbClr val="FDEAE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003" y="1969425"/>
            <a:ext cx="3804727" cy="3141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092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3. </a:t>
            </a:r>
            <a:r>
              <a:rPr lang="zh-TW" altLang="en-US" dirty="0"/>
              <a:t>商數關係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117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587388" y="1774896"/>
            <a:ext cx="11017224" cy="3236923"/>
            <a:chOff x="587388" y="1774896"/>
            <a:chExt cx="11017224" cy="3236923"/>
          </a:xfrm>
        </p:grpSpPr>
        <p:sp>
          <p:nvSpPr>
            <p:cNvPr id="6" name="文字方塊 5"/>
            <p:cNvSpPr txBox="1"/>
            <p:nvPr/>
          </p:nvSpPr>
          <p:spPr>
            <a:xfrm>
              <a:off x="587388" y="1774896"/>
              <a:ext cx="11017224" cy="3138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六角形中，每個頂點為相鄰兩頂點之乘積。</a:t>
              </a:r>
            </a:p>
            <a:p>
              <a:pPr>
                <a:lnSpc>
                  <a:spcPct val="25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(1) sin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= tan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⋅ cos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 θ</a:t>
              </a:r>
              <a:r>
                <a:rPr lang="zh-TW" altLang="el-GR" sz="2800" i="1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l-GR" sz="2800" spc="300" dirty="0">
                  <a:latin typeface="Times New Roman" pitchFamily="18" charset="0"/>
                  <a:ea typeface="微軟正黑體" pitchFamily="34" charset="-120"/>
                </a:rPr>
                <a:t>，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即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25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(2) 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cot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⋅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zh-TW" altLang="en-US" sz="2800" i="1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l-GR" sz="2800" spc="300" dirty="0">
                  <a:latin typeface="Times New Roman" pitchFamily="18" charset="0"/>
                  <a:ea typeface="微軟正黑體" pitchFamily="34" charset="-120"/>
                </a:rPr>
                <a:t>，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即</a:t>
              </a:r>
            </a:p>
          </p:txBody>
        </p: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8881455"/>
                </p:ext>
              </p:extLst>
            </p:nvPr>
          </p:nvGraphicFramePr>
          <p:xfrm>
            <a:off x="5932200" y="3120836"/>
            <a:ext cx="18415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841400" imgH="838080" progId="Equation.DSMT4">
                    <p:embed/>
                  </p:oleObj>
                </mc:Choice>
                <mc:Fallback>
                  <p:oleObj name="Equation" r:id="rId2" imgW="184140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932200" y="3120836"/>
                          <a:ext cx="18415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物件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197771"/>
                </p:ext>
              </p:extLst>
            </p:nvPr>
          </p:nvGraphicFramePr>
          <p:xfrm>
            <a:off x="5944900" y="4173619"/>
            <a:ext cx="18288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828800" imgH="838080" progId="Equation.DSMT4">
                    <p:embed/>
                  </p:oleObj>
                </mc:Choice>
                <mc:Fallback>
                  <p:oleObj name="Equation" r:id="rId4" imgW="182880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944900" y="4173619"/>
                          <a:ext cx="18288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14A096D6-0C2A-4C53-8B2B-16E3478DD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DEAEA"/>
              </a:clrFrom>
              <a:clrTo>
                <a:srgbClr val="FDEAE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232" y="1969425"/>
            <a:ext cx="3804727" cy="3141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349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4. </a:t>
            </a:r>
            <a:r>
              <a:rPr lang="zh-TW" altLang="en-US" dirty="0"/>
              <a:t>餘角關係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117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971433" y="1120676"/>
            <a:ext cx="994910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六角形中，每條橫線兩端點的三角函數互為餘角關係。</a:t>
            </a:r>
          </a:p>
          <a:p>
            <a:pPr>
              <a:lnSpc>
                <a:spcPct val="150000"/>
              </a:lnSpc>
            </a:pP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(1) sin(90°</a:t>
            </a:r>
            <a:r>
              <a:rPr lang="en-US" altLang="zh-TW" sz="2800" spc="300" dirty="0">
                <a:latin typeface="Symbol" panose="05050102010706020507" pitchFamily="18" charset="2"/>
                <a:ea typeface="微軟正黑體" pitchFamily="34" charset="-120"/>
              </a:rPr>
              <a:t>-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) =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cos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endParaRPr lang="en-US" altLang="zh-TW" sz="2800" i="1" spc="300" dirty="0">
              <a:latin typeface="Times New Roman" pitchFamily="18" charset="0"/>
              <a:ea typeface="微軟正黑體" pitchFamily="34" charset="-120"/>
            </a:endParaRPr>
          </a:p>
          <a:p>
            <a:pPr>
              <a:lnSpc>
                <a:spcPct val="150000"/>
              </a:lnSpc>
            </a:pP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(2)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cos(90°</a:t>
            </a:r>
            <a:r>
              <a:rPr lang="en-US" altLang="zh-TW" sz="2800" spc="300" dirty="0">
                <a:latin typeface="Symbol" panose="05050102010706020507" pitchFamily="18" charset="2"/>
                <a:ea typeface="微軟正黑體" pitchFamily="34" charset="-120"/>
              </a:rPr>
              <a:t>-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) =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sin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l-GR" sz="2800" spc="300" dirty="0">
                <a:latin typeface="Times New Roman" pitchFamily="18" charset="0"/>
                <a:ea typeface="微軟正黑體" pitchFamily="34" charset="-120"/>
              </a:rPr>
              <a:t>　</a:t>
            </a:r>
            <a:endParaRPr lang="en-US" altLang="zh-TW" sz="2800" spc="300" dirty="0">
              <a:latin typeface="Times New Roman" pitchFamily="18" charset="0"/>
              <a:ea typeface="微軟正黑體" pitchFamily="34" charset="-120"/>
            </a:endParaRPr>
          </a:p>
          <a:p>
            <a:pPr>
              <a:lnSpc>
                <a:spcPct val="150000"/>
              </a:lnSpc>
            </a:pP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(3)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tan(90°</a:t>
            </a:r>
            <a:r>
              <a:rPr lang="en-US" altLang="zh-TW" sz="2800" spc="300" dirty="0">
                <a:latin typeface="Symbol" panose="05050102010706020507" pitchFamily="18" charset="2"/>
                <a:ea typeface="微軟正黑體" pitchFamily="34" charset="-120"/>
              </a:rPr>
              <a:t>-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) =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cot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l-GR" sz="2800" spc="300" dirty="0">
                <a:latin typeface="Times New Roman" pitchFamily="18" charset="0"/>
                <a:ea typeface="微軟正黑體" pitchFamily="34" charset="-120"/>
              </a:rPr>
              <a:t>　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endParaRPr lang="en-US" altLang="zh-TW" sz="2800" spc="300" dirty="0">
              <a:latin typeface="Times New Roman" pitchFamily="18" charset="0"/>
              <a:ea typeface="微軟正黑體" pitchFamily="34" charset="-120"/>
            </a:endParaRPr>
          </a:p>
          <a:p>
            <a:pPr>
              <a:lnSpc>
                <a:spcPct val="150000"/>
              </a:lnSpc>
            </a:pP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(4)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cot(90°</a:t>
            </a:r>
            <a:r>
              <a:rPr lang="en-US" altLang="zh-TW" sz="2800" spc="300" dirty="0">
                <a:latin typeface="Symbol" panose="05050102010706020507" pitchFamily="18" charset="2"/>
                <a:ea typeface="微軟正黑體" pitchFamily="34" charset="-120"/>
              </a:rPr>
              <a:t>-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) =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tan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l-GR" sz="2800" spc="300" dirty="0">
                <a:latin typeface="Times New Roman" pitchFamily="18" charset="0"/>
                <a:ea typeface="微軟正黑體" pitchFamily="34" charset="-120"/>
              </a:rPr>
              <a:t>　</a:t>
            </a:r>
            <a:endParaRPr lang="en-US" altLang="zh-TW" sz="2800" spc="300" dirty="0">
              <a:latin typeface="Times New Roman" pitchFamily="18" charset="0"/>
              <a:ea typeface="微軟正黑體" pitchFamily="34" charset="-120"/>
            </a:endParaRPr>
          </a:p>
          <a:p>
            <a:pPr>
              <a:lnSpc>
                <a:spcPct val="150000"/>
              </a:lnSpc>
            </a:pP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(5)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sec(90°</a:t>
            </a:r>
            <a:r>
              <a:rPr lang="en-US" altLang="zh-TW" sz="2800" spc="300" dirty="0">
                <a:latin typeface="Symbol" panose="05050102010706020507" pitchFamily="18" charset="2"/>
                <a:ea typeface="微軟正黑體" pitchFamily="34" charset="-120"/>
              </a:rPr>
              <a:t>-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) = </a:t>
            </a:r>
            <a:r>
              <a:rPr lang="en-US" altLang="zh-TW" sz="2800" spc="3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</a:p>
          <a:p>
            <a:pPr>
              <a:lnSpc>
                <a:spcPct val="150000"/>
              </a:lnSpc>
            </a:pP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(6) </a:t>
            </a:r>
            <a:r>
              <a:rPr lang="en-US" altLang="zh-TW" sz="2800" spc="3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(90°</a:t>
            </a:r>
            <a:r>
              <a:rPr lang="en-US" altLang="zh-TW" sz="2800" spc="300" dirty="0">
                <a:latin typeface="Symbol" panose="05050102010706020507" pitchFamily="18" charset="2"/>
                <a:ea typeface="微軟正黑體" pitchFamily="34" charset="-120"/>
              </a:rPr>
              <a:t>-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) =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sec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endParaRPr lang="zh-TW" altLang="en-US" sz="2800" i="1" spc="300" dirty="0">
              <a:latin typeface="Times New Roman" pitchFamily="18" charset="0"/>
              <a:ea typeface="微軟正黑體" pitchFamily="34" charset="-12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9820FCB-BB54-4E17-9951-7EE8C31C7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DEAEA"/>
              </a:clrFrom>
              <a:clrTo>
                <a:srgbClr val="FDEAE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003" y="1969425"/>
            <a:ext cx="3804727" cy="3141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227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118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1123333"/>
            <a:ext cx="1157669" cy="396043"/>
          </a:xfrm>
          <a:prstGeom prst="rect">
            <a:avLst/>
          </a:prstGeom>
        </p:spPr>
      </p:pic>
      <p:grpSp>
        <p:nvGrpSpPr>
          <p:cNvPr id="6" name="群組 5"/>
          <p:cNvGrpSpPr/>
          <p:nvPr/>
        </p:nvGrpSpPr>
        <p:grpSpPr>
          <a:xfrm>
            <a:off x="767408" y="1137594"/>
            <a:ext cx="10985264" cy="4791075"/>
            <a:chOff x="767408" y="1137594"/>
            <a:chExt cx="10985264" cy="4791075"/>
          </a:xfrm>
        </p:grpSpPr>
        <p:sp>
          <p:nvSpPr>
            <p:cNvPr id="9" name="文字方塊 8"/>
            <p:cNvSpPr txBox="1"/>
            <p:nvPr/>
          </p:nvSpPr>
          <p:spPr>
            <a:xfrm>
              <a:off x="767408" y="2060848"/>
              <a:ext cx="10985264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1.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倒數關係：根據三角函數的定義可知。</a:t>
              </a:r>
            </a:p>
            <a:p>
              <a:pPr marL="355600" indent="-355600">
                <a:lnSpc>
                  <a:spcPct val="200000"/>
                </a:lnSpc>
              </a:pP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2.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平方關係：根據三角函數的定義，</a:t>
              </a:r>
              <a:b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在直角三角形中，若角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的對邊為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y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，</a:t>
              </a:r>
              <a:b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鄰邊為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，斜邊為                      ，則</a:t>
              </a:r>
            </a:p>
          </p:txBody>
        </p:sp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6569169"/>
                </p:ext>
              </p:extLst>
            </p:nvPr>
          </p:nvGraphicFramePr>
          <p:xfrm>
            <a:off x="3935760" y="4869160"/>
            <a:ext cx="1828800" cy="571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828800" imgH="571320" progId="Equation.DSMT4">
                    <p:embed/>
                  </p:oleObj>
                </mc:Choice>
                <mc:Fallback>
                  <p:oleObj name="Equation" r:id="rId3" imgW="1828800" imgH="571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35760" y="4869160"/>
                          <a:ext cx="1828800" cy="571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84322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1137594"/>
              <a:ext cx="3505200" cy="4791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8975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118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1123333"/>
            <a:ext cx="1157669" cy="396043"/>
          </a:xfrm>
          <a:prstGeom prst="rect">
            <a:avLst/>
          </a:prstGeom>
        </p:spPr>
      </p:pic>
      <p:grpSp>
        <p:nvGrpSpPr>
          <p:cNvPr id="7" name="群組 6"/>
          <p:cNvGrpSpPr/>
          <p:nvPr/>
        </p:nvGrpSpPr>
        <p:grpSpPr>
          <a:xfrm>
            <a:off x="767408" y="1321354"/>
            <a:ext cx="11191387" cy="4791075"/>
            <a:chOff x="767408" y="1321354"/>
            <a:chExt cx="11191387" cy="4791075"/>
          </a:xfrm>
        </p:grpSpPr>
        <p:grpSp>
          <p:nvGrpSpPr>
            <p:cNvPr id="6" name="群組 5"/>
            <p:cNvGrpSpPr/>
            <p:nvPr/>
          </p:nvGrpSpPr>
          <p:grpSpPr>
            <a:xfrm>
              <a:off x="767408" y="1321354"/>
              <a:ext cx="11191387" cy="4791075"/>
              <a:chOff x="767408" y="1321354"/>
              <a:chExt cx="11191387" cy="4791075"/>
            </a:xfrm>
          </p:grpSpPr>
          <p:pic>
            <p:nvPicPr>
              <p:cNvPr id="184322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53595" y="1321354"/>
                <a:ext cx="3505200" cy="4791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9" name="文字方塊 8"/>
              <p:cNvSpPr txBox="1"/>
              <p:nvPr/>
            </p:nvSpPr>
            <p:spPr>
              <a:xfrm>
                <a:off x="767408" y="2060848"/>
                <a:ext cx="10985264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(1)	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(2)	 </a:t>
                </a:r>
              </a:p>
              <a:p>
                <a:pPr marL="534988" indent="-534988">
                  <a:lnSpc>
                    <a:spcPct val="200000"/>
                  </a:lnSpc>
                </a:pP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(3)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 有關                                的證明，</a:t>
                </a:r>
                <a:b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</a:b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與上面的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(2)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類似，留作同學課後練習。</a:t>
                </a:r>
              </a:p>
            </p:txBody>
          </p:sp>
          <p:graphicFrame>
            <p:nvGraphicFramePr>
              <p:cNvPr id="2" name="物件 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40553189"/>
                  </p:ext>
                </p:extLst>
              </p:nvPr>
            </p:nvGraphicFramePr>
            <p:xfrm>
              <a:off x="1389608" y="2132856"/>
              <a:ext cx="6578600" cy="876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6578280" imgH="876240" progId="Equation.DSMT4">
                      <p:embed/>
                    </p:oleObj>
                  </mc:Choice>
                  <mc:Fallback>
                    <p:oleObj name="Equation" r:id="rId4" imgW="6578280" imgH="8762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1389608" y="2132856"/>
                            <a:ext cx="6578600" cy="876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物件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5319618"/>
                  </p:ext>
                </p:extLst>
              </p:nvPr>
            </p:nvGraphicFramePr>
            <p:xfrm>
              <a:off x="1388994" y="3068960"/>
              <a:ext cx="7073900" cy="889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7073640" imgH="888840" progId="Equation.DSMT4">
                      <p:embed/>
                    </p:oleObj>
                  </mc:Choice>
                  <mc:Fallback>
                    <p:oleObj name="Equation" r:id="rId6" imgW="7073640" imgH="8888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1388994" y="3068960"/>
                            <a:ext cx="7073900" cy="889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400265"/>
                </p:ext>
              </p:extLst>
            </p:nvPr>
          </p:nvGraphicFramePr>
          <p:xfrm>
            <a:off x="2202408" y="4126048"/>
            <a:ext cx="2476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476440" imgH="380880" progId="Equation.DSMT4">
                    <p:embed/>
                  </p:oleObj>
                </mc:Choice>
                <mc:Fallback>
                  <p:oleObj name="Equation" r:id="rId8" imgW="24764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202408" y="4126048"/>
                          <a:ext cx="2476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40108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118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1123333"/>
            <a:ext cx="1157669" cy="396043"/>
          </a:xfrm>
          <a:prstGeom prst="rect">
            <a:avLst/>
          </a:prstGeom>
        </p:spPr>
      </p:pic>
      <p:grpSp>
        <p:nvGrpSpPr>
          <p:cNvPr id="7" name="群組 6"/>
          <p:cNvGrpSpPr/>
          <p:nvPr/>
        </p:nvGrpSpPr>
        <p:grpSpPr>
          <a:xfrm>
            <a:off x="767408" y="1620083"/>
            <a:ext cx="10985264" cy="3831665"/>
            <a:chOff x="767408" y="1620083"/>
            <a:chExt cx="10985264" cy="3831665"/>
          </a:xfrm>
        </p:grpSpPr>
        <p:grpSp>
          <p:nvGrpSpPr>
            <p:cNvPr id="6" name="群組 5"/>
            <p:cNvGrpSpPr/>
            <p:nvPr/>
          </p:nvGrpSpPr>
          <p:grpSpPr>
            <a:xfrm>
              <a:off x="767408" y="1620083"/>
              <a:ext cx="10985264" cy="3730958"/>
              <a:chOff x="767408" y="1620083"/>
              <a:chExt cx="10985264" cy="3730958"/>
            </a:xfrm>
          </p:grpSpPr>
          <p:sp>
            <p:nvSpPr>
              <p:cNvPr id="9" name="文字方塊 8"/>
              <p:cNvSpPr txBox="1"/>
              <p:nvPr/>
            </p:nvSpPr>
            <p:spPr>
              <a:xfrm>
                <a:off x="767408" y="1620083"/>
                <a:ext cx="10985264" cy="37309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300000"/>
                  </a:lnSpc>
                </a:pP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3.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商數關係：</a:t>
                </a:r>
                <a:endParaRPr lang="en-US" altLang="zh-TW" sz="2800" dirty="0">
                  <a:latin typeface="Times New Roman" pitchFamily="18" charset="0"/>
                  <a:ea typeface="微軟正黑體" pitchFamily="34" charset="-120"/>
                </a:endParaRPr>
              </a:p>
              <a:p>
                <a:pPr>
                  <a:lnSpc>
                    <a:spcPct val="300000"/>
                  </a:lnSpc>
                </a:pP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(1)	 </a:t>
                </a:r>
              </a:p>
              <a:p>
                <a:pPr>
                  <a:lnSpc>
                    <a:spcPct val="300000"/>
                  </a:lnSpc>
                </a:pP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(2)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 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cot </a:t>
                </a:r>
                <a:r>
                  <a:rPr lang="el-GR" altLang="zh-TW" sz="2800" i="1" dirty="0">
                    <a:latin typeface="Times New Roman" pitchFamily="18" charset="0"/>
                    <a:ea typeface="微軟正黑體" pitchFamily="34" charset="-120"/>
                  </a:rPr>
                  <a:t>θ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為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tan </a:t>
                </a:r>
                <a:r>
                  <a:rPr lang="el-GR" altLang="zh-TW" sz="2800" i="1" dirty="0">
                    <a:latin typeface="Times New Roman" pitchFamily="18" charset="0"/>
                    <a:ea typeface="微軟正黑體" pitchFamily="34" charset="-120"/>
                  </a:rPr>
                  <a:t>θ</a:t>
                </a:r>
                <a:r>
                  <a:rPr lang="el-GR" altLang="zh-TW" sz="2800" dirty="0">
                    <a:latin typeface="Times New Roman" pitchFamily="18" charset="0"/>
                    <a:ea typeface="微軟正黑體" pitchFamily="34" charset="-120"/>
                  </a:rPr>
                  <a:t>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的倒數，由上述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(1)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可得</a:t>
                </a:r>
              </a:p>
            </p:txBody>
          </p:sp>
          <p:graphicFrame>
            <p:nvGraphicFramePr>
              <p:cNvPr id="8" name="物件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9716868"/>
                  </p:ext>
                </p:extLst>
              </p:nvPr>
            </p:nvGraphicFramePr>
            <p:xfrm>
              <a:off x="1487488" y="2924944"/>
              <a:ext cx="3136900" cy="165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3136680" imgH="1650960" progId="Equation.DSMT4">
                      <p:embed/>
                    </p:oleObj>
                  </mc:Choice>
                  <mc:Fallback>
                    <p:oleObj name="Equation" r:id="rId3" imgW="3136680" imgH="16509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487488" y="2924944"/>
                            <a:ext cx="3136900" cy="165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3619301"/>
                </p:ext>
              </p:extLst>
            </p:nvPr>
          </p:nvGraphicFramePr>
          <p:xfrm>
            <a:off x="7032104" y="4613548"/>
            <a:ext cx="18288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828800" imgH="838080" progId="Equation.DSMT4">
                    <p:embed/>
                  </p:oleObj>
                </mc:Choice>
                <mc:Fallback>
                  <p:oleObj name="Equation" r:id="rId5" imgW="182880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032104" y="4613548"/>
                          <a:ext cx="18288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9633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118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1123333"/>
            <a:ext cx="1157669" cy="396043"/>
          </a:xfrm>
          <a:prstGeom prst="rect">
            <a:avLst/>
          </a:prstGeom>
        </p:spPr>
      </p:pic>
      <p:grpSp>
        <p:nvGrpSpPr>
          <p:cNvPr id="3" name="群組 2"/>
          <p:cNvGrpSpPr/>
          <p:nvPr/>
        </p:nvGrpSpPr>
        <p:grpSpPr>
          <a:xfrm>
            <a:off x="767408" y="1556792"/>
            <a:ext cx="10985264" cy="4499400"/>
            <a:chOff x="767408" y="1556792"/>
            <a:chExt cx="10985264" cy="4499400"/>
          </a:xfrm>
        </p:grpSpPr>
        <p:pic>
          <p:nvPicPr>
            <p:cNvPr id="18637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4032" y="2286262"/>
              <a:ext cx="5012696" cy="37699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6" name="群組 5"/>
            <p:cNvGrpSpPr/>
            <p:nvPr/>
          </p:nvGrpSpPr>
          <p:grpSpPr>
            <a:xfrm>
              <a:off x="767408" y="1556792"/>
              <a:ext cx="10985264" cy="4395068"/>
              <a:chOff x="767408" y="2060848"/>
              <a:chExt cx="10985264" cy="4395068"/>
            </a:xfrm>
          </p:grpSpPr>
          <p:sp>
            <p:nvSpPr>
              <p:cNvPr id="9" name="文字方塊 8"/>
              <p:cNvSpPr txBox="1"/>
              <p:nvPr/>
            </p:nvSpPr>
            <p:spPr>
              <a:xfrm>
                <a:off x="767408" y="2060848"/>
                <a:ext cx="1098526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4.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餘角關係：在直角三角形</a:t>
                </a:r>
                <a:r>
                  <a:rPr lang="en-US" altLang="zh-TW" sz="2800" i="1" dirty="0">
                    <a:latin typeface="Times New Roman" pitchFamily="18" charset="0"/>
                    <a:ea typeface="微軟正黑體" pitchFamily="34" charset="-120"/>
                  </a:rPr>
                  <a:t>ABC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中，邊長關係如下圖，則根據定義，</a:t>
                </a:r>
                <a:endParaRPr lang="en-US" altLang="zh-TW" sz="2800" dirty="0">
                  <a:latin typeface="Times New Roman" pitchFamily="18" charset="0"/>
                  <a:ea typeface="微軟正黑體" pitchFamily="34" charset="-12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角</a:t>
                </a:r>
                <a:r>
                  <a:rPr lang="en-US" altLang="zh-TW" sz="2800" i="1" dirty="0">
                    <a:latin typeface="Times New Roman" pitchFamily="18" charset="0"/>
                    <a:ea typeface="微軟正黑體" pitchFamily="34" charset="-120"/>
                  </a:rPr>
                  <a:t>θ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的六個三角函數如下：</a:t>
                </a:r>
              </a:p>
            </p:txBody>
          </p:sp>
          <p:graphicFrame>
            <p:nvGraphicFramePr>
              <p:cNvPr id="2" name="物件 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05462230"/>
                  </p:ext>
                </p:extLst>
              </p:nvPr>
            </p:nvGraphicFramePr>
            <p:xfrm>
              <a:off x="842182" y="3573016"/>
              <a:ext cx="3441700" cy="288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3441600" imgH="2882880" progId="Equation.DSMT4">
                      <p:embed/>
                    </p:oleObj>
                  </mc:Choice>
                  <mc:Fallback>
                    <p:oleObj name="Equation" r:id="rId4" imgW="3441600" imgH="2882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842182" y="3573016"/>
                            <a:ext cx="3441700" cy="288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326576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119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1123333"/>
            <a:ext cx="1157669" cy="396043"/>
          </a:xfrm>
          <a:prstGeom prst="rect">
            <a:avLst/>
          </a:prstGeom>
        </p:spPr>
      </p:pic>
      <p:grpSp>
        <p:nvGrpSpPr>
          <p:cNvPr id="3" name="群組 2"/>
          <p:cNvGrpSpPr/>
          <p:nvPr/>
        </p:nvGrpSpPr>
        <p:grpSpPr>
          <a:xfrm>
            <a:off x="767408" y="1842244"/>
            <a:ext cx="10985264" cy="4152790"/>
            <a:chOff x="767408" y="1842244"/>
            <a:chExt cx="10985264" cy="4152790"/>
          </a:xfrm>
        </p:grpSpPr>
        <p:grpSp>
          <p:nvGrpSpPr>
            <p:cNvPr id="6" name="群組 5"/>
            <p:cNvGrpSpPr/>
            <p:nvPr/>
          </p:nvGrpSpPr>
          <p:grpSpPr>
            <a:xfrm>
              <a:off x="767408" y="1842244"/>
              <a:ext cx="10985264" cy="3893592"/>
              <a:chOff x="767408" y="2060848"/>
              <a:chExt cx="10985264" cy="3893592"/>
            </a:xfrm>
          </p:grpSpPr>
          <p:sp>
            <p:nvSpPr>
              <p:cNvPr id="9" name="文字方塊 8"/>
              <p:cNvSpPr txBox="1"/>
              <p:nvPr/>
            </p:nvSpPr>
            <p:spPr>
              <a:xfrm>
                <a:off x="767408" y="2060848"/>
                <a:ext cx="10985264" cy="66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重繪直角三角形</a:t>
                </a:r>
                <a:r>
                  <a:rPr lang="en-US" altLang="zh-TW" sz="2800" i="1" dirty="0">
                    <a:latin typeface="Times New Roman" pitchFamily="18" charset="0"/>
                    <a:ea typeface="微軟正黑體" pitchFamily="34" charset="-120"/>
                  </a:rPr>
                  <a:t>ABC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圖形如右圖，則角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(90° - </a:t>
                </a:r>
                <a:r>
                  <a:rPr lang="en-US" altLang="zh-TW" sz="2800" i="1" dirty="0">
                    <a:latin typeface="Times New Roman" pitchFamily="18" charset="0"/>
                    <a:ea typeface="微軟正黑體" pitchFamily="34" charset="-120"/>
                  </a:rPr>
                  <a:t>θ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)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的六個三角函數如下：</a:t>
                </a:r>
              </a:p>
            </p:txBody>
          </p:sp>
          <p:graphicFrame>
            <p:nvGraphicFramePr>
              <p:cNvPr id="2" name="物件 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97502683"/>
                  </p:ext>
                </p:extLst>
              </p:nvPr>
            </p:nvGraphicFramePr>
            <p:xfrm>
              <a:off x="767408" y="3071540"/>
              <a:ext cx="7137401" cy="288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7137360" imgH="2882880" progId="Equation.DSMT4">
                      <p:embed/>
                    </p:oleObj>
                  </mc:Choice>
                  <mc:Fallback>
                    <p:oleObj name="Equation" r:id="rId3" imgW="7137360" imgH="2882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767408" y="3071540"/>
                            <a:ext cx="7137401" cy="288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188419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0376" y="2708919"/>
              <a:ext cx="1920281" cy="3286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9620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119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1123333"/>
            <a:ext cx="1157669" cy="396043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767408" y="2276872"/>
            <a:ext cx="109852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我們稱這樣的關係為</a:t>
            </a:r>
            <a:r>
              <a:rPr lang="zh-TW" altLang="en-US" sz="2800" b="1" dirty="0">
                <a:solidFill>
                  <a:srgbClr val="0070C0"/>
                </a:solidFill>
                <a:latin typeface="Times New Roman" pitchFamily="18" charset="0"/>
                <a:ea typeface="微軟正黑體" pitchFamily="34" charset="-120"/>
              </a:rPr>
              <a:t>餘角關係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，相信已經有同學發現：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sin 30° = cos 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cos 30° = sin 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  <a:endParaRPr lang="en-US" altLang="zh-TW" sz="2800" dirty="0">
              <a:latin typeface="Times New Roman" pitchFamily="18" charset="0"/>
              <a:ea typeface="微軟正黑體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tan 30° = cot 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cot 30° = tan 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sec 30° = 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30° = sec 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9092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517650" y="1029136"/>
            <a:ext cx="78187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微軟正黑體" pitchFamily="34" charset="-120"/>
                <a:ea typeface="微軟正黑體" pitchFamily="34" charset="-120"/>
              </a:rPr>
              <a:t>2-2.3</a:t>
            </a:r>
            <a:r>
              <a:rPr lang="zh-TW" altLang="en-US" sz="3000" b="1" dirty="0">
                <a:latin typeface="微軟正黑體" pitchFamily="34" charset="-120"/>
                <a:ea typeface="微軟正黑體" pitchFamily="34" charset="-120"/>
              </a:rPr>
              <a:t>三角函數的恆等關係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119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789299" y="2492896"/>
            <a:ext cx="10985264" cy="168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許多時候，當我們碰到不是特別角、無法得知三角函數的精確值時，我們可以利用上面的恆等關係解決一些三角函數相關問題。</a:t>
            </a:r>
          </a:p>
        </p:txBody>
      </p:sp>
    </p:spTree>
    <p:extLst>
      <p:ext uri="{BB962C8B-B14F-4D97-AF65-F5344CB8AC3E}">
        <p14:creationId xmlns:p14="http://schemas.microsoft.com/office/powerpoint/2010/main" val="357662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/>
              <a:t>06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119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631504" y="398835"/>
            <a:ext cx="9814736" cy="2599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試求下列各式之值：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(1) sin 50° × 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50°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　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(2) sin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40° + cos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40°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　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(3) sec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70° - tan 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70°</a:t>
            </a:r>
            <a:endParaRPr lang="zh-TW" altLang="en-US" sz="2800" dirty="0">
              <a:latin typeface="Times New Roman" pitchFamily="18" charset="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199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120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/>
              <a:t>06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753872" y="537107"/>
            <a:ext cx="95267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試求下列各式之值：</a:t>
            </a:r>
          </a:p>
          <a:p>
            <a:pPr marL="514350" indent="-514350">
              <a:lnSpc>
                <a:spcPct val="150000"/>
              </a:lnSpc>
              <a:buAutoNum type="arabicParenBoth"/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cos 35° × sec 35°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　</a:t>
            </a:r>
            <a:endParaRPr lang="en-US" altLang="zh-TW" sz="2800" dirty="0">
              <a:latin typeface="Times New Roman" pitchFamily="18" charset="0"/>
              <a:ea typeface="微軟正黑體" pitchFamily="34" charset="-120"/>
            </a:endParaRPr>
          </a:p>
          <a:p>
            <a:pPr marL="514350" indent="-514350">
              <a:lnSpc>
                <a:spcPct val="150000"/>
              </a:lnSpc>
              <a:buAutoNum type="arabicParenBoth"/>
            </a:pP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sin</a:t>
            </a:r>
            <a:r>
              <a:rPr lang="en-US" altLang="zh-TW" sz="2800" baseline="30000" dirty="0" err="1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80° + 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cos</a:t>
            </a:r>
            <a:r>
              <a:rPr lang="en-US" altLang="zh-TW" sz="2800" baseline="30000" dirty="0" err="1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80°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　</a:t>
            </a:r>
            <a:endParaRPr lang="en-US" altLang="zh-TW" sz="2800" dirty="0">
              <a:latin typeface="Times New Roman" pitchFamily="18" charset="0"/>
              <a:ea typeface="微軟正黑體" pitchFamily="34" charset="-120"/>
            </a:endParaRPr>
          </a:p>
          <a:p>
            <a:pPr marL="514350" indent="-514350">
              <a:lnSpc>
                <a:spcPct val="150000"/>
              </a:lnSpc>
              <a:buAutoNum type="arabicParenBoth"/>
            </a:pP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cot</a:t>
            </a:r>
            <a:r>
              <a:rPr lang="en-US" altLang="zh-TW" sz="2800" baseline="30000" dirty="0" err="1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12° - 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baseline="30000" dirty="0" err="1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12°</a:t>
            </a:r>
            <a:endParaRPr lang="zh-TW" altLang="en-US" sz="2800" dirty="0">
              <a:latin typeface="Times New Roman" pitchFamily="18" charset="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6519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/>
              <a:t>07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120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2C6722E-EF0D-4659-82EA-12C808390DD4}"/>
              </a:ext>
            </a:extLst>
          </p:cNvPr>
          <p:cNvSpPr txBox="1"/>
          <p:nvPr/>
        </p:nvSpPr>
        <p:spPr>
          <a:xfrm>
            <a:off x="1559496" y="249575"/>
            <a:ext cx="10297144" cy="66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試求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tan 40° tan 50° + tan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72° - csc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18° </a:t>
            </a: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之值。</a:t>
            </a:r>
          </a:p>
        </p:txBody>
      </p:sp>
    </p:spTree>
    <p:extLst>
      <p:ext uri="{BB962C8B-B14F-4D97-AF65-F5344CB8AC3E}">
        <p14:creationId xmlns:p14="http://schemas.microsoft.com/office/powerpoint/2010/main" val="115773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120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/>
              <a:t>07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79D495B-5DE7-45E0-B31E-84C4D6CDA844}"/>
              </a:ext>
            </a:extLst>
          </p:cNvPr>
          <p:cNvSpPr txBox="1"/>
          <p:nvPr/>
        </p:nvSpPr>
        <p:spPr>
          <a:xfrm>
            <a:off x="1559496" y="249575"/>
            <a:ext cx="10297144" cy="66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試求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cos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35° + cos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55° + csc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47° - tan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43° </a:t>
            </a: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之值。</a:t>
            </a:r>
          </a:p>
        </p:txBody>
      </p:sp>
    </p:spTree>
    <p:extLst>
      <p:ext uri="{BB962C8B-B14F-4D97-AF65-F5344CB8AC3E}">
        <p14:creationId xmlns:p14="http://schemas.microsoft.com/office/powerpoint/2010/main" val="342592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/>
              <a:t>08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121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559496" y="411290"/>
            <a:ext cx="10009112" cy="857470"/>
            <a:chOff x="1559496" y="249575"/>
            <a:chExt cx="10009112" cy="857470"/>
          </a:xfrm>
        </p:grpSpPr>
        <p:sp>
          <p:nvSpPr>
            <p:cNvPr id="11" name="文字方塊 10"/>
            <p:cNvSpPr txBox="1"/>
            <p:nvPr/>
          </p:nvSpPr>
          <p:spPr>
            <a:xfrm>
              <a:off x="1559496" y="249575"/>
              <a:ext cx="10009112" cy="66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為銳角，且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tan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= 2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，試求                   之值。</a:t>
              </a:r>
            </a:p>
          </p:txBody>
        </p:sp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0758913"/>
                </p:ext>
              </p:extLst>
            </p:nvPr>
          </p:nvGraphicFramePr>
          <p:xfrm>
            <a:off x="7680176" y="268845"/>
            <a:ext cx="19939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93680" imgH="838080" progId="Equation.DSMT4">
                    <p:embed/>
                  </p:oleObj>
                </mc:Choice>
                <mc:Fallback>
                  <p:oleObj name="Equation" r:id="rId2" imgW="199368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680176" y="268845"/>
                          <a:ext cx="19939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5773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121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/>
              <a:t>08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559496" y="393591"/>
            <a:ext cx="10297144" cy="875169"/>
            <a:chOff x="1559496" y="249575"/>
            <a:chExt cx="10297144" cy="875169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D6D0C0D4-ED9C-41CC-9E53-590619850C64}"/>
                </a:ext>
              </a:extLst>
            </p:cNvPr>
            <p:cNvSpPr txBox="1"/>
            <p:nvPr/>
          </p:nvSpPr>
          <p:spPr>
            <a:xfrm>
              <a:off x="1559496" y="249575"/>
              <a:ext cx="10297144" cy="66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為銳角，且            ，試求                   之值</a:t>
              </a:r>
            </a:p>
          </p:txBody>
        </p: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391752"/>
                </p:ext>
              </p:extLst>
            </p:nvPr>
          </p:nvGraphicFramePr>
          <p:xfrm>
            <a:off x="4871864" y="258983"/>
            <a:ext cx="13081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07880" imgH="838080" progId="Equation.DSMT4">
                    <p:embed/>
                  </p:oleObj>
                </mc:Choice>
                <mc:Fallback>
                  <p:oleObj name="Equation" r:id="rId2" imgW="130788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871864" y="258983"/>
                          <a:ext cx="13081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3880643"/>
                </p:ext>
              </p:extLst>
            </p:nvPr>
          </p:nvGraphicFramePr>
          <p:xfrm>
            <a:off x="7536160" y="286544"/>
            <a:ext cx="21844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184120" imgH="838080" progId="Equation.DSMT4">
                    <p:embed/>
                  </p:oleObj>
                </mc:Choice>
                <mc:Fallback>
                  <p:oleObj name="Equation" r:id="rId4" imgW="218412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536160" y="286544"/>
                          <a:ext cx="21844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2592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>
          <a:xfrm>
            <a:off x="1559496" y="3813047"/>
            <a:ext cx="6696744" cy="697839"/>
          </a:xfrm>
        </p:spPr>
        <p:txBody>
          <a:bodyPr/>
          <a:lstStyle/>
          <a:p>
            <a:r>
              <a:rPr lang="en-US" altLang="zh-TW" dirty="0"/>
              <a:t>2</a:t>
            </a:r>
            <a:r>
              <a:rPr lang="en-US" altLang="zh-TW" spc="300" dirty="0"/>
              <a:t>-2.4</a:t>
            </a:r>
            <a:r>
              <a:rPr lang="zh-TW" altLang="en-US" dirty="0"/>
              <a:t>三角恆等式</a:t>
            </a:r>
            <a:endParaRPr lang="zh-TW" altLang="en-US" spc="300" dirty="0"/>
          </a:p>
        </p:txBody>
      </p:sp>
    </p:spTree>
    <p:extLst>
      <p:ext uri="{BB962C8B-B14F-4D97-AF65-F5344CB8AC3E}">
        <p14:creationId xmlns:p14="http://schemas.microsoft.com/office/powerpoint/2010/main" val="5652230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121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517650" y="1029136"/>
            <a:ext cx="78187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微軟正黑體" pitchFamily="34" charset="-120"/>
                <a:ea typeface="微軟正黑體" pitchFamily="34" charset="-120"/>
              </a:rPr>
              <a:t>2-2.4</a:t>
            </a:r>
            <a:r>
              <a:rPr lang="zh-TW" altLang="en-US" sz="3000" b="1" dirty="0">
                <a:latin typeface="微軟正黑體" pitchFamily="34" charset="-120"/>
                <a:ea typeface="微軟正黑體" pitchFamily="34" charset="-120"/>
              </a:rPr>
              <a:t>三角恆等式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816053" y="2780928"/>
            <a:ext cx="10985264" cy="822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除了三角函數的四個恆等關係，底下介紹幾個常用的三角恆等式。</a:t>
            </a:r>
          </a:p>
        </p:txBody>
      </p:sp>
    </p:spTree>
    <p:extLst>
      <p:ext uri="{BB962C8B-B14F-4D97-AF65-F5344CB8AC3E}">
        <p14:creationId xmlns:p14="http://schemas.microsoft.com/office/powerpoint/2010/main" val="328650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/>
              <a:t>三角恆等式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121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839417" y="1988840"/>
            <a:ext cx="8928992" cy="2710408"/>
            <a:chOff x="839417" y="2276872"/>
            <a:chExt cx="8928992" cy="2710408"/>
          </a:xfrm>
        </p:grpSpPr>
        <p:sp>
          <p:nvSpPr>
            <p:cNvPr id="6" name="文字方塊 5"/>
            <p:cNvSpPr txBox="1"/>
            <p:nvPr/>
          </p:nvSpPr>
          <p:spPr>
            <a:xfrm>
              <a:off x="839417" y="2276872"/>
              <a:ext cx="8928992" cy="2546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(1) (sin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)</a:t>
              </a:r>
              <a:r>
                <a:rPr lang="el-GR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1 + 2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</a:p>
            <a:p>
              <a:pPr>
                <a:lnSpc>
                  <a:spcPct val="200000"/>
                </a:lnSpc>
              </a:pP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(2) (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-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zh-TW" altLang="en-US" sz="2800" i="1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)</a:t>
              </a:r>
              <a:r>
                <a:rPr lang="el-GR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1 - 2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</a:p>
            <a:p>
              <a:pPr>
                <a:lnSpc>
                  <a:spcPct val="200000"/>
                </a:lnSpc>
              </a:pP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(3)</a:t>
              </a:r>
              <a:endParaRPr lang="zh-TW" altLang="en-US" sz="2800" i="1" spc="300" dirty="0">
                <a:latin typeface="Times New Roman" pitchFamily="18" charset="0"/>
                <a:ea typeface="微軟正黑體" pitchFamily="34" charset="-120"/>
              </a:endParaRPr>
            </a:p>
          </p:txBody>
        </p: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5983896"/>
                </p:ext>
              </p:extLst>
            </p:nvPr>
          </p:nvGraphicFramePr>
          <p:xfrm>
            <a:off x="1631504" y="4149080"/>
            <a:ext cx="35433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543120" imgH="838080" progId="Equation.DSMT4">
                    <p:embed/>
                  </p:oleObj>
                </mc:Choice>
                <mc:Fallback>
                  <p:oleObj name="Equation" r:id="rId2" imgW="354312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631504" y="4149080"/>
                          <a:ext cx="35433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98243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122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1123333"/>
            <a:ext cx="1157669" cy="396043"/>
          </a:xfrm>
          <a:prstGeom prst="rect">
            <a:avLst/>
          </a:prstGeom>
        </p:spPr>
      </p:pic>
      <p:grpSp>
        <p:nvGrpSpPr>
          <p:cNvPr id="3" name="群組 2"/>
          <p:cNvGrpSpPr/>
          <p:nvPr/>
        </p:nvGrpSpPr>
        <p:grpSpPr>
          <a:xfrm>
            <a:off x="810160" y="1859596"/>
            <a:ext cx="10985264" cy="3322500"/>
            <a:chOff x="767408" y="2276872"/>
            <a:chExt cx="10985264" cy="3322500"/>
          </a:xfrm>
        </p:grpSpPr>
        <p:sp>
          <p:nvSpPr>
            <p:cNvPr id="9" name="文字方塊 8"/>
            <p:cNvSpPr txBox="1"/>
            <p:nvPr/>
          </p:nvSpPr>
          <p:spPr>
            <a:xfrm>
              <a:off x="767408" y="2276872"/>
              <a:ext cx="10985264" cy="31388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50000"/>
                </a:lnSpc>
              </a:pP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(1) (sin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)</a:t>
              </a:r>
              <a:r>
                <a:rPr lang="el-GR" altLang="zh-TW" sz="28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=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sin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2 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θ + 2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= 1 + 2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</a:p>
            <a:p>
              <a:pPr>
                <a:lnSpc>
                  <a:spcPct val="250000"/>
                </a:lnSpc>
              </a:pP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(2) (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-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)</a:t>
              </a:r>
              <a:r>
                <a:rPr lang="el-GR" altLang="zh-TW" sz="28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zh-TW" altLang="en-US" sz="2800" baseline="300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=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sin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θ - 2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+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= 1 - 2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</a:p>
            <a:p>
              <a:pPr>
                <a:lnSpc>
                  <a:spcPct val="250000"/>
                </a:lnSpc>
              </a:pP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(3)</a:t>
              </a:r>
              <a:endParaRPr lang="zh-TW" altLang="en-US" sz="2800" dirty="0">
                <a:latin typeface="Times New Roman" pitchFamily="18" charset="0"/>
                <a:ea typeface="微軟正黑體" pitchFamily="34" charset="-120"/>
              </a:endParaRPr>
            </a:p>
          </p:txBody>
        </p:sp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1017183"/>
                </p:ext>
              </p:extLst>
            </p:nvPr>
          </p:nvGraphicFramePr>
          <p:xfrm>
            <a:off x="1475220" y="4710372"/>
            <a:ext cx="8140701" cy="889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8140680" imgH="888840" progId="Equation.DSMT4">
                    <p:embed/>
                  </p:oleObj>
                </mc:Choice>
                <mc:Fallback>
                  <p:oleObj name="Equation" r:id="rId3" imgW="8140680" imgH="8888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75220" y="4710372"/>
                          <a:ext cx="8140701" cy="889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7500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 dirty="0"/>
              <a:t>09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122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515390" y="333375"/>
            <a:ext cx="10153128" cy="1367433"/>
            <a:chOff x="1515390" y="333375"/>
            <a:chExt cx="10153128" cy="1367433"/>
          </a:xfrm>
        </p:grpSpPr>
        <p:sp>
          <p:nvSpPr>
            <p:cNvPr id="11" name="文字方塊 10"/>
            <p:cNvSpPr txBox="1"/>
            <p:nvPr/>
          </p:nvSpPr>
          <p:spPr>
            <a:xfrm>
              <a:off x="1515390" y="393591"/>
              <a:ext cx="10153128" cy="1307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為銳角，若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試求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(1) 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zh-TW" altLang="el-GR" sz="2800" spc="300" dirty="0">
                  <a:latin typeface="Times New Roman" pitchFamily="18" charset="0"/>
                  <a:ea typeface="微軟正黑體" pitchFamily="34" charset="-120"/>
                </a:rPr>
                <a:t>　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(2)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tan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cot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之值。</a:t>
              </a:r>
            </a:p>
          </p:txBody>
        </p: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7977204"/>
                </p:ext>
              </p:extLst>
            </p:nvPr>
          </p:nvGraphicFramePr>
          <p:xfrm>
            <a:off x="4800374" y="333375"/>
            <a:ext cx="23114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11200" imgH="838080" progId="Equation.DSMT4">
                    <p:embed/>
                  </p:oleObj>
                </mc:Choice>
                <mc:Fallback>
                  <p:oleObj name="Equation" r:id="rId2" imgW="231120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800374" y="333375"/>
                          <a:ext cx="23114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9591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122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09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734112" y="290337"/>
            <a:ext cx="9618472" cy="1332693"/>
            <a:chOff x="1734112" y="214536"/>
            <a:chExt cx="9618472" cy="1332693"/>
          </a:xfrm>
        </p:grpSpPr>
        <p:sp>
          <p:nvSpPr>
            <p:cNvPr id="19" name="文字方塊 18"/>
            <p:cNvSpPr txBox="1"/>
            <p:nvPr/>
          </p:nvSpPr>
          <p:spPr>
            <a:xfrm>
              <a:off x="1734112" y="240012"/>
              <a:ext cx="9618472" cy="1307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已知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為銳角，若</a:t>
              </a:r>
              <a:endParaRPr lang="en-US" altLang="zh-TW" sz="28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試求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(1) sin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zh-TW" altLang="el-GR" sz="2800" dirty="0">
                  <a:latin typeface="Times New Roman" pitchFamily="18" charset="0"/>
                  <a:ea typeface="微軟正黑體" pitchFamily="34" charset="-120"/>
                </a:rPr>
                <a:t>　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(2)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tan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cot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之值。</a:t>
              </a:r>
            </a:p>
          </p:txBody>
        </p: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3223125"/>
                </p:ext>
              </p:extLst>
            </p:nvPr>
          </p:nvGraphicFramePr>
          <p:xfrm>
            <a:off x="4746104" y="214536"/>
            <a:ext cx="22860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286000" imgH="838080" progId="Equation.DSMT4">
                    <p:embed/>
                  </p:oleObj>
                </mc:Choice>
                <mc:Fallback>
                  <p:oleObj name="Equation" r:id="rId2" imgW="228600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746104" y="214536"/>
                          <a:ext cx="22860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8030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>
          <a:xfrm>
            <a:off x="3647728" y="3813047"/>
            <a:ext cx="2510988" cy="697839"/>
          </a:xfrm>
        </p:spPr>
        <p:txBody>
          <a:bodyPr/>
          <a:lstStyle/>
          <a:p>
            <a:r>
              <a:rPr lang="en-US" altLang="zh-TW" dirty="0"/>
              <a:t>2</a:t>
            </a:r>
            <a:r>
              <a:rPr lang="en-US" altLang="zh-TW" spc="300" dirty="0"/>
              <a:t>-2 </a:t>
            </a:r>
            <a:r>
              <a:rPr lang="zh-TW" altLang="en-US" spc="300" dirty="0"/>
              <a:t>習 題</a:t>
            </a:r>
          </a:p>
        </p:txBody>
      </p:sp>
    </p:spTree>
    <p:extLst>
      <p:ext uri="{BB962C8B-B14F-4D97-AF65-F5344CB8AC3E}">
        <p14:creationId xmlns:p14="http://schemas.microsoft.com/office/powerpoint/2010/main" val="41928774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9D8467F-FFE1-4B9C-B5DF-638D9AC8100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123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0AAB59-6B21-4B0B-9F1F-CDBB47B3E7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01</a:t>
            </a:r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1271464" y="186308"/>
            <a:ext cx="10537171" cy="5909310"/>
            <a:chOff x="1271464" y="186308"/>
            <a:chExt cx="10537171" cy="5909310"/>
          </a:xfrm>
        </p:grpSpPr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1EBF755F-3AC1-450F-87EF-DB81351EDE66}"/>
                </a:ext>
              </a:extLst>
            </p:cNvPr>
            <p:cNvSpPr txBox="1"/>
            <p:nvPr/>
          </p:nvSpPr>
          <p:spPr>
            <a:xfrm>
              <a:off x="1271464" y="186308"/>
              <a:ext cx="10537171" cy="590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試判斷下列各題的對錯，正確的畫「○」，錯誤的畫「╳」：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  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)(1)</a:t>
              </a:r>
              <a:r>
                <a:rPr lang="zh-TW" altLang="en-US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已知 為銳角，若已知 ，則可求出剩餘的五個三角函數值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  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)(2)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直角三角形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ABC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中， ∠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= 90°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，若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	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則可求出                         的長度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  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)(3)</a:t>
              </a:r>
              <a:r>
                <a:rPr lang="zh-TW" altLang="en-US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若</a:t>
              </a:r>
              <a:r>
                <a:rPr lang="en-US" altLang="zh-TW" sz="2800" i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α</a:t>
              </a:r>
              <a:r>
                <a:rPr lang="zh-TW" altLang="en-US" sz="2800" i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、</a:t>
              </a:r>
              <a:r>
                <a:rPr lang="en-US" altLang="zh-TW" sz="2800" i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β </a:t>
              </a:r>
              <a:r>
                <a:rPr lang="zh-TW" altLang="en-US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為銳角，由平方關係可得</a:t>
              </a:r>
              <a:r>
                <a:rPr lang="en-US" altLang="zh-TW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sin</a:t>
              </a:r>
              <a:r>
                <a:rPr lang="en-US" altLang="zh-TW" sz="2800" baseline="300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r>
                <a:rPr lang="en-US" altLang="zh-TW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2800" i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α</a:t>
              </a:r>
              <a:r>
                <a:rPr lang="en-US" altLang="zh-TW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+ cos</a:t>
              </a:r>
              <a:r>
                <a:rPr lang="en-US" altLang="zh-TW" sz="2800" baseline="300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r>
                <a:rPr lang="en-US" altLang="zh-TW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2800" i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β</a:t>
              </a:r>
              <a:r>
                <a:rPr lang="en-US" altLang="zh-TW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= 1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  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)(4)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若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為銳角，則</a:t>
              </a:r>
              <a:r>
                <a:rPr lang="en-US" altLang="zh-TW" sz="2800" spc="300" dirty="0" err="1">
                  <a:latin typeface="Times New Roman" pitchFamily="18" charset="0"/>
                  <a:ea typeface="微軟正黑體" pitchFamily="34" charset="-120"/>
                </a:rPr>
                <a:t>sin</a:t>
              </a:r>
              <a:r>
                <a:rPr lang="en-US" altLang="zh-TW" sz="2800" i="1" spc="300" dirty="0" err="1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× </a:t>
              </a:r>
              <a:r>
                <a:rPr lang="en-US" altLang="zh-TW" sz="2800" spc="300" dirty="0" err="1">
                  <a:latin typeface="Times New Roman" pitchFamily="18" charset="0"/>
                  <a:ea typeface="微軟正黑體" pitchFamily="34" charset="-120"/>
                </a:rPr>
                <a:t>cos</a:t>
              </a:r>
              <a:r>
                <a:rPr lang="en-US" altLang="zh-TW" sz="2800" i="1" spc="300" dirty="0" err="1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= 1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  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)(5)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若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為銳角，則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(sin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)</a:t>
              </a:r>
              <a:r>
                <a:rPr lang="el-GR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sin</a:t>
              </a:r>
              <a:r>
                <a:rPr lang="en-US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</a:t>
              </a:r>
              <a:r>
                <a:rPr lang="en-US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1</a:t>
              </a:r>
              <a:endParaRPr lang="zh-TW" altLang="en-US" sz="2800" spc="300" dirty="0">
                <a:latin typeface="Times New Roman" pitchFamily="18" charset="0"/>
                <a:ea typeface="微軟正黑體" pitchFamily="34" charset="-120"/>
              </a:endParaRPr>
            </a:p>
          </p:txBody>
        </p:sp>
        <p:graphicFrame>
          <p:nvGraphicFramePr>
            <p:cNvPr id="5" name="物件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985141"/>
                </p:ext>
              </p:extLst>
            </p:nvPr>
          </p:nvGraphicFramePr>
          <p:xfrm>
            <a:off x="9192344" y="1722479"/>
            <a:ext cx="1419255" cy="936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96880" imgH="393480" progId="Equation.DSMT4">
                    <p:embed/>
                  </p:oleObj>
                </mc:Choice>
                <mc:Fallback>
                  <p:oleObj name="Equation" r:id="rId3" imgW="59688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192344" y="1722479"/>
                          <a:ext cx="1419255" cy="9361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0273470"/>
                </p:ext>
              </p:extLst>
            </p:nvPr>
          </p:nvGraphicFramePr>
          <p:xfrm>
            <a:off x="4151784" y="2780928"/>
            <a:ext cx="3528392" cy="535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422360" imgH="215640" progId="Equation.DSMT4">
                    <p:embed/>
                  </p:oleObj>
                </mc:Choice>
                <mc:Fallback>
                  <p:oleObj name="Equation" r:id="rId5" imgW="142236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51784" y="2780928"/>
                          <a:ext cx="3528392" cy="535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8200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123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703512" y="242960"/>
            <a:ext cx="9433048" cy="1379523"/>
            <a:chOff x="1415481" y="260350"/>
            <a:chExt cx="9433048" cy="1379523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EBF755F-3AC1-450F-87EF-DB81351EDE66}"/>
                </a:ext>
              </a:extLst>
            </p:cNvPr>
            <p:cNvSpPr txBox="1"/>
            <p:nvPr/>
          </p:nvSpPr>
          <p:spPr>
            <a:xfrm>
              <a:off x="1415481" y="332656"/>
              <a:ext cx="9433048" cy="1307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已知直角三角形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中，∠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為直角，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試求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tan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+ sec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之值。</a:t>
              </a:r>
            </a:p>
          </p:txBody>
        </p:sp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6423171"/>
                </p:ext>
              </p:extLst>
            </p:nvPr>
          </p:nvGraphicFramePr>
          <p:xfrm>
            <a:off x="8328248" y="260350"/>
            <a:ext cx="1420813" cy="933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420491" imgH="932769" progId="Equation.DSMT4">
                    <p:embed/>
                  </p:oleObj>
                </mc:Choice>
                <mc:Fallback>
                  <p:oleObj name="Equation" r:id="rId2" imgW="1420491" imgH="932769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328248" y="260350"/>
                          <a:ext cx="1420813" cy="933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6" name="Picture 356">
            <a:extLst>
              <a:ext uri="{FF2B5EF4-FFF2-40B4-BE49-F238E27FC236}">
                <a16:creationId xmlns:a16="http://schemas.microsoft.com/office/drawing/2014/main" id="{92B1F2B3-B080-3FAD-AE10-8462C9B82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298" y="2200752"/>
            <a:ext cx="2987570" cy="2531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972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77826DC-5E4C-419D-A24C-FA1114F9007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123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E114D6-48B8-464F-B3C1-0A71E38B22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03</a:t>
            </a:r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1415480" y="260648"/>
            <a:ext cx="10537171" cy="1379225"/>
            <a:chOff x="1415480" y="260648"/>
            <a:chExt cx="10537171" cy="1379225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EBF755F-3AC1-450F-87EF-DB81351EDE66}"/>
                </a:ext>
              </a:extLst>
            </p:cNvPr>
            <p:cNvSpPr txBox="1"/>
            <p:nvPr/>
          </p:nvSpPr>
          <p:spPr>
            <a:xfrm>
              <a:off x="1415480" y="332656"/>
              <a:ext cx="10537171" cy="1307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直角三角形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中，∠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C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為直角，且            ，若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求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(1) sin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　　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(2)</a:t>
              </a:r>
              <a:endParaRPr lang="zh-TW" altLang="en-US" sz="2800" spc="300" dirty="0">
                <a:latin typeface="Times New Roman" pitchFamily="18" charset="0"/>
                <a:ea typeface="微軟正黑體" pitchFamily="34" charset="-120"/>
              </a:endParaRPr>
            </a:p>
          </p:txBody>
        </p:sp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1460045"/>
                </p:ext>
              </p:extLst>
            </p:nvPr>
          </p:nvGraphicFramePr>
          <p:xfrm>
            <a:off x="7752184" y="260648"/>
            <a:ext cx="1584176" cy="926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72840" imgH="393480" progId="Equation.DSMT4">
                    <p:embed/>
                  </p:oleObj>
                </mc:Choice>
                <mc:Fallback>
                  <p:oleObj name="Equation" r:id="rId2" imgW="67284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752184" y="260648"/>
                          <a:ext cx="1584176" cy="9265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物件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3739610"/>
                </p:ext>
              </p:extLst>
            </p:nvPr>
          </p:nvGraphicFramePr>
          <p:xfrm>
            <a:off x="10128448" y="424722"/>
            <a:ext cx="131445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58720" imgH="215640" progId="Equation.DSMT4">
                    <p:embed/>
                  </p:oleObj>
                </mc:Choice>
                <mc:Fallback>
                  <p:oleObj name="Equation" r:id="rId4" imgW="55872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0128448" y="424722"/>
                          <a:ext cx="1314450" cy="50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物件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7775666"/>
                </p:ext>
              </p:extLst>
            </p:nvPr>
          </p:nvGraphicFramePr>
          <p:xfrm>
            <a:off x="4943872" y="1124744"/>
            <a:ext cx="62865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66400" imgH="215640" progId="Equation.DSMT4">
                    <p:embed/>
                  </p:oleObj>
                </mc:Choice>
                <mc:Fallback>
                  <p:oleObj name="Equation" r:id="rId6" imgW="26640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943872" y="1124744"/>
                          <a:ext cx="628650" cy="50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4" name="Picture 1191">
            <a:extLst>
              <a:ext uri="{FF2B5EF4-FFF2-40B4-BE49-F238E27FC236}">
                <a16:creationId xmlns:a16="http://schemas.microsoft.com/office/drawing/2014/main" id="{9EF8DC72-8F34-973D-1DCA-66B59B756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1524" y="1674290"/>
            <a:ext cx="2970965" cy="4024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62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71CEBD01-632E-4DB7-914B-0D0CDC7EC62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123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08C30F-A753-46DF-95B8-9284201348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04</a:t>
            </a:r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1415480" y="332656"/>
            <a:ext cx="10537171" cy="2124614"/>
            <a:chOff x="1415480" y="332656"/>
            <a:chExt cx="10537171" cy="2124614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EBF755F-3AC1-450F-87EF-DB81351EDE66}"/>
                </a:ext>
              </a:extLst>
            </p:cNvPr>
            <p:cNvSpPr txBox="1"/>
            <p:nvPr/>
          </p:nvSpPr>
          <p:spPr>
            <a:xfrm>
              <a:off x="1415480" y="332656"/>
              <a:ext cx="10537171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試求</a:t>
              </a:r>
              <a:b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(1)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4 sin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30° + 2 tan 45° + 1/</a:t>
              </a:r>
              <a:r>
                <a:rPr lang="en-US" altLang="zh-TW" sz="2800" dirty="0" err="1">
                  <a:latin typeface="Times New Roman" pitchFamily="18" charset="0"/>
                  <a:ea typeface="微軟正黑體" pitchFamily="34" charset="-120"/>
                </a:rPr>
                <a:t>3cot</a:t>
              </a:r>
              <a:r>
                <a:rPr lang="en-US" altLang="zh-TW" sz="2800" baseline="30000" dirty="0" err="1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30° × sec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60°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之值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(2)                                         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之值</a:t>
              </a:r>
            </a:p>
          </p:txBody>
        </p:sp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0569348"/>
                </p:ext>
              </p:extLst>
            </p:nvPr>
          </p:nvGraphicFramePr>
          <p:xfrm>
            <a:off x="2080890" y="1602446"/>
            <a:ext cx="5239246" cy="8548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412720" imgH="393480" progId="Equation.DSMT4">
                    <p:embed/>
                  </p:oleObj>
                </mc:Choice>
                <mc:Fallback>
                  <p:oleObj name="Equation" r:id="rId2" imgW="241272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080890" y="1602446"/>
                          <a:ext cx="5239246" cy="85482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8239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124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739167" y="452669"/>
            <a:ext cx="7741209" cy="66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試求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cos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20° + cos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70° + tan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20° - csc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70°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之值。</a:t>
            </a:r>
          </a:p>
        </p:txBody>
      </p:sp>
    </p:spTree>
    <p:extLst>
      <p:ext uri="{BB962C8B-B14F-4D97-AF65-F5344CB8AC3E}">
        <p14:creationId xmlns:p14="http://schemas.microsoft.com/office/powerpoint/2010/main" val="234858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124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06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739167" y="332656"/>
            <a:ext cx="10045465" cy="838200"/>
            <a:chOff x="1739167" y="332656"/>
            <a:chExt cx="10045465" cy="838200"/>
          </a:xfrm>
        </p:grpSpPr>
        <p:sp>
          <p:nvSpPr>
            <p:cNvPr id="11" name="文字方塊 10"/>
            <p:cNvSpPr txBox="1"/>
            <p:nvPr/>
          </p:nvSpPr>
          <p:spPr>
            <a:xfrm>
              <a:off x="1739167" y="332656"/>
              <a:ext cx="1004546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試求                                         之值。</a:t>
              </a:r>
            </a:p>
          </p:txBody>
        </p:sp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5162902"/>
                </p:ext>
              </p:extLst>
            </p:nvPr>
          </p:nvGraphicFramePr>
          <p:xfrm>
            <a:off x="2783632" y="332656"/>
            <a:ext cx="48133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813200" imgH="838080" progId="Equation.DSMT4">
                    <p:embed/>
                  </p:oleObj>
                </mc:Choice>
                <mc:Fallback>
                  <p:oleObj name="Equation" r:id="rId2" imgW="481320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783632" y="332656"/>
                          <a:ext cx="48133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4858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124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07</a:t>
            </a:r>
            <a:endParaRPr lang="zh-TW" altLang="en-US" dirty="0"/>
          </a:p>
        </p:txBody>
      </p:sp>
      <p:grpSp>
        <p:nvGrpSpPr>
          <p:cNvPr id="2" name="群組 1"/>
          <p:cNvGrpSpPr/>
          <p:nvPr/>
        </p:nvGrpSpPr>
        <p:grpSpPr>
          <a:xfrm>
            <a:off x="1669892" y="404664"/>
            <a:ext cx="9682692" cy="838200"/>
            <a:chOff x="1164506" y="340742"/>
            <a:chExt cx="9682691" cy="838199"/>
          </a:xfrm>
        </p:grpSpPr>
        <p:sp>
          <p:nvSpPr>
            <p:cNvPr id="13" name="文字方塊 12"/>
            <p:cNvSpPr txBox="1"/>
            <p:nvPr/>
          </p:nvSpPr>
          <p:spPr>
            <a:xfrm>
              <a:off x="1164506" y="340742"/>
              <a:ext cx="9682691" cy="66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若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 為銳角，且              ，則                     之值。</a:t>
              </a:r>
            </a:p>
          </p:txBody>
        </p:sp>
        <p:graphicFrame>
          <p:nvGraphicFramePr>
            <p:cNvPr id="9" name="物件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7589312"/>
                </p:ext>
              </p:extLst>
            </p:nvPr>
          </p:nvGraphicFramePr>
          <p:xfrm>
            <a:off x="4150454" y="340742"/>
            <a:ext cx="1493837" cy="825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447560" imgH="825480" progId="Equation.DSMT4">
                    <p:embed/>
                  </p:oleObj>
                </mc:Choice>
                <mc:Fallback>
                  <p:oleObj name="Equation" r:id="rId2" imgW="1447560" imgH="825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454" y="340742"/>
                          <a:ext cx="1493837" cy="825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物件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5470799"/>
                </p:ext>
              </p:extLst>
            </p:nvPr>
          </p:nvGraphicFramePr>
          <p:xfrm>
            <a:off x="6742741" y="340742"/>
            <a:ext cx="2254250" cy="838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184120" imgH="838080" progId="Equation.DSMT4">
                    <p:embed/>
                  </p:oleObj>
                </mc:Choice>
                <mc:Fallback>
                  <p:oleObj name="Equation" r:id="rId4" imgW="2184120" imgH="838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42741" y="340742"/>
                          <a:ext cx="2254250" cy="838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1987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124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08</a:t>
            </a:r>
            <a:endParaRPr lang="zh-TW" altLang="en-US" dirty="0"/>
          </a:p>
        </p:txBody>
      </p:sp>
      <p:grpSp>
        <p:nvGrpSpPr>
          <p:cNvPr id="2" name="群組 1"/>
          <p:cNvGrpSpPr/>
          <p:nvPr/>
        </p:nvGrpSpPr>
        <p:grpSpPr>
          <a:xfrm>
            <a:off x="1766443" y="465792"/>
            <a:ext cx="9874173" cy="1379032"/>
            <a:chOff x="1164506" y="268734"/>
            <a:chExt cx="9874172" cy="1379032"/>
          </a:xfrm>
        </p:grpSpPr>
        <p:sp>
          <p:nvSpPr>
            <p:cNvPr id="13" name="文字方塊 12"/>
            <p:cNvSpPr txBox="1"/>
            <p:nvPr/>
          </p:nvSpPr>
          <p:spPr>
            <a:xfrm>
              <a:off x="1164506" y="340742"/>
              <a:ext cx="9874172" cy="13070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試求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(1) 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⋅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zh-TW" altLang="el-GR" sz="2800" spc="300" dirty="0">
                  <a:latin typeface="Times New Roman" pitchFamily="18" charset="0"/>
                  <a:ea typeface="微軟正黑體" pitchFamily="34" charset="-120"/>
                </a:rPr>
                <a:t>　　 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(2)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tan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cot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之值。</a:t>
              </a:r>
            </a:p>
          </p:txBody>
        </p:sp>
        <p:graphicFrame>
          <p:nvGraphicFramePr>
            <p:cNvPr id="9" name="物件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1843011"/>
                </p:ext>
              </p:extLst>
            </p:nvPr>
          </p:nvGraphicFramePr>
          <p:xfrm>
            <a:off x="2253703" y="268734"/>
            <a:ext cx="2392363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11200" imgH="825480" progId="Equation.DSMT4">
                    <p:embed/>
                  </p:oleObj>
                </mc:Choice>
                <mc:Fallback>
                  <p:oleObj name="Equation" r:id="rId2" imgW="2311200" imgH="825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3703" y="268734"/>
                          <a:ext cx="2392363" cy="825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4858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124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09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766443" y="438264"/>
            <a:ext cx="9874173" cy="887968"/>
            <a:chOff x="1766443" y="438264"/>
            <a:chExt cx="9874173" cy="887968"/>
          </a:xfrm>
        </p:grpSpPr>
        <p:sp>
          <p:nvSpPr>
            <p:cNvPr id="5" name="文字方塊 4"/>
            <p:cNvSpPr txBox="1"/>
            <p:nvPr/>
          </p:nvSpPr>
          <p:spPr>
            <a:xfrm>
              <a:off x="1766443" y="537800"/>
              <a:ext cx="987417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為銳角，且            ，試求                        之值。</a:t>
              </a:r>
            </a:p>
          </p:txBody>
        </p:sp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011666"/>
                </p:ext>
              </p:extLst>
            </p:nvPr>
          </p:nvGraphicFramePr>
          <p:xfrm>
            <a:off x="4871864" y="488032"/>
            <a:ext cx="13208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20480" imgH="838080" progId="Equation.DSMT4">
                    <p:embed/>
                  </p:oleObj>
                </mc:Choice>
                <mc:Fallback>
                  <p:oleObj name="Equation" r:id="rId2" imgW="132048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871864" y="488032"/>
                          <a:ext cx="13208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物件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6157357"/>
                </p:ext>
              </p:extLst>
            </p:nvPr>
          </p:nvGraphicFramePr>
          <p:xfrm>
            <a:off x="7680176" y="438264"/>
            <a:ext cx="26416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641320" imgH="838080" progId="Equation.DSMT4">
                    <p:embed/>
                  </p:oleObj>
                </mc:Choice>
                <mc:Fallback>
                  <p:oleObj name="Equation" r:id="rId4" imgW="264132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680176" y="438264"/>
                          <a:ext cx="26416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0279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124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10</a:t>
            </a:r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1487488" y="260648"/>
            <a:ext cx="10153128" cy="2031325"/>
            <a:chOff x="1487488" y="260648"/>
            <a:chExt cx="10153128" cy="2031325"/>
          </a:xfrm>
        </p:grpSpPr>
        <p:sp>
          <p:nvSpPr>
            <p:cNvPr id="5" name="文字方塊 4"/>
            <p:cNvSpPr txBox="1"/>
            <p:nvPr/>
          </p:nvSpPr>
          <p:spPr>
            <a:xfrm>
              <a:off x="1487488" y="260648"/>
              <a:ext cx="10153128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已知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為銳角，                            ，試求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(1) sin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⋅ cos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zh-TW" altLang="en-US" sz="2800" i="1" dirty="0">
                  <a:latin typeface="Times New Roman" pitchFamily="18" charset="0"/>
                  <a:ea typeface="微軟正黑體" pitchFamily="34" charset="-120"/>
                </a:rPr>
                <a:t>   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(2) sin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+ cos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    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(3) sin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3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+ cos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3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之值。</a:t>
              </a:r>
              <a:endParaRPr lang="en-US" altLang="zh-TW" sz="28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提示：</a:t>
              </a:r>
            </a:p>
          </p:txBody>
        </p:sp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7946658"/>
                </p:ext>
              </p:extLst>
            </p:nvPr>
          </p:nvGraphicFramePr>
          <p:xfrm>
            <a:off x="4007768" y="260648"/>
            <a:ext cx="2451100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450880" imgH="825480" progId="Equation.DSMT4">
                    <p:embed/>
                  </p:oleObj>
                </mc:Choice>
                <mc:Fallback>
                  <p:oleObj name="Equation" r:id="rId2" imgW="2450880" imgH="825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007768" y="260648"/>
                          <a:ext cx="2451100" cy="825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4145423"/>
                </p:ext>
              </p:extLst>
            </p:nvPr>
          </p:nvGraphicFramePr>
          <p:xfrm>
            <a:off x="2783632" y="1700808"/>
            <a:ext cx="41783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178160" imgH="457200" progId="Equation.DSMT4">
                    <p:embed/>
                  </p:oleObj>
                </mc:Choice>
                <mc:Fallback>
                  <p:oleObj name="Equation" r:id="rId4" imgW="417816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783632" y="1700808"/>
                          <a:ext cx="41783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9506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4511</TotalTime>
  <Words>2610</Words>
  <Application>Microsoft Office PowerPoint</Application>
  <PresentationFormat>寬螢幕</PresentationFormat>
  <Paragraphs>272</Paragraphs>
  <Slides>77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77</vt:i4>
      </vt:variant>
    </vt:vector>
  </HeadingPairs>
  <TitlesOfParts>
    <vt:vector size="85" baseType="lpstr">
      <vt:lpstr>微軟正黑體</vt:lpstr>
      <vt:lpstr>新細明體</vt:lpstr>
      <vt:lpstr>Arial</vt:lpstr>
      <vt:lpstr>Calibri</vt:lpstr>
      <vt:lpstr>Symbol</vt:lpstr>
      <vt:lpstr>Times New Roman</vt:lpstr>
      <vt:lpstr>Office 佈景主題</vt:lpstr>
      <vt:lpstr>Equation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yu</dc:creator>
  <cp:lastModifiedBy>chungyikuei</cp:lastModifiedBy>
  <cp:revision>337</cp:revision>
  <dcterms:created xsi:type="dcterms:W3CDTF">2021-09-02T06:38:06Z</dcterms:created>
  <dcterms:modified xsi:type="dcterms:W3CDTF">2026-08-11T13:57:49Z</dcterms:modified>
</cp:coreProperties>
</file>